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5346000" cy="7560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Repères</a:t>
            </a:r>
          </a:p>
        </p:txBody>
      </p:sp>
      <p:sp>
        <p:nvSpPr>
          <p:cNvPr id="7" name="TextBox 6"/>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La journée en huit lignes</a:t>
            </a:r>
          </a:p>
        </p:txBody>
      </p:sp>
      <p:cxnSp>
        <p:nvCxnSpPr>
          <p:cNvPr id="8" name="Connector 7"/>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0000" y="1742551"/>
            <a:ext cx="1116000" cy="223200"/>
          </a:xfrm>
          <a:prstGeom prst="rect">
            <a:avLst/>
          </a:prstGeom>
          <a:noFill/>
        </p:spPr>
        <p:txBody>
          <a:bodyPr wrap="square" lIns="0" rIns="0" tIns="0" bIns="0">
            <a:spAutoFit/>
          </a:bodyPr>
          <a:lstStyle/>
          <a:p>
            <a:pPr algn="l">
              <a:lnSpc>
                <a:spcPct val="115000"/>
              </a:lnSpc>
            </a:pPr>
            <a:r>
              <a:rPr sz="1500" b="1" i="0">
                <a:solidFill>
                  <a:srgbClr val="00B4B4"/>
                </a:solidFill>
                <a:latin typeface="Barlow Condensed"/>
              </a:rPr>
              <a:t>09h45</a:t>
            </a:r>
          </a:p>
        </p:txBody>
      </p:sp>
      <p:sp>
        <p:nvSpPr>
          <p:cNvPr id="10" name="TextBox 9"/>
          <p:cNvSpPr txBox="1"/>
          <p:nvPr/>
        </p:nvSpPr>
        <p:spPr>
          <a:xfrm>
            <a:off x="1512000" y="17605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Mot d'ouverture — Ghislaine, Fabrice, Anas</a:t>
            </a:r>
          </a:p>
        </p:txBody>
      </p:sp>
      <p:sp>
        <p:nvSpPr>
          <p:cNvPr id="11" name="TextBox 10"/>
          <p:cNvSpPr txBox="1"/>
          <p:nvPr/>
        </p:nvSpPr>
        <p:spPr>
          <a:xfrm>
            <a:off x="360000" y="2023351"/>
            <a:ext cx="1116000" cy="223200"/>
          </a:xfrm>
          <a:prstGeom prst="rect">
            <a:avLst/>
          </a:prstGeom>
          <a:noFill/>
        </p:spPr>
        <p:txBody>
          <a:bodyPr wrap="square" lIns="0" rIns="0" tIns="0" bIns="0">
            <a:spAutoFit/>
          </a:bodyPr>
          <a:lstStyle/>
          <a:p>
            <a:pPr algn="l">
              <a:lnSpc>
                <a:spcPct val="115000"/>
              </a:lnSpc>
            </a:pPr>
            <a:r>
              <a:rPr sz="1500" b="1" i="0">
                <a:solidFill>
                  <a:srgbClr val="00B4B4"/>
                </a:solidFill>
                <a:latin typeface="Barlow Condensed"/>
              </a:rPr>
              <a:t>10h00</a:t>
            </a:r>
          </a:p>
        </p:txBody>
      </p:sp>
      <p:sp>
        <p:nvSpPr>
          <p:cNvPr id="12" name="TextBox 11"/>
          <p:cNvSpPr txBox="1"/>
          <p:nvPr/>
        </p:nvSpPr>
        <p:spPr>
          <a:xfrm>
            <a:off x="1512000" y="20413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Conférence 1 — K-LAGAN</a:t>
            </a:r>
          </a:p>
        </p:txBody>
      </p:sp>
      <p:sp>
        <p:nvSpPr>
          <p:cNvPr id="13" name="TextBox 12"/>
          <p:cNvSpPr txBox="1"/>
          <p:nvPr/>
        </p:nvSpPr>
        <p:spPr>
          <a:xfrm>
            <a:off x="360000" y="2304151"/>
            <a:ext cx="1116000" cy="223200"/>
          </a:xfrm>
          <a:prstGeom prst="rect">
            <a:avLst/>
          </a:prstGeom>
          <a:noFill/>
        </p:spPr>
        <p:txBody>
          <a:bodyPr wrap="square" lIns="0" rIns="0" tIns="0" bIns="0">
            <a:spAutoFit/>
          </a:bodyPr>
          <a:lstStyle/>
          <a:p>
            <a:pPr algn="l">
              <a:lnSpc>
                <a:spcPct val="115000"/>
              </a:lnSpc>
            </a:pPr>
            <a:r>
              <a:rPr sz="1500" b="1" i="0">
                <a:solidFill>
                  <a:srgbClr val="00B4B4"/>
                </a:solidFill>
                <a:latin typeface="Barlow Condensed"/>
              </a:rPr>
              <a:t>10h45</a:t>
            </a:r>
          </a:p>
        </p:txBody>
      </p:sp>
      <p:sp>
        <p:nvSpPr>
          <p:cNvPr id="14" name="TextBox 13"/>
          <p:cNvSpPr txBox="1"/>
          <p:nvPr/>
        </p:nvSpPr>
        <p:spPr>
          <a:xfrm>
            <a:off x="1512000" y="23221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Conférence 2 — Niji</a:t>
            </a:r>
          </a:p>
        </p:txBody>
      </p:sp>
      <p:sp>
        <p:nvSpPr>
          <p:cNvPr id="15" name="TextBox 14"/>
          <p:cNvSpPr txBox="1"/>
          <p:nvPr/>
        </p:nvSpPr>
        <p:spPr>
          <a:xfrm>
            <a:off x="360000" y="2584951"/>
            <a:ext cx="1116000" cy="223200"/>
          </a:xfrm>
          <a:prstGeom prst="rect">
            <a:avLst/>
          </a:prstGeom>
          <a:noFill/>
        </p:spPr>
        <p:txBody>
          <a:bodyPr wrap="square" lIns="0" rIns="0" tIns="0" bIns="0">
            <a:spAutoFit/>
          </a:bodyPr>
          <a:lstStyle/>
          <a:p>
            <a:pPr algn="l">
              <a:lnSpc>
                <a:spcPct val="115000"/>
              </a:lnSpc>
            </a:pPr>
            <a:r>
              <a:rPr sz="1500" b="1" i="0">
                <a:solidFill>
                  <a:srgbClr val="00B4B4"/>
                </a:solidFill>
                <a:latin typeface="Barlow Condensed"/>
              </a:rPr>
              <a:t>11h30</a:t>
            </a:r>
          </a:p>
        </p:txBody>
      </p:sp>
      <p:sp>
        <p:nvSpPr>
          <p:cNvPr id="16" name="TextBox 15"/>
          <p:cNvSpPr txBox="1"/>
          <p:nvPr/>
        </p:nvSpPr>
        <p:spPr>
          <a:xfrm>
            <a:off x="1512000" y="26029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Table ronde — animée par Fabrice</a:t>
            </a:r>
          </a:p>
        </p:txBody>
      </p:sp>
      <p:sp>
        <p:nvSpPr>
          <p:cNvPr id="17" name="TextBox 16"/>
          <p:cNvSpPr txBox="1"/>
          <p:nvPr/>
        </p:nvSpPr>
        <p:spPr>
          <a:xfrm>
            <a:off x="360000" y="2865751"/>
            <a:ext cx="1116000" cy="223200"/>
          </a:xfrm>
          <a:prstGeom prst="rect">
            <a:avLst/>
          </a:prstGeom>
          <a:noFill/>
        </p:spPr>
        <p:txBody>
          <a:bodyPr wrap="square" lIns="0" rIns="0" tIns="0" bIns="0">
            <a:spAutoFit/>
          </a:bodyPr>
          <a:lstStyle/>
          <a:p>
            <a:pPr algn="l">
              <a:lnSpc>
                <a:spcPct val="115000"/>
              </a:lnSpc>
            </a:pPr>
            <a:r>
              <a:rPr sz="1500" b="1" i="0">
                <a:solidFill>
                  <a:srgbClr val="00B4B4"/>
                </a:solidFill>
                <a:latin typeface="Barlow Condensed"/>
              </a:rPr>
              <a:t>12h15</a:t>
            </a:r>
          </a:p>
        </p:txBody>
      </p:sp>
      <p:sp>
        <p:nvSpPr>
          <p:cNvPr id="18" name="TextBox 17"/>
          <p:cNvSpPr txBox="1"/>
          <p:nvPr/>
        </p:nvSpPr>
        <p:spPr>
          <a:xfrm>
            <a:off x="1512000" y="28837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Cocktail déjeunatoire</a:t>
            </a:r>
          </a:p>
        </p:txBody>
      </p:sp>
      <p:sp>
        <p:nvSpPr>
          <p:cNvPr id="19" name="TextBox 18"/>
          <p:cNvSpPr txBox="1"/>
          <p:nvPr/>
        </p:nvSpPr>
        <p:spPr>
          <a:xfrm>
            <a:off x="360000" y="3146551"/>
            <a:ext cx="1116000" cy="223200"/>
          </a:xfrm>
          <a:prstGeom prst="rect">
            <a:avLst/>
          </a:prstGeom>
          <a:noFill/>
        </p:spPr>
        <p:txBody>
          <a:bodyPr wrap="square" lIns="0" rIns="0" tIns="0" bIns="0">
            <a:spAutoFit/>
          </a:bodyPr>
          <a:lstStyle/>
          <a:p>
            <a:pPr algn="l">
              <a:lnSpc>
                <a:spcPct val="115000"/>
              </a:lnSpc>
            </a:pPr>
            <a:r>
              <a:rPr sz="1500" b="1" i="0">
                <a:solidFill>
                  <a:srgbClr val="00B4B4"/>
                </a:solidFill>
                <a:latin typeface="Barlow Condensed"/>
              </a:rPr>
              <a:t>13h40</a:t>
            </a:r>
          </a:p>
        </p:txBody>
      </p:sp>
      <p:sp>
        <p:nvSpPr>
          <p:cNvPr id="20" name="TextBox 19"/>
          <p:cNvSpPr txBox="1"/>
          <p:nvPr/>
        </p:nvSpPr>
        <p:spPr>
          <a:xfrm>
            <a:off x="1512000" y="31645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Organisation de l'après-midi</a:t>
            </a:r>
          </a:p>
        </p:txBody>
      </p:sp>
      <p:sp>
        <p:nvSpPr>
          <p:cNvPr id="21" name="TextBox 20"/>
          <p:cNvSpPr txBox="1"/>
          <p:nvPr/>
        </p:nvSpPr>
        <p:spPr>
          <a:xfrm>
            <a:off x="360000" y="3427351"/>
            <a:ext cx="1116000" cy="223200"/>
          </a:xfrm>
          <a:prstGeom prst="rect">
            <a:avLst/>
          </a:prstGeom>
          <a:noFill/>
        </p:spPr>
        <p:txBody>
          <a:bodyPr wrap="square" lIns="0" rIns="0" tIns="0" bIns="0">
            <a:spAutoFit/>
          </a:bodyPr>
          <a:lstStyle/>
          <a:p>
            <a:pPr algn="l">
              <a:lnSpc>
                <a:spcPct val="115000"/>
              </a:lnSpc>
            </a:pPr>
            <a:r>
              <a:rPr sz="1500" b="1" i="0">
                <a:solidFill>
                  <a:srgbClr val="00B4B4"/>
                </a:solidFill>
                <a:latin typeface="Barlow Condensed"/>
              </a:rPr>
              <a:t>14h00</a:t>
            </a:r>
          </a:p>
        </p:txBody>
      </p:sp>
      <p:sp>
        <p:nvSpPr>
          <p:cNvPr id="22" name="TextBox 21"/>
          <p:cNvSpPr txBox="1"/>
          <p:nvPr/>
        </p:nvSpPr>
        <p:spPr>
          <a:xfrm>
            <a:off x="1512000" y="34453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5 rotations de 30 min, jusqu’à 16h25</a:t>
            </a:r>
          </a:p>
        </p:txBody>
      </p:sp>
      <p:sp>
        <p:nvSpPr>
          <p:cNvPr id="23" name="TextBox 22"/>
          <p:cNvSpPr txBox="1"/>
          <p:nvPr/>
        </p:nvSpPr>
        <p:spPr>
          <a:xfrm>
            <a:off x="360000" y="3708151"/>
            <a:ext cx="1116000" cy="223200"/>
          </a:xfrm>
          <a:prstGeom prst="rect">
            <a:avLst/>
          </a:prstGeom>
          <a:noFill/>
        </p:spPr>
        <p:txBody>
          <a:bodyPr wrap="square" lIns="0" rIns="0" tIns="0" bIns="0">
            <a:spAutoFit/>
          </a:bodyPr>
          <a:lstStyle/>
          <a:p>
            <a:pPr algn="l">
              <a:lnSpc>
                <a:spcPct val="115000"/>
              </a:lnSpc>
            </a:pPr>
            <a:r>
              <a:rPr sz="1500" b="1" i="0">
                <a:solidFill>
                  <a:srgbClr val="00B4B4"/>
                </a:solidFill>
                <a:latin typeface="Barlow Condensed"/>
              </a:rPr>
              <a:t>16h30</a:t>
            </a:r>
          </a:p>
        </p:txBody>
      </p:sp>
      <p:sp>
        <p:nvSpPr>
          <p:cNvPr id="24" name="TextBox 23"/>
          <p:cNvSpPr txBox="1"/>
          <p:nvPr/>
        </p:nvSpPr>
        <p:spPr>
          <a:xfrm>
            <a:off x="1512000" y="37261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Clôture et remise des lots</a:t>
            </a:r>
          </a:p>
        </p:txBody>
      </p:sp>
      <p:sp>
        <p:nvSpPr>
          <p:cNvPr id="25" name="TextBox 24"/>
          <p:cNvSpPr txBox="1"/>
          <p:nvPr/>
        </p:nvSpPr>
        <p:spPr>
          <a:xfrm>
            <a:off x="360000" y="4060951"/>
            <a:ext cx="4626000" cy="57835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L'heure en haut à gauche de chaque carte est ton entrée en scène. Le pavé de couleur à droite est l’heure de fin visée : c’est elle qui tient la journée.</a:t>
            </a:r>
          </a:p>
        </p:txBody>
      </p:sp>
      <p:sp>
        <p:nvSpPr>
          <p:cNvPr id="26" name="TextBox 25"/>
          <p:cNvSpPr txBox="1"/>
          <p:nvPr/>
        </p:nvSpPr>
        <p:spPr>
          <a:xfrm>
            <a:off x="360000" y="4711306"/>
            <a:ext cx="4626000" cy="38557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Cartes numérotées, recto seul, dans l’ordre. Tu ne regardes jamais que celle du dessus.</a:t>
            </a:r>
          </a:p>
        </p:txBody>
      </p:sp>
      <p:cxnSp>
        <p:nvCxnSpPr>
          <p:cNvPr id="27" name="Connector 26"/>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Carte suivante : ta première prise de parole.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2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09h56</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10h00</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Relais, QR code, annonce de la conférence 1</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3" name="TextBox 12"/>
          <p:cNvSpPr txBox="1"/>
          <p:nvPr/>
        </p:nvSpPr>
        <p:spPr>
          <a:xfrm>
            <a:off x="547200" y="1742551"/>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Tu te présentes : tu accompagnes la journée jusqu’à la clôture.</a:t>
            </a:r>
          </a:p>
        </p:txBody>
      </p:sp>
      <p:sp>
        <p:nvSpPr>
          <p:cNvPr id="14" name="TextBox 13"/>
          <p:cNvSpPr txBox="1"/>
          <p:nvPr/>
        </p:nvSpPr>
        <p:spPr>
          <a:xfrm>
            <a:off x="360000" y="2312479"/>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5" name="TextBox 14"/>
          <p:cNvSpPr txBox="1"/>
          <p:nvPr/>
        </p:nvSpPr>
        <p:spPr>
          <a:xfrm>
            <a:off x="547200" y="2312479"/>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Slide QR code plein cadre, laissée affichée pendant que tu parles.</a:t>
            </a:r>
          </a:p>
        </p:txBody>
      </p:sp>
      <p:sp>
        <p:nvSpPr>
          <p:cNvPr id="16" name="Rectangle 15"/>
          <p:cNvSpPr/>
          <p:nvPr/>
        </p:nvSpPr>
        <p:spPr>
          <a:xfrm>
            <a:off x="360000" y="2882407"/>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60000" y="2882407"/>
            <a:ext cx="43200" cy="953928"/>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0000" y="2961607"/>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Tout le programme est là, et il vit pendant la journée : les dix kiosques, leur pitch, et le numéro de salle de chacun. »</a:t>
            </a:r>
          </a:p>
        </p:txBody>
      </p:sp>
      <p:sp>
        <p:nvSpPr>
          <p:cNvPr id="19" name="TextBox 18"/>
          <p:cNvSpPr txBox="1"/>
          <p:nvPr/>
        </p:nvSpPr>
        <p:spPr>
          <a:xfrm>
            <a:off x="360000" y="3929935"/>
            <a:ext cx="187200" cy="736092"/>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0" name="TextBox 19"/>
          <p:cNvSpPr txBox="1"/>
          <p:nvPr/>
        </p:nvSpPr>
        <p:spPr>
          <a:xfrm>
            <a:off x="547200" y="3929935"/>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Vingt secondes de silence pour scanner. Compte à voix haute s’il le faut : un QR code annoncé sans temps de scan n’est pas scanné.</a:t>
            </a:r>
          </a:p>
        </p:txBody>
      </p:sp>
      <p:sp>
        <p:nvSpPr>
          <p:cNvPr id="21" name="TextBox 20"/>
          <p:cNvSpPr txBox="1"/>
          <p:nvPr/>
        </p:nvSpPr>
        <p:spPr>
          <a:xfrm>
            <a:off x="360000" y="4745227"/>
            <a:ext cx="187200" cy="736092"/>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2" name="TextBox 21"/>
          <p:cNvSpPr txBox="1"/>
          <p:nvPr/>
        </p:nvSpPr>
        <p:spPr>
          <a:xfrm>
            <a:off x="547200" y="4745227"/>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Conférence 1 — Des 7 principes du test aux 7 principes de la qualité. Julien CAHU, K-LAGAN. Remercie K-LAGAN pour son intervention.</a:t>
            </a:r>
          </a:p>
        </p:txBody>
      </p:sp>
      <p:sp>
        <p:nvSpPr>
          <p:cNvPr id="23" name="TextBox 22"/>
          <p:cNvSpPr txBox="1"/>
          <p:nvPr/>
        </p:nvSpPr>
        <p:spPr>
          <a:xfrm>
            <a:off x="360000" y="5560519"/>
            <a:ext cx="4626000" cy="38557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Top régie : générique de 15 s, au clic sur la slide de présentation. Tu quittes la scène pendant qu’il tourne.</a:t>
            </a:r>
          </a:p>
        </p:txBody>
      </p:sp>
      <p:cxnSp>
        <p:nvCxnSpPr>
          <p:cNvPr id="24" name="Connector 23"/>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10h33 · les questions de la conférence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3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10h33</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10h45</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Questions, puis annonce de la conférence 2</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60000" y="1742551"/>
            <a:ext cx="43200" cy="953928"/>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0000" y="1821751"/>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On a une dizaine de minutes de questions. Levez la main, un micro vient à vous — et attendez le micro, sinon la salle ne vous entend pas. »</a:t>
            </a:r>
          </a:p>
        </p:txBody>
      </p:sp>
      <p:sp>
        <p:nvSpPr>
          <p:cNvPr id="15" name="TextBox 14"/>
          <p:cNvSpPr txBox="1"/>
          <p:nvPr/>
        </p:nvSpPr>
        <p:spPr>
          <a:xfrm>
            <a:off x="360000" y="2790079"/>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6" name="TextBox 15"/>
          <p:cNvSpPr txBox="1"/>
          <p:nvPr/>
        </p:nvSpPr>
        <p:spPr>
          <a:xfrm>
            <a:off x="547200" y="2790079"/>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Les quatre porteurs de micro debout AVANT la fin de la conférence, un par travée.</a:t>
            </a:r>
          </a:p>
        </p:txBody>
      </p:sp>
      <p:sp>
        <p:nvSpPr>
          <p:cNvPr id="17" name="TextBox 16"/>
          <p:cNvSpPr txBox="1"/>
          <p:nvPr/>
        </p:nvSpPr>
        <p:spPr>
          <a:xfrm>
            <a:off x="360000" y="3360007"/>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8" name="TextBox 17"/>
          <p:cNvSpPr txBox="1"/>
          <p:nvPr/>
        </p:nvSpPr>
        <p:spPr>
          <a:xfrm>
            <a:off x="547200" y="3360007"/>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Aucune main en cinq secondes : tu poses ta première question écrite.</a:t>
            </a:r>
          </a:p>
        </p:txBody>
      </p:sp>
      <p:sp>
        <p:nvSpPr>
          <p:cNvPr id="19" name="Rectangle 18"/>
          <p:cNvSpPr/>
          <p:nvPr/>
        </p:nvSpPr>
        <p:spPr>
          <a:xfrm>
            <a:off x="360000" y="3929935"/>
            <a:ext cx="4626000" cy="7992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8000" y="3980335"/>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TES DEUX QUESTIONS DE SECOURS</a:t>
            </a:r>
          </a:p>
        </p:txBody>
      </p:sp>
      <p:cxnSp>
        <p:nvCxnSpPr>
          <p:cNvPr id="21" name="Connector 20"/>
          <p:cNvCxnSpPr/>
          <p:nvPr/>
        </p:nvCxnSpPr>
        <p:spPr>
          <a:xfrm>
            <a:off x="468000" y="4369135"/>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8000" y="4628335"/>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0000" y="4822735"/>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4" name="TextBox 23"/>
          <p:cNvSpPr txBox="1"/>
          <p:nvPr/>
        </p:nvSpPr>
        <p:spPr>
          <a:xfrm>
            <a:off x="547200" y="4822735"/>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10h40 : « dernière question ». Ça évite de couper quelqu’un.</a:t>
            </a:r>
          </a:p>
        </p:txBody>
      </p:sp>
      <p:sp>
        <p:nvSpPr>
          <p:cNvPr id="25" name="TextBox 24"/>
          <p:cNvSpPr txBox="1"/>
          <p:nvPr/>
        </p:nvSpPr>
        <p:spPr>
          <a:xfrm>
            <a:off x="360000" y="5392663"/>
            <a:ext cx="187200" cy="736092"/>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6" name="TextBox 25"/>
          <p:cNvSpPr txBox="1"/>
          <p:nvPr/>
        </p:nvSpPr>
        <p:spPr>
          <a:xfrm>
            <a:off x="547200" y="5392663"/>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Conférence 2 — De l’IA générative aux tests « augmentés ». Betty BEAUGE et Gilles NOUAIS, Niji : remercie-les pour le déplacement depuis Rennes.</a:t>
            </a:r>
          </a:p>
        </p:txBody>
      </p:sp>
      <p:cxnSp>
        <p:nvCxnSpPr>
          <p:cNvPr id="27" name="Connector 26"/>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11h18 · les questions de la conférence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4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11h18</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11h30</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Questions, puis annonce de la table ronde</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187200" cy="245364"/>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3" name="TextBox 12"/>
          <p:cNvSpPr txBox="1"/>
          <p:nvPr/>
        </p:nvSpPr>
        <p:spPr>
          <a:xfrm>
            <a:off x="547200" y="1742551"/>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Même mécanique. Dernière question annoncée à 11h25.</a:t>
            </a:r>
          </a:p>
        </p:txBody>
      </p:sp>
      <p:sp>
        <p:nvSpPr>
          <p:cNvPr id="14" name="TextBox 13"/>
          <p:cNvSpPr txBox="1"/>
          <p:nvPr/>
        </p:nvSpPr>
        <p:spPr>
          <a:xfrm>
            <a:off x="360000" y="2067115"/>
            <a:ext cx="187200" cy="736092"/>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5" name="TextBox 14"/>
          <p:cNvSpPr txBox="1"/>
          <p:nvPr/>
        </p:nvSpPr>
        <p:spPr>
          <a:xfrm>
            <a:off x="547200" y="2067115"/>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Question trop pointue sur l’IA : « c’est exactement le sujet du kiosque n° X cet après-midi, allez-y avec cette question. »</a:t>
            </a:r>
          </a:p>
        </p:txBody>
      </p:sp>
      <p:sp>
        <p:nvSpPr>
          <p:cNvPr id="16" name="TextBox 15"/>
          <p:cNvSpPr txBox="1"/>
          <p:nvPr/>
        </p:nvSpPr>
        <p:spPr>
          <a:xfrm>
            <a:off x="360000" y="2882407"/>
            <a:ext cx="4626000" cy="38557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Kiosques IA : 2 LynQA · 3 Écosystème d’agents · 4 Yest Companion · 7 SDSI Test &amp; IA.</a:t>
            </a:r>
          </a:p>
        </p:txBody>
      </p:sp>
      <p:sp>
        <p:nvSpPr>
          <p:cNvPr id="17" name="Rectangle 16"/>
          <p:cNvSpPr/>
          <p:nvPr/>
        </p:nvSpPr>
        <p:spPr>
          <a:xfrm>
            <a:off x="360000" y="3339977"/>
            <a:ext cx="4626000" cy="688752"/>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60000" y="3339977"/>
            <a:ext cx="43200" cy="688752"/>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0000" y="3419177"/>
            <a:ext cx="4266000" cy="530352"/>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Les portes restent ouvertes — si vous devez sortir, n’hésitez pas. »</a:t>
            </a:r>
          </a:p>
        </p:txBody>
      </p:sp>
      <p:sp>
        <p:nvSpPr>
          <p:cNvPr id="20" name="TextBox 19"/>
          <p:cNvSpPr txBox="1"/>
          <p:nvPr/>
        </p:nvSpPr>
        <p:spPr>
          <a:xfrm>
            <a:off x="360000" y="4122329"/>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Une seule fois, ici : il n’y a aucune pause entre 09h45 et 12h15.</a:t>
            </a:r>
          </a:p>
        </p:txBody>
      </p:sp>
      <p:sp>
        <p:nvSpPr>
          <p:cNvPr id="21" name="TextBox 20"/>
          <p:cNvSpPr txBox="1"/>
          <p:nvPr/>
        </p:nvSpPr>
        <p:spPr>
          <a:xfrm>
            <a:off x="360000" y="4387114"/>
            <a:ext cx="187200" cy="981456"/>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2" name="TextBox 21"/>
          <p:cNvSpPr txBox="1"/>
          <p:nvPr/>
        </p:nvSpPr>
        <p:spPr>
          <a:xfrm>
            <a:off x="547200" y="4387114"/>
            <a:ext cx="4438800" cy="981456"/>
          </a:xfrm>
          <a:prstGeom prst="rect">
            <a:avLst/>
          </a:prstGeom>
          <a:noFill/>
        </p:spPr>
        <p:txBody>
          <a:bodyPr wrap="square" lIns="0" rIns="0" tIns="0" bIns="0">
            <a:spAutoFit/>
          </a:bodyPr>
          <a:lstStyle/>
          <a:p>
            <a:pPr algn="l">
              <a:lnSpc>
                <a:spcPct val="115000"/>
              </a:lnSpc>
            </a:pPr>
            <a:r>
              <a:rPr sz="1400" b="0" i="0">
                <a:solidFill>
                  <a:srgbClr val="1A1A2E"/>
                </a:solidFill>
                <a:latin typeface="Barlow"/>
              </a:rPr>
              <a:t>Table ronde — Mode produit et les tests. Ghislaine DOPIERRE (TFC), Grégory BARRANCO (TMV), Erwan PERIGAULT (USR), animée par Fabrice CHATRON. Remercie les intervenants.</a:t>
            </a:r>
          </a:p>
        </p:txBody>
      </p:sp>
      <p:cxnSp>
        <p:nvCxnSpPr>
          <p:cNvPr id="23" name="Connector 22"/>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12h03 · les questions de la table ronde.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5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12h03</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12h10</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Questions de la table ronde</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564622"/>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420622"/>
          </a:xfrm>
          <a:prstGeom prst="rect">
            <a:avLst/>
          </a:prstGeom>
          <a:noFill/>
        </p:spPr>
        <p:txBody>
          <a:bodyPr wrap="square" lIns="0" rIns="0" tIns="0" bIns="0">
            <a:spAutoFit/>
          </a:bodyPr>
          <a:lstStyle/>
          <a:p>
            <a:pPr algn="l">
              <a:lnSpc>
                <a:spcPct val="115000"/>
              </a:lnSpc>
            </a:pPr>
            <a:r>
              <a:rPr sz="1200" b="1" i="0">
                <a:solidFill>
                  <a:srgbClr val="B32D2D"/>
                </a:solidFill>
                <a:latin typeface="Barlow"/>
              </a:rPr>
              <a:t>Fabrice est déjà au micro. Sept minutes, pas dix : ne promets pas une durée que tu devras reprendre.</a:t>
            </a:r>
          </a:p>
        </p:txBody>
      </p:sp>
      <p:sp>
        <p:nvSpPr>
          <p:cNvPr id="14" name="TextBox 13"/>
          <p:cNvSpPr txBox="1"/>
          <p:nvPr/>
        </p:nvSpPr>
        <p:spPr>
          <a:xfrm>
            <a:off x="360000" y="2415173"/>
            <a:ext cx="187200" cy="981456"/>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5" name="TextBox 14"/>
          <p:cNvSpPr txBox="1"/>
          <p:nvPr/>
        </p:nvSpPr>
        <p:spPr>
          <a:xfrm>
            <a:off x="547200" y="2415173"/>
            <a:ext cx="4438800" cy="981456"/>
          </a:xfrm>
          <a:prstGeom prst="rect">
            <a:avLst/>
          </a:prstGeom>
          <a:noFill/>
        </p:spPr>
        <p:txBody>
          <a:bodyPr wrap="square" lIns="0" rIns="0" tIns="0" bIns="0">
            <a:spAutoFit/>
          </a:bodyPr>
          <a:lstStyle/>
          <a:p>
            <a:pPr algn="l">
              <a:lnSpc>
                <a:spcPct val="115000"/>
              </a:lnSpc>
            </a:pPr>
            <a:r>
              <a:rPr sz="1400" b="0" i="0">
                <a:solidFill>
                  <a:srgbClr val="1A1A2E"/>
                </a:solidFill>
                <a:latin typeface="Barlow"/>
              </a:rPr>
              <a:t>Répartition par défaut : Fabrice ouvre les questions, tu les cadres et tu coupes. À confirmer avec lui avant 11h25 — sinon vous hésiterez tous les deux en même temps.</a:t>
            </a:r>
          </a:p>
        </p:txBody>
      </p:sp>
      <p:sp>
        <p:nvSpPr>
          <p:cNvPr id="16" name="Rectangle 15"/>
          <p:cNvSpPr/>
          <p:nvPr/>
        </p:nvSpPr>
        <p:spPr>
          <a:xfrm>
            <a:off x="360000" y="3475829"/>
            <a:ext cx="4626000" cy="5400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8000" y="3526229"/>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QUI OUVRE LES QUESTIONS DE LA TABLE RONDE</a:t>
            </a:r>
          </a:p>
        </p:txBody>
      </p:sp>
      <p:cxnSp>
        <p:nvCxnSpPr>
          <p:cNvPr id="18" name="Connector 17"/>
          <p:cNvCxnSpPr/>
          <p:nvPr/>
        </p:nvCxnSpPr>
        <p:spPr>
          <a:xfrm>
            <a:off x="468000" y="3915029"/>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60000" y="4109429"/>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0" name="TextBox 19"/>
          <p:cNvSpPr txBox="1"/>
          <p:nvPr/>
        </p:nvSpPr>
        <p:spPr>
          <a:xfrm>
            <a:off x="547200" y="4109429"/>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12h08 : dernière question. Le message de 12h10 ne se sacrifie pas.</a:t>
            </a:r>
          </a:p>
        </p:txBody>
      </p:sp>
      <p:cxnSp>
        <p:nvCxnSpPr>
          <p:cNvPr id="21" name="Connector 20"/>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12h10 · le message le plus important de la matinée.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6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12h10</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12h15</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Le message le plus important de la matinée</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564622"/>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420622"/>
          </a:xfrm>
          <a:prstGeom prst="rect">
            <a:avLst/>
          </a:prstGeom>
          <a:noFill/>
        </p:spPr>
        <p:txBody>
          <a:bodyPr wrap="square" lIns="0" rIns="0" tIns="0" bIns="0">
            <a:spAutoFit/>
          </a:bodyPr>
          <a:lstStyle/>
          <a:p>
            <a:pPr algn="l">
              <a:lnSpc>
                <a:spcPct val="115000"/>
              </a:lnSpc>
            </a:pPr>
            <a:r>
              <a:rPr sz="1200" b="1" i="0">
                <a:solidFill>
                  <a:srgbClr val="B32D2D"/>
                </a:solidFill>
                <a:latin typeface="Barlow"/>
              </a:rPr>
              <a:t>C’est ici que la salle décide de rester ou de partir, pas à 13h40.</a:t>
            </a:r>
          </a:p>
        </p:txBody>
      </p:sp>
      <p:sp>
        <p:nvSpPr>
          <p:cNvPr id="14" name="TextBox 13"/>
          <p:cNvSpPr txBox="1"/>
          <p:nvPr/>
        </p:nvSpPr>
        <p:spPr>
          <a:xfrm>
            <a:off x="360000" y="2415173"/>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5" name="TextBox 14"/>
          <p:cNvSpPr txBox="1"/>
          <p:nvPr/>
        </p:nvSpPr>
        <p:spPr>
          <a:xfrm>
            <a:off x="547200" y="2415173"/>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Le cocktail est ouvert, et on se retrouve à 13h40 dans cet auditorium : dis l’heure deux fois.</a:t>
            </a:r>
          </a:p>
        </p:txBody>
      </p:sp>
      <p:sp>
        <p:nvSpPr>
          <p:cNvPr id="16" name="TextBox 15"/>
          <p:cNvSpPr txBox="1"/>
          <p:nvPr/>
        </p:nvSpPr>
        <p:spPr>
          <a:xfrm>
            <a:off x="360000" y="2985101"/>
            <a:ext cx="187200" cy="736092"/>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7" name="TextBox 16"/>
          <p:cNvSpPr txBox="1"/>
          <p:nvPr/>
        </p:nvSpPr>
        <p:spPr>
          <a:xfrm>
            <a:off x="547200" y="2985101"/>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L’après-midi : 10 kiosques, 5 rotations identiques de 30 min, chacun son parcours. Des ateliers, des démos, des jeux.</a:t>
            </a:r>
          </a:p>
        </p:txBody>
      </p:sp>
      <p:sp>
        <p:nvSpPr>
          <p:cNvPr id="18" name="Rectangle 17"/>
          <p:cNvSpPr/>
          <p:nvPr/>
        </p:nvSpPr>
        <p:spPr>
          <a:xfrm>
            <a:off x="360000" y="3800393"/>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60000" y="3800393"/>
            <a:ext cx="43200" cy="953928"/>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0000" y="3879593"/>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À chaque kiosque, vous déposez une fiche à votre nom. Cinq kiosques, cinq fiches, cinq chances. Tirage à 16h30. »</a:t>
            </a:r>
          </a:p>
        </p:txBody>
      </p:sp>
      <p:sp>
        <p:nvSpPr>
          <p:cNvPr id="21" name="Rectangle 20"/>
          <p:cNvSpPr/>
          <p:nvPr/>
        </p:nvSpPr>
        <p:spPr>
          <a:xfrm>
            <a:off x="360000" y="4847921"/>
            <a:ext cx="4626000" cy="5400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68000" y="4898321"/>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FAUT-IL ÊTRE PRÉSENT DANS LA SALLE POUR GAGNER ?</a:t>
            </a:r>
          </a:p>
        </p:txBody>
      </p:sp>
      <p:cxnSp>
        <p:nvCxnSpPr>
          <p:cNvPr id="23" name="Connector 22"/>
          <p:cNvCxnSpPr/>
          <p:nvPr/>
        </p:nvCxnSpPr>
        <p:spPr>
          <a:xfrm>
            <a:off x="468000" y="528712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000" y="5481521"/>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5" name="TextBox 24"/>
          <p:cNvSpPr txBox="1"/>
          <p:nvPr/>
        </p:nvSpPr>
        <p:spPr>
          <a:xfrm>
            <a:off x="547200" y="5481521"/>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Le QR code à nouveau : « les numéros de salle sont dessus, repérez vos cinq pendant le cocktail. »</a:t>
            </a:r>
          </a:p>
        </p:txBody>
      </p:sp>
      <p:cxnSp>
        <p:nvCxnSpPr>
          <p:cNvPr id="26" name="Connector 25"/>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13h40 · ouverture de l’après-midi, avec le deuxième animateur.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7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13h40</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13h44</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Reprise et principe des rotations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3" name="TextBox 12"/>
          <p:cNvSpPr txBox="1"/>
          <p:nvPr/>
        </p:nvSpPr>
        <p:spPr>
          <a:xfrm>
            <a:off x="547200" y="1742551"/>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Vous êtes deux : alternez. Ce bloc n’a aucun moment de respiration et arrive juste après le cocktail.</a:t>
            </a:r>
          </a:p>
        </p:txBody>
      </p:sp>
      <p:sp>
        <p:nvSpPr>
          <p:cNvPr id="14" name="Rectangle 13"/>
          <p:cNvSpPr/>
          <p:nvPr/>
        </p:nvSpPr>
        <p:spPr>
          <a:xfrm>
            <a:off x="360000" y="2312479"/>
            <a:ext cx="4626000" cy="688752"/>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60000" y="2312479"/>
            <a:ext cx="43200" cy="688752"/>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0000" y="2391679"/>
            <a:ext cx="4266000" cy="530352"/>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Quinze minutes, et vous saurez exactement où aller, avec qui, et ce qu’il y a à gagner. »</a:t>
            </a:r>
          </a:p>
        </p:txBody>
      </p:sp>
      <p:sp>
        <p:nvSpPr>
          <p:cNvPr id="17" name="TextBox 16"/>
          <p:cNvSpPr txBox="1"/>
          <p:nvPr/>
        </p:nvSpPr>
        <p:spPr>
          <a:xfrm>
            <a:off x="360000" y="3094831"/>
            <a:ext cx="187200" cy="736092"/>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8" name="TextBox 17"/>
          <p:cNvSpPr txBox="1"/>
          <p:nvPr/>
        </p:nvSpPr>
        <p:spPr>
          <a:xfrm>
            <a:off x="547200" y="3094831"/>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10 kiosques tournent en même temps, 5 fois. Les rotations sont identiques : rater un kiosque à 14h00 ne veut pas dire l’avoir raté.</a:t>
            </a:r>
          </a:p>
        </p:txBody>
      </p:sp>
      <p:sp>
        <p:nvSpPr>
          <p:cNvPr id="19" name="TextBox 18"/>
          <p:cNvSpPr txBox="1"/>
          <p:nvPr/>
        </p:nvSpPr>
        <p:spPr>
          <a:xfrm>
            <a:off x="360000" y="3910123"/>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0" name="TextBox 19"/>
          <p:cNvSpPr txBox="1"/>
          <p:nvPr/>
        </p:nvSpPr>
        <p:spPr>
          <a:xfrm>
            <a:off x="547200" y="3910123"/>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30 minutes : 20 d’atelier, 5 de questions, 5 pour se déplacer. Le déplacement fait partie du créneau.</a:t>
            </a:r>
          </a:p>
        </p:txBody>
      </p:sp>
      <p:sp>
        <p:nvSpPr>
          <p:cNvPr id="21" name="TextBox 20"/>
          <p:cNvSpPr txBox="1"/>
          <p:nvPr/>
        </p:nvSpPr>
        <p:spPr>
          <a:xfrm>
            <a:off x="360000" y="4480051"/>
            <a:ext cx="187200" cy="736092"/>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2" name="TextBox 21"/>
          <p:cNvSpPr txBox="1"/>
          <p:nvPr/>
        </p:nvSpPr>
        <p:spPr>
          <a:xfrm>
            <a:off x="547200" y="4480051"/>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Salles sur le QR code et sur les affiches A3 des portes. Horaires : 14h00 · 14h30 · 15h00 · 15h30 · 16h00.</a:t>
            </a:r>
          </a:p>
        </p:txBody>
      </p:sp>
      <p:cxnSp>
        <p:nvCxnSpPr>
          <p:cNvPr id="23" name="Connector 22"/>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13h44 · les dix pitches, en trois blocs.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8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13h44</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13h49</a:t>
            </a:r>
          </a:p>
        </p:txBody>
      </p:sp>
      <p:sp>
        <p:nvSpPr>
          <p:cNvPr id="10" name="TextBox 9"/>
          <p:cNvSpPr txBox="1"/>
          <p:nvPr/>
        </p:nvSpPr>
        <p:spPr>
          <a:xfrm>
            <a:off x="360000" y="1296000"/>
            <a:ext cx="4626000" cy="590702"/>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Les dix pitches en trois blocs — tu prends les blocs 1 et 3</a:t>
            </a:r>
          </a:p>
        </p:txBody>
      </p:sp>
      <p:cxnSp>
        <p:nvCxnSpPr>
          <p:cNvPr id="11" name="Connector 10"/>
          <p:cNvCxnSpPr/>
          <p:nvPr/>
        </p:nvCxnSpPr>
        <p:spPr>
          <a:xfrm>
            <a:off x="360000" y="1937102"/>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2037902"/>
            <a:ext cx="4626000" cy="77114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Les dix kiosques ne se disent plus dans l’ordre 1 à 10. Trois blocs, un animateur par bloc, deux passages de micro dans toute la séquence au lieu de neuf. Le tableau est dans l’ordre où ça se dit ; tes kiosques sont en couleur.</a:t>
            </a:r>
          </a:p>
        </p:txBody>
      </p:sp>
      <p:sp>
        <p:nvSpPr>
          <p:cNvPr id="13" name="TextBox 12"/>
          <p:cNvSpPr txBox="1"/>
          <p:nvPr/>
        </p:nvSpPr>
        <p:spPr>
          <a:xfrm>
            <a:off x="360000" y="2881042"/>
            <a:ext cx="270000" cy="151200"/>
          </a:xfrm>
          <a:prstGeom prst="rect">
            <a:avLst/>
          </a:prstGeom>
          <a:noFill/>
        </p:spPr>
        <p:txBody>
          <a:bodyPr wrap="square" lIns="0" rIns="0" tIns="0" bIns="0">
            <a:spAutoFit/>
          </a:bodyPr>
          <a:lstStyle/>
          <a:p>
            <a:pPr algn="l">
              <a:lnSpc>
                <a:spcPct val="115000"/>
              </a:lnSpc>
            </a:pPr>
            <a:r>
              <a:rPr sz="950" b="1" i="0">
                <a:solidFill>
                  <a:srgbClr val="4A4A49"/>
                </a:solidFill>
                <a:latin typeface="Barlow Condensed"/>
              </a:rPr>
              <a:t>N°</a:t>
            </a:r>
          </a:p>
        </p:txBody>
      </p:sp>
      <p:sp>
        <p:nvSpPr>
          <p:cNvPr id="14" name="TextBox 13"/>
          <p:cNvSpPr txBox="1"/>
          <p:nvPr/>
        </p:nvSpPr>
        <p:spPr>
          <a:xfrm>
            <a:off x="687600" y="2881042"/>
            <a:ext cx="1770912" cy="151200"/>
          </a:xfrm>
          <a:prstGeom prst="rect">
            <a:avLst/>
          </a:prstGeom>
          <a:noFill/>
        </p:spPr>
        <p:txBody>
          <a:bodyPr wrap="square" lIns="0" rIns="0" tIns="0" bIns="0">
            <a:spAutoFit/>
          </a:bodyPr>
          <a:lstStyle/>
          <a:p>
            <a:pPr algn="l">
              <a:lnSpc>
                <a:spcPct val="115000"/>
              </a:lnSpc>
            </a:pPr>
            <a:r>
              <a:rPr sz="950" b="1" i="0">
                <a:solidFill>
                  <a:srgbClr val="4A4A49"/>
                </a:solidFill>
                <a:latin typeface="Barlow Condensed"/>
              </a:rPr>
              <a:t>KIOSQUE</a:t>
            </a:r>
          </a:p>
        </p:txBody>
      </p:sp>
      <p:sp>
        <p:nvSpPr>
          <p:cNvPr id="15" name="TextBox 14"/>
          <p:cNvSpPr txBox="1"/>
          <p:nvPr/>
        </p:nvSpPr>
        <p:spPr>
          <a:xfrm>
            <a:off x="2516112" y="2881042"/>
            <a:ext cx="990719" cy="151200"/>
          </a:xfrm>
          <a:prstGeom prst="rect">
            <a:avLst/>
          </a:prstGeom>
          <a:noFill/>
        </p:spPr>
        <p:txBody>
          <a:bodyPr wrap="square" lIns="0" rIns="0" tIns="0" bIns="0">
            <a:spAutoFit/>
          </a:bodyPr>
          <a:lstStyle/>
          <a:p>
            <a:pPr algn="l">
              <a:lnSpc>
                <a:spcPct val="115000"/>
              </a:lnSpc>
            </a:pPr>
            <a:r>
              <a:rPr sz="950" b="1" i="0">
                <a:solidFill>
                  <a:srgbClr val="4A4A49"/>
                </a:solidFill>
                <a:latin typeface="Barlow Condensed"/>
              </a:rPr>
              <a:t>SALLE</a:t>
            </a:r>
          </a:p>
        </p:txBody>
      </p:sp>
      <p:sp>
        <p:nvSpPr>
          <p:cNvPr id="16" name="TextBox 15"/>
          <p:cNvSpPr txBox="1"/>
          <p:nvPr/>
        </p:nvSpPr>
        <p:spPr>
          <a:xfrm>
            <a:off x="3564431" y="2881042"/>
            <a:ext cx="1176480" cy="151200"/>
          </a:xfrm>
          <a:prstGeom prst="rect">
            <a:avLst/>
          </a:prstGeom>
          <a:noFill/>
        </p:spPr>
        <p:txBody>
          <a:bodyPr wrap="square" lIns="0" rIns="0" tIns="0" bIns="0">
            <a:spAutoFit/>
          </a:bodyPr>
          <a:lstStyle/>
          <a:p>
            <a:pPr algn="l">
              <a:lnSpc>
                <a:spcPct val="115000"/>
              </a:lnSpc>
            </a:pPr>
            <a:r>
              <a:rPr sz="950" b="1" i="0">
                <a:solidFill>
                  <a:srgbClr val="4A4A49"/>
                </a:solidFill>
                <a:latin typeface="Barlow Condensed"/>
              </a:rPr>
              <a:t>PORTÉ PAR</a:t>
            </a:r>
          </a:p>
        </p:txBody>
      </p:sp>
      <p:cxnSp>
        <p:nvCxnSpPr>
          <p:cNvPr id="17" name="Connector 16"/>
          <p:cNvCxnSpPr/>
          <p:nvPr/>
        </p:nvCxnSpPr>
        <p:spPr>
          <a:xfrm>
            <a:off x="360000" y="3046642"/>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0000" y="3068242"/>
            <a:ext cx="270000" cy="198000"/>
          </a:xfrm>
          <a:prstGeom prst="rect">
            <a:avLst/>
          </a:prstGeom>
          <a:noFill/>
        </p:spPr>
        <p:txBody>
          <a:bodyPr wrap="square" lIns="0" rIns="0" tIns="0" bIns="0">
            <a:spAutoFit/>
          </a:bodyPr>
          <a:lstStyle/>
          <a:p>
            <a:pPr algn="l">
              <a:lnSpc>
                <a:spcPct val="115000"/>
              </a:lnSpc>
            </a:pPr>
            <a:r>
              <a:rPr sz="1300" b="1" i="0">
                <a:solidFill>
                  <a:srgbClr val="00B4B4"/>
                </a:solidFill>
                <a:latin typeface="Barlow Condensed"/>
              </a:rPr>
              <a:t>1</a:t>
            </a:r>
          </a:p>
        </p:txBody>
      </p:sp>
      <p:sp>
        <p:nvSpPr>
          <p:cNvPr id="19" name="TextBox 18"/>
          <p:cNvSpPr txBox="1"/>
          <p:nvPr/>
        </p:nvSpPr>
        <p:spPr>
          <a:xfrm>
            <a:off x="687600" y="30682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Ludopédagogie</a:t>
            </a:r>
          </a:p>
        </p:txBody>
      </p:sp>
      <p:sp>
        <p:nvSpPr>
          <p:cNvPr id="20" name="TextBox 19"/>
          <p:cNvSpPr txBox="1"/>
          <p:nvPr/>
        </p:nvSpPr>
        <p:spPr>
          <a:xfrm>
            <a:off x="2516112" y="30682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Wisla</a:t>
            </a:r>
          </a:p>
        </p:txBody>
      </p:sp>
      <p:sp>
        <p:nvSpPr>
          <p:cNvPr id="21" name="TextBox 20"/>
          <p:cNvSpPr txBox="1"/>
          <p:nvPr/>
        </p:nvSpPr>
        <p:spPr>
          <a:xfrm>
            <a:off x="3564431" y="30682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CRAN Quality Experts</a:t>
            </a:r>
          </a:p>
        </p:txBody>
      </p:sp>
      <p:sp>
        <p:nvSpPr>
          <p:cNvPr id="22" name="TextBox 21"/>
          <p:cNvSpPr txBox="1"/>
          <p:nvPr/>
        </p:nvSpPr>
        <p:spPr>
          <a:xfrm>
            <a:off x="360000" y="3305842"/>
            <a:ext cx="270000" cy="198000"/>
          </a:xfrm>
          <a:prstGeom prst="rect">
            <a:avLst/>
          </a:prstGeom>
          <a:noFill/>
        </p:spPr>
        <p:txBody>
          <a:bodyPr wrap="square" lIns="0" rIns="0" tIns="0" bIns="0">
            <a:spAutoFit/>
          </a:bodyPr>
          <a:lstStyle/>
          <a:p>
            <a:pPr algn="l">
              <a:lnSpc>
                <a:spcPct val="115000"/>
              </a:lnSpc>
            </a:pPr>
            <a:r>
              <a:rPr sz="1300" b="1" i="0">
                <a:solidFill>
                  <a:srgbClr val="00B4B4"/>
                </a:solidFill>
                <a:latin typeface="Barlow Condensed"/>
              </a:rPr>
              <a:t>5</a:t>
            </a:r>
          </a:p>
        </p:txBody>
      </p:sp>
      <p:sp>
        <p:nvSpPr>
          <p:cNvPr id="23" name="TextBox 22"/>
          <p:cNvSpPr txBox="1"/>
          <p:nvPr/>
        </p:nvSpPr>
        <p:spPr>
          <a:xfrm>
            <a:off x="687600" y="33058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Bâtisseurs de pyramides</a:t>
            </a:r>
          </a:p>
        </p:txBody>
      </p:sp>
      <p:sp>
        <p:nvSpPr>
          <p:cNvPr id="24" name="TextBox 23"/>
          <p:cNvSpPr txBox="1"/>
          <p:nvPr/>
        </p:nvSpPr>
        <p:spPr>
          <a:xfrm>
            <a:off x="2516112" y="33058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Rhône</a:t>
            </a:r>
          </a:p>
        </p:txBody>
      </p:sp>
      <p:sp>
        <p:nvSpPr>
          <p:cNvPr id="25" name="TextBox 24"/>
          <p:cNvSpPr txBox="1"/>
          <p:nvPr/>
        </p:nvSpPr>
        <p:spPr>
          <a:xfrm>
            <a:off x="3564431" y="33058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a:t>
            </a:r>
          </a:p>
        </p:txBody>
      </p:sp>
      <p:sp>
        <p:nvSpPr>
          <p:cNvPr id="26" name="TextBox 25"/>
          <p:cNvSpPr txBox="1"/>
          <p:nvPr/>
        </p:nvSpPr>
        <p:spPr>
          <a:xfrm>
            <a:off x="360000" y="3543442"/>
            <a:ext cx="270000" cy="198000"/>
          </a:xfrm>
          <a:prstGeom prst="rect">
            <a:avLst/>
          </a:prstGeom>
          <a:noFill/>
        </p:spPr>
        <p:txBody>
          <a:bodyPr wrap="square" lIns="0" rIns="0" tIns="0" bIns="0">
            <a:spAutoFit/>
          </a:bodyPr>
          <a:lstStyle/>
          <a:p>
            <a:pPr algn="l">
              <a:lnSpc>
                <a:spcPct val="115000"/>
              </a:lnSpc>
            </a:pPr>
            <a:r>
              <a:rPr sz="1300" b="1" i="0">
                <a:solidFill>
                  <a:srgbClr val="00B4B4"/>
                </a:solidFill>
                <a:latin typeface="Barlow Condensed"/>
              </a:rPr>
              <a:t>10</a:t>
            </a:r>
          </a:p>
        </p:txBody>
      </p:sp>
      <p:sp>
        <p:nvSpPr>
          <p:cNvPr id="27" name="TextBox 26"/>
          <p:cNvSpPr txBox="1"/>
          <p:nvPr/>
        </p:nvSpPr>
        <p:spPr>
          <a:xfrm>
            <a:off x="687600" y="35434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Mini-Série TESTY</a:t>
            </a:r>
          </a:p>
        </p:txBody>
      </p:sp>
      <p:sp>
        <p:nvSpPr>
          <p:cNvPr id="28" name="TextBox 27"/>
          <p:cNvSpPr txBox="1"/>
          <p:nvPr/>
        </p:nvSpPr>
        <p:spPr>
          <a:xfrm>
            <a:off x="2516112" y="35434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Sumida + Alzette</a:t>
            </a:r>
          </a:p>
        </p:txBody>
      </p:sp>
      <p:sp>
        <p:nvSpPr>
          <p:cNvPr id="29" name="TextBox 28"/>
          <p:cNvSpPr txBox="1"/>
          <p:nvPr/>
        </p:nvSpPr>
        <p:spPr>
          <a:xfrm>
            <a:off x="3564431" y="35434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a:t>
            </a:r>
          </a:p>
        </p:txBody>
      </p:sp>
      <p:sp>
        <p:nvSpPr>
          <p:cNvPr id="30" name="TextBox 29"/>
          <p:cNvSpPr txBox="1"/>
          <p:nvPr/>
        </p:nvSpPr>
        <p:spPr>
          <a:xfrm>
            <a:off x="360000" y="37810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4</a:t>
            </a:r>
          </a:p>
        </p:txBody>
      </p:sp>
      <p:sp>
        <p:nvSpPr>
          <p:cNvPr id="31" name="TextBox 30"/>
          <p:cNvSpPr txBox="1"/>
          <p:nvPr/>
        </p:nvSpPr>
        <p:spPr>
          <a:xfrm>
            <a:off x="687600" y="37810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Yest Companion</a:t>
            </a:r>
          </a:p>
        </p:txBody>
      </p:sp>
      <p:sp>
        <p:nvSpPr>
          <p:cNvPr id="32" name="TextBox 31"/>
          <p:cNvSpPr txBox="1"/>
          <p:nvPr/>
        </p:nvSpPr>
        <p:spPr>
          <a:xfrm>
            <a:off x="2516112" y="37810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Douro</a:t>
            </a:r>
          </a:p>
        </p:txBody>
      </p:sp>
      <p:sp>
        <p:nvSpPr>
          <p:cNvPr id="33" name="TextBox 32"/>
          <p:cNvSpPr txBox="1"/>
          <p:nvPr/>
        </p:nvSpPr>
        <p:spPr>
          <a:xfrm>
            <a:off x="3564431" y="37810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Smartesting</a:t>
            </a:r>
          </a:p>
        </p:txBody>
      </p:sp>
      <p:sp>
        <p:nvSpPr>
          <p:cNvPr id="34" name="TextBox 33"/>
          <p:cNvSpPr txBox="1"/>
          <p:nvPr/>
        </p:nvSpPr>
        <p:spPr>
          <a:xfrm>
            <a:off x="360000" y="40186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7</a:t>
            </a:r>
          </a:p>
        </p:txBody>
      </p:sp>
      <p:sp>
        <p:nvSpPr>
          <p:cNvPr id="35" name="TextBox 34"/>
          <p:cNvSpPr txBox="1"/>
          <p:nvPr/>
        </p:nvSpPr>
        <p:spPr>
          <a:xfrm>
            <a:off x="687600" y="40186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SDSI Test &amp; IA</a:t>
            </a:r>
          </a:p>
        </p:txBody>
      </p:sp>
      <p:sp>
        <p:nvSpPr>
          <p:cNvPr id="36" name="TextBox 35"/>
          <p:cNvSpPr txBox="1"/>
          <p:nvPr/>
        </p:nvSpPr>
        <p:spPr>
          <a:xfrm>
            <a:off x="2516112" y="40186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Adige</a:t>
            </a:r>
          </a:p>
        </p:txBody>
      </p:sp>
      <p:sp>
        <p:nvSpPr>
          <p:cNvPr id="37" name="TextBox 36"/>
          <p:cNvSpPr txBox="1"/>
          <p:nvPr/>
        </p:nvSpPr>
        <p:spPr>
          <a:xfrm>
            <a:off x="3564431" y="40186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 · DF Dommages</a:t>
            </a:r>
          </a:p>
        </p:txBody>
      </p:sp>
      <p:sp>
        <p:nvSpPr>
          <p:cNvPr id="38" name="TextBox 37"/>
          <p:cNvSpPr txBox="1"/>
          <p:nvPr/>
        </p:nvSpPr>
        <p:spPr>
          <a:xfrm>
            <a:off x="360000" y="42562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3</a:t>
            </a:r>
          </a:p>
        </p:txBody>
      </p:sp>
      <p:sp>
        <p:nvSpPr>
          <p:cNvPr id="39" name="TextBox 38"/>
          <p:cNvSpPr txBox="1"/>
          <p:nvPr/>
        </p:nvSpPr>
        <p:spPr>
          <a:xfrm>
            <a:off x="687600" y="42562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Écosystème d'agents IA</a:t>
            </a:r>
          </a:p>
        </p:txBody>
      </p:sp>
      <p:sp>
        <p:nvSpPr>
          <p:cNvPr id="40" name="TextBox 39"/>
          <p:cNvSpPr txBox="1"/>
          <p:nvPr/>
        </p:nvSpPr>
        <p:spPr>
          <a:xfrm>
            <a:off x="2516112" y="42562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Liffey</a:t>
            </a:r>
          </a:p>
        </p:txBody>
      </p:sp>
      <p:sp>
        <p:nvSpPr>
          <p:cNvPr id="41" name="TextBox 40"/>
          <p:cNvSpPr txBox="1"/>
          <p:nvPr/>
        </p:nvSpPr>
        <p:spPr>
          <a:xfrm>
            <a:off x="3564431" y="42562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a:t>
            </a:r>
          </a:p>
        </p:txBody>
      </p:sp>
      <p:sp>
        <p:nvSpPr>
          <p:cNvPr id="42" name="TextBox 41"/>
          <p:cNvSpPr txBox="1"/>
          <p:nvPr/>
        </p:nvSpPr>
        <p:spPr>
          <a:xfrm>
            <a:off x="360000" y="44938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2</a:t>
            </a:r>
          </a:p>
        </p:txBody>
      </p:sp>
      <p:sp>
        <p:nvSpPr>
          <p:cNvPr id="43" name="TextBox 42"/>
          <p:cNvSpPr txBox="1"/>
          <p:nvPr/>
        </p:nvSpPr>
        <p:spPr>
          <a:xfrm>
            <a:off x="687600" y="44938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LynQA</a:t>
            </a:r>
          </a:p>
        </p:txBody>
      </p:sp>
      <p:sp>
        <p:nvSpPr>
          <p:cNvPr id="44" name="TextBox 43"/>
          <p:cNvSpPr txBox="1"/>
          <p:nvPr/>
        </p:nvSpPr>
        <p:spPr>
          <a:xfrm>
            <a:off x="2516112" y="44938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Donau</a:t>
            </a:r>
          </a:p>
        </p:txBody>
      </p:sp>
      <p:sp>
        <p:nvSpPr>
          <p:cNvPr id="45" name="TextBox 44"/>
          <p:cNvSpPr txBox="1"/>
          <p:nvPr/>
        </p:nvSpPr>
        <p:spPr>
          <a:xfrm>
            <a:off x="3564431" y="44938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Smartesting</a:t>
            </a:r>
          </a:p>
        </p:txBody>
      </p:sp>
      <p:sp>
        <p:nvSpPr>
          <p:cNvPr id="46" name="TextBox 45"/>
          <p:cNvSpPr txBox="1"/>
          <p:nvPr/>
        </p:nvSpPr>
        <p:spPr>
          <a:xfrm>
            <a:off x="360000" y="4731442"/>
            <a:ext cx="270000" cy="198000"/>
          </a:xfrm>
          <a:prstGeom prst="rect">
            <a:avLst/>
          </a:prstGeom>
          <a:noFill/>
        </p:spPr>
        <p:txBody>
          <a:bodyPr wrap="square" lIns="0" rIns="0" tIns="0" bIns="0">
            <a:spAutoFit/>
          </a:bodyPr>
          <a:lstStyle/>
          <a:p>
            <a:pPr algn="l">
              <a:lnSpc>
                <a:spcPct val="115000"/>
              </a:lnSpc>
            </a:pPr>
            <a:r>
              <a:rPr sz="1300" b="1" i="0">
                <a:solidFill>
                  <a:srgbClr val="00B4B4"/>
                </a:solidFill>
                <a:latin typeface="Barlow Condensed"/>
              </a:rPr>
              <a:t>6</a:t>
            </a:r>
          </a:p>
        </p:txBody>
      </p:sp>
      <p:sp>
        <p:nvSpPr>
          <p:cNvPr id="47" name="TextBox 46"/>
          <p:cNvSpPr txBox="1"/>
          <p:nvPr/>
        </p:nvSpPr>
        <p:spPr>
          <a:xfrm>
            <a:off x="687600" y="47314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Référentiel de tests X-Ray</a:t>
            </a:r>
          </a:p>
        </p:txBody>
      </p:sp>
      <p:sp>
        <p:nvSpPr>
          <p:cNvPr id="48" name="TextBox 47"/>
          <p:cNvSpPr txBox="1"/>
          <p:nvPr/>
        </p:nvSpPr>
        <p:spPr>
          <a:xfrm>
            <a:off x="2516112" y="47314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Tajo</a:t>
            </a:r>
          </a:p>
        </p:txBody>
      </p:sp>
      <p:sp>
        <p:nvSpPr>
          <p:cNvPr id="49" name="TextBox 48"/>
          <p:cNvSpPr txBox="1"/>
          <p:nvPr/>
        </p:nvSpPr>
        <p:spPr>
          <a:xfrm>
            <a:off x="3564431" y="47314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OPEN · TFC</a:t>
            </a:r>
          </a:p>
        </p:txBody>
      </p:sp>
      <p:sp>
        <p:nvSpPr>
          <p:cNvPr id="50" name="TextBox 49"/>
          <p:cNvSpPr txBox="1"/>
          <p:nvPr/>
        </p:nvSpPr>
        <p:spPr>
          <a:xfrm>
            <a:off x="360000" y="4969042"/>
            <a:ext cx="270000" cy="198000"/>
          </a:xfrm>
          <a:prstGeom prst="rect">
            <a:avLst/>
          </a:prstGeom>
          <a:noFill/>
        </p:spPr>
        <p:txBody>
          <a:bodyPr wrap="square" lIns="0" rIns="0" tIns="0" bIns="0">
            <a:spAutoFit/>
          </a:bodyPr>
          <a:lstStyle/>
          <a:p>
            <a:pPr algn="l">
              <a:lnSpc>
                <a:spcPct val="115000"/>
              </a:lnSpc>
            </a:pPr>
            <a:r>
              <a:rPr sz="1300" b="1" i="0">
                <a:solidFill>
                  <a:srgbClr val="00B4B4"/>
                </a:solidFill>
                <a:latin typeface="Barlow Condensed"/>
              </a:rPr>
              <a:t>8</a:t>
            </a:r>
          </a:p>
        </p:txBody>
      </p:sp>
      <p:sp>
        <p:nvSpPr>
          <p:cNvPr id="51" name="TextBox 50"/>
          <p:cNvSpPr txBox="1"/>
          <p:nvPr/>
        </p:nvSpPr>
        <p:spPr>
          <a:xfrm>
            <a:off x="687600" y="49690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JADD</a:t>
            </a:r>
          </a:p>
        </p:txBody>
      </p:sp>
      <p:sp>
        <p:nvSpPr>
          <p:cNvPr id="52" name="TextBox 51"/>
          <p:cNvSpPr txBox="1"/>
          <p:nvPr/>
        </p:nvSpPr>
        <p:spPr>
          <a:xfrm>
            <a:off x="2516112" y="49690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Loire</a:t>
            </a:r>
          </a:p>
        </p:txBody>
      </p:sp>
      <p:sp>
        <p:nvSpPr>
          <p:cNvPr id="53" name="TextBox 52"/>
          <p:cNvSpPr txBox="1"/>
          <p:nvPr/>
        </p:nvSpPr>
        <p:spPr>
          <a:xfrm>
            <a:off x="3564431" y="49690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 · MCAD</a:t>
            </a:r>
          </a:p>
        </p:txBody>
      </p:sp>
      <p:sp>
        <p:nvSpPr>
          <p:cNvPr id="54" name="TextBox 53"/>
          <p:cNvSpPr txBox="1"/>
          <p:nvPr/>
        </p:nvSpPr>
        <p:spPr>
          <a:xfrm>
            <a:off x="360000" y="5206642"/>
            <a:ext cx="270000" cy="198000"/>
          </a:xfrm>
          <a:prstGeom prst="rect">
            <a:avLst/>
          </a:prstGeom>
          <a:noFill/>
        </p:spPr>
        <p:txBody>
          <a:bodyPr wrap="square" lIns="0" rIns="0" tIns="0" bIns="0">
            <a:spAutoFit/>
          </a:bodyPr>
          <a:lstStyle/>
          <a:p>
            <a:pPr algn="l">
              <a:lnSpc>
                <a:spcPct val="115000"/>
              </a:lnSpc>
            </a:pPr>
            <a:r>
              <a:rPr sz="1300" b="1" i="0">
                <a:solidFill>
                  <a:srgbClr val="00B4B4"/>
                </a:solidFill>
                <a:latin typeface="Barlow Condensed"/>
              </a:rPr>
              <a:t>9</a:t>
            </a:r>
          </a:p>
        </p:txBody>
      </p:sp>
      <p:sp>
        <p:nvSpPr>
          <p:cNvPr id="55" name="TextBox 54"/>
          <p:cNvSpPr txBox="1"/>
          <p:nvPr/>
        </p:nvSpPr>
        <p:spPr>
          <a:xfrm>
            <a:off x="687600" y="52066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SauceLabs</a:t>
            </a:r>
          </a:p>
        </p:txBody>
      </p:sp>
      <p:sp>
        <p:nvSpPr>
          <p:cNvPr id="56" name="TextBox 55"/>
          <p:cNvSpPr txBox="1"/>
          <p:nvPr/>
        </p:nvSpPr>
        <p:spPr>
          <a:xfrm>
            <a:off x="2516112" y="52066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Moselle</a:t>
            </a:r>
          </a:p>
        </p:txBody>
      </p:sp>
      <p:sp>
        <p:nvSpPr>
          <p:cNvPr id="57" name="TextBox 56"/>
          <p:cNvSpPr txBox="1"/>
          <p:nvPr/>
        </p:nvSpPr>
        <p:spPr>
          <a:xfrm>
            <a:off x="3564431" y="52066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 · DF Dommages</a:t>
            </a:r>
          </a:p>
        </p:txBody>
      </p:sp>
      <p:sp>
        <p:nvSpPr>
          <p:cNvPr id="58" name="TextBox 57"/>
          <p:cNvSpPr txBox="1"/>
          <p:nvPr/>
        </p:nvSpPr>
        <p:spPr>
          <a:xfrm>
            <a:off x="360000" y="5530642"/>
            <a:ext cx="4626000" cy="38557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Une carte par bloc, tenue en scène. Une carte de préparation par kiosque en fin de jeu, à lire la veille.</a:t>
            </a:r>
          </a:p>
        </p:txBody>
      </p:sp>
      <p:sp>
        <p:nvSpPr>
          <p:cNvPr id="59" name="TextBox 58"/>
          <p:cNvSpPr txBox="1"/>
          <p:nvPr/>
        </p:nvSpPr>
        <p:spPr>
          <a:xfrm>
            <a:off x="360000" y="5988212"/>
            <a:ext cx="4626000" cy="57835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Si ça déborde après 13h50 : le rappel des salles passe de 2 min à 1 min et le tirage se dit debout, sans slide. La dispersion de 13h55 ne se sacrifie jamais.</a:t>
            </a:r>
          </a:p>
        </p:txBody>
      </p:sp>
      <p:cxnSp>
        <p:nvCxnSpPr>
          <p:cNvPr id="60" name="Connector 59"/>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ta carte du bloc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9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Bloc 1</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TENIR</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 min 25</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Comprendre, sans prérequis — 3 kiosques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774933"/>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630933"/>
          </a:xfrm>
          <a:prstGeom prst="rect">
            <a:avLst/>
          </a:prstGeom>
          <a:noFill/>
        </p:spPr>
        <p:txBody>
          <a:bodyPr wrap="square" lIns="0" rIns="0" tIns="0" bIns="0">
            <a:spAutoFit/>
          </a:bodyPr>
          <a:lstStyle/>
          <a:p>
            <a:pPr algn="l">
              <a:lnSpc>
                <a:spcPct val="115000"/>
              </a:lnSpc>
            </a:pPr>
            <a:r>
              <a:rPr sz="1200" b="1" i="0">
                <a:solidFill>
                  <a:srgbClr val="B32D2D"/>
                </a:solidFill>
                <a:latin typeface="Barlow"/>
              </a:rPr>
              <a:t>Kiosque 1 : les deux ateliers alternent selon la rotation — dis « les deux en alternance ». Kiosque 10 : « libre service » ou « épisode 4 présenté », non tranché.</a:t>
            </a:r>
          </a:p>
        </p:txBody>
      </p:sp>
      <p:sp>
        <p:nvSpPr>
          <p:cNvPr id="14" name="Rectangle 13"/>
          <p:cNvSpPr/>
          <p:nvPr/>
        </p:nvSpPr>
        <p:spPr>
          <a:xfrm>
            <a:off x="360000" y="2625484"/>
            <a:ext cx="4626000" cy="688752"/>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60000" y="2625484"/>
            <a:ext cx="43200" cy="688752"/>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0000" y="2704684"/>
            <a:ext cx="4266000" cy="530352"/>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Trois kiosques où on ne vous demande rien de technique : on manipule, on joue, on regarde. »</a:t>
            </a:r>
          </a:p>
        </p:txBody>
      </p:sp>
      <p:sp>
        <p:nvSpPr>
          <p:cNvPr id="17" name="TextBox 16"/>
          <p:cNvSpPr txBox="1"/>
          <p:nvPr/>
        </p:nvSpPr>
        <p:spPr>
          <a:xfrm>
            <a:off x="360000" y="3407836"/>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Pour chacun : nomme les porteurs, fais-leur lever la main.</a:t>
            </a:r>
          </a:p>
        </p:txBody>
      </p:sp>
      <p:sp>
        <p:nvSpPr>
          <p:cNvPr id="18" name="Rectangle 17"/>
          <p:cNvSpPr/>
          <p:nvPr/>
        </p:nvSpPr>
        <p:spPr>
          <a:xfrm>
            <a:off x="360000" y="3672621"/>
            <a:ext cx="32400" cy="84783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22000" y="3672621"/>
            <a:ext cx="4464000" cy="210311"/>
          </a:xfrm>
          <a:prstGeom prst="rect">
            <a:avLst/>
          </a:prstGeom>
          <a:noFill/>
        </p:spPr>
        <p:txBody>
          <a:bodyPr wrap="square" lIns="0" rIns="0" tIns="0" bIns="0">
            <a:spAutoFit/>
          </a:bodyPr>
          <a:lstStyle/>
          <a:p>
            <a:pPr algn="l">
              <a:lnSpc>
                <a:spcPct val="115000"/>
              </a:lnSpc>
            </a:pPr>
            <a:r>
              <a:rPr sz="1200" b="1" i="0">
                <a:solidFill>
                  <a:srgbClr val="00B4B4"/>
                </a:solidFill>
                <a:latin typeface="Barlow Condensed"/>
              </a:rPr>
              <a:t>1 · Wisla — Ludopédagogie</a:t>
            </a:r>
          </a:p>
        </p:txBody>
      </p:sp>
      <p:sp>
        <p:nvSpPr>
          <p:cNvPr id="20" name="TextBox 19"/>
          <p:cNvSpPr txBox="1"/>
          <p:nvPr/>
        </p:nvSpPr>
        <p:spPr>
          <a:xfrm>
            <a:off x="522000" y="3911732"/>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Tour de Babel et Marshmallow Challenge en alternance : découvrez par le jeu pourquoi il faut tester tôt !</a:t>
            </a:r>
          </a:p>
        </p:txBody>
      </p:sp>
      <p:sp>
        <p:nvSpPr>
          <p:cNvPr id="21" name="TextBox 20"/>
          <p:cNvSpPr txBox="1"/>
          <p:nvPr/>
        </p:nvSpPr>
        <p:spPr>
          <a:xfrm>
            <a:off x="522000" y="4353954"/>
            <a:ext cx="4464000" cy="166497"/>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CRAN Quality Experts · Guillaume COUSIN.</a:t>
            </a:r>
          </a:p>
        </p:txBody>
      </p:sp>
      <p:sp>
        <p:nvSpPr>
          <p:cNvPr id="22" name="Rectangle 21"/>
          <p:cNvSpPr/>
          <p:nvPr/>
        </p:nvSpPr>
        <p:spPr>
          <a:xfrm>
            <a:off x="360000" y="4599651"/>
            <a:ext cx="32400" cy="84783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000" y="4599651"/>
            <a:ext cx="4464000" cy="210311"/>
          </a:xfrm>
          <a:prstGeom prst="rect">
            <a:avLst/>
          </a:prstGeom>
          <a:noFill/>
        </p:spPr>
        <p:txBody>
          <a:bodyPr wrap="square" lIns="0" rIns="0" tIns="0" bIns="0">
            <a:spAutoFit/>
          </a:bodyPr>
          <a:lstStyle/>
          <a:p>
            <a:pPr algn="l">
              <a:lnSpc>
                <a:spcPct val="115000"/>
              </a:lnSpc>
            </a:pPr>
            <a:r>
              <a:rPr sz="1200" b="1" i="0">
                <a:solidFill>
                  <a:srgbClr val="00B4B4"/>
                </a:solidFill>
                <a:latin typeface="Barlow Condensed"/>
              </a:rPr>
              <a:t>5 · Rhône — Bâtisseurs de pyramides</a:t>
            </a:r>
          </a:p>
        </p:txBody>
      </p:sp>
      <p:sp>
        <p:nvSpPr>
          <p:cNvPr id="24" name="TextBox 23"/>
          <p:cNvSpPr txBox="1"/>
          <p:nvPr/>
        </p:nvSpPr>
        <p:spPr>
          <a:xfrm>
            <a:off x="522000" y="4838762"/>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Construisez votre VRAIE pyramide de tests en 3D interactive — trouvez le bon équilibre en mode collaboratif !</a:t>
            </a:r>
          </a:p>
        </p:txBody>
      </p:sp>
      <p:sp>
        <p:nvSpPr>
          <p:cNvPr id="25" name="TextBox 24"/>
          <p:cNvSpPr txBox="1"/>
          <p:nvPr/>
        </p:nvSpPr>
        <p:spPr>
          <a:xfrm>
            <a:off x="522000" y="5280984"/>
            <a:ext cx="4464000" cy="166497"/>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TFC · Olivier PROUTEAU et Mélanie DA COSTA.</a:t>
            </a:r>
          </a:p>
        </p:txBody>
      </p:sp>
      <p:sp>
        <p:nvSpPr>
          <p:cNvPr id="26" name="Rectangle 25"/>
          <p:cNvSpPr/>
          <p:nvPr/>
        </p:nvSpPr>
        <p:spPr>
          <a:xfrm>
            <a:off x="360000" y="5526681"/>
            <a:ext cx="32400" cy="84783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22000" y="5526681"/>
            <a:ext cx="4464000" cy="210311"/>
          </a:xfrm>
          <a:prstGeom prst="rect">
            <a:avLst/>
          </a:prstGeom>
          <a:noFill/>
        </p:spPr>
        <p:txBody>
          <a:bodyPr wrap="square" lIns="0" rIns="0" tIns="0" bIns="0">
            <a:spAutoFit/>
          </a:bodyPr>
          <a:lstStyle/>
          <a:p>
            <a:pPr algn="l">
              <a:lnSpc>
                <a:spcPct val="115000"/>
              </a:lnSpc>
            </a:pPr>
            <a:r>
              <a:rPr sz="1200" b="1" i="0">
                <a:solidFill>
                  <a:srgbClr val="00B4B4"/>
                </a:solidFill>
                <a:latin typeface="Barlow Condensed"/>
              </a:rPr>
              <a:t>10 · Sumida + Alzette — Mini-Série TESTY</a:t>
            </a:r>
          </a:p>
        </p:txBody>
      </p:sp>
      <p:sp>
        <p:nvSpPr>
          <p:cNvPr id="28" name="TextBox 27"/>
          <p:cNvSpPr txBox="1"/>
          <p:nvPr/>
        </p:nvSpPr>
        <p:spPr>
          <a:xfrm>
            <a:off x="522000" y="5765792"/>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Plongez dans l'univers coloré et décalé de TESTY : le métier de testeur en épisodes courts, ludiques, sans jargon.</a:t>
            </a:r>
          </a:p>
        </p:txBody>
      </p:sp>
      <p:sp>
        <p:nvSpPr>
          <p:cNvPr id="29" name="TextBox 28"/>
          <p:cNvSpPr txBox="1"/>
          <p:nvPr/>
        </p:nvSpPr>
        <p:spPr>
          <a:xfrm>
            <a:off x="522000" y="6208014"/>
            <a:ext cx="4464000" cy="166497"/>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TFC · Elena TOMAS et Jaber BENZEGOUTTA.</a:t>
            </a:r>
          </a:p>
        </p:txBody>
      </p:sp>
      <p:cxnSp>
        <p:nvCxnSpPr>
          <p:cNvPr id="30" name="Connector 29"/>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le deuxième animateur prend le micro pour les quatre kiosques du bloc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10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Bloc 3</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TENIR</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 min 25</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Vos outils — 3 kiosques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688752"/>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60000" y="1742551"/>
            <a:ext cx="43200" cy="688752"/>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0000" y="1821751"/>
            <a:ext cx="4266000" cy="530352"/>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Où vivent vos tests, avec quelles données, sur quel parc on les exécute. »</a:t>
            </a:r>
          </a:p>
        </p:txBody>
      </p:sp>
      <p:sp>
        <p:nvSpPr>
          <p:cNvPr id="15" name="TextBox 14"/>
          <p:cNvSpPr txBox="1"/>
          <p:nvPr/>
        </p:nvSpPr>
        <p:spPr>
          <a:xfrm>
            <a:off x="360000" y="2524903"/>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Pour chacun : nomme les porteurs, fais-leur lever la main.</a:t>
            </a:r>
          </a:p>
        </p:txBody>
      </p:sp>
      <p:sp>
        <p:nvSpPr>
          <p:cNvPr id="16" name="Rectangle 15"/>
          <p:cNvSpPr/>
          <p:nvPr/>
        </p:nvSpPr>
        <p:spPr>
          <a:xfrm>
            <a:off x="360000" y="2789688"/>
            <a:ext cx="32400" cy="84783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2000" y="2789688"/>
            <a:ext cx="4464000" cy="210311"/>
          </a:xfrm>
          <a:prstGeom prst="rect">
            <a:avLst/>
          </a:prstGeom>
          <a:noFill/>
        </p:spPr>
        <p:txBody>
          <a:bodyPr wrap="square" lIns="0" rIns="0" tIns="0" bIns="0">
            <a:spAutoFit/>
          </a:bodyPr>
          <a:lstStyle/>
          <a:p>
            <a:pPr algn="l">
              <a:lnSpc>
                <a:spcPct val="115000"/>
              </a:lnSpc>
            </a:pPr>
            <a:r>
              <a:rPr sz="1200" b="1" i="0">
                <a:solidFill>
                  <a:srgbClr val="00B4B4"/>
                </a:solidFill>
                <a:latin typeface="Barlow Condensed"/>
              </a:rPr>
              <a:t>6 · Tajo — Référentiel de tests X-Ray</a:t>
            </a:r>
          </a:p>
        </p:txBody>
      </p:sp>
      <p:sp>
        <p:nvSpPr>
          <p:cNvPr id="18" name="TextBox 17"/>
          <p:cNvSpPr txBox="1"/>
          <p:nvPr/>
        </p:nvSpPr>
        <p:spPr>
          <a:xfrm>
            <a:off x="522000" y="3028799"/>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Au revoir QC, bienvenue X-Ray ! Découvrez le produit et la trajectoire de migration 2027.</a:t>
            </a:r>
          </a:p>
        </p:txBody>
      </p:sp>
      <p:sp>
        <p:nvSpPr>
          <p:cNvPr id="19" name="TextBox 18"/>
          <p:cNvSpPr txBox="1"/>
          <p:nvPr/>
        </p:nvSpPr>
        <p:spPr>
          <a:xfrm>
            <a:off x="522000" y="3471021"/>
            <a:ext cx="4464000" cy="166497"/>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OPEN · Alexandre BRUN / TFC · Fadi AIZOUKI.</a:t>
            </a:r>
          </a:p>
        </p:txBody>
      </p:sp>
      <p:sp>
        <p:nvSpPr>
          <p:cNvPr id="20" name="Rectangle 19"/>
          <p:cNvSpPr/>
          <p:nvPr/>
        </p:nvSpPr>
        <p:spPr>
          <a:xfrm>
            <a:off x="360000" y="3716718"/>
            <a:ext cx="32400" cy="1014327"/>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2000" y="3716718"/>
            <a:ext cx="4464000" cy="210311"/>
          </a:xfrm>
          <a:prstGeom prst="rect">
            <a:avLst/>
          </a:prstGeom>
          <a:noFill/>
        </p:spPr>
        <p:txBody>
          <a:bodyPr wrap="square" lIns="0" rIns="0" tIns="0" bIns="0">
            <a:spAutoFit/>
          </a:bodyPr>
          <a:lstStyle/>
          <a:p>
            <a:pPr algn="l">
              <a:lnSpc>
                <a:spcPct val="115000"/>
              </a:lnSpc>
            </a:pPr>
            <a:r>
              <a:rPr sz="1200" b="1" i="0">
                <a:solidFill>
                  <a:srgbClr val="00B4B4"/>
                </a:solidFill>
                <a:latin typeface="Barlow Condensed"/>
              </a:rPr>
              <a:t>8 · Loire — JADD</a:t>
            </a:r>
          </a:p>
        </p:txBody>
      </p:sp>
      <p:sp>
        <p:nvSpPr>
          <p:cNvPr id="22" name="TextBox 21"/>
          <p:cNvSpPr txBox="1"/>
          <p:nvPr/>
        </p:nvSpPr>
        <p:spPr>
          <a:xfrm>
            <a:off x="522000" y="3955829"/>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Les données de production à portée de clic pour vos tests : enrichissez, réutilisez, rechargez en quelques clics.</a:t>
            </a:r>
          </a:p>
        </p:txBody>
      </p:sp>
      <p:sp>
        <p:nvSpPr>
          <p:cNvPr id="23" name="TextBox 22"/>
          <p:cNvSpPr txBox="1"/>
          <p:nvPr/>
        </p:nvSpPr>
        <p:spPr>
          <a:xfrm>
            <a:off x="522000" y="4398051"/>
            <a:ext cx="4464000" cy="332994"/>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TFC · Gabriel MOROSAN et Laurie ZINGLE / MCAD · Julien BAZZALI et Nicolas DROUET.</a:t>
            </a:r>
          </a:p>
        </p:txBody>
      </p:sp>
      <p:sp>
        <p:nvSpPr>
          <p:cNvPr id="24" name="Rectangle 23"/>
          <p:cNvSpPr/>
          <p:nvPr/>
        </p:nvSpPr>
        <p:spPr>
          <a:xfrm>
            <a:off x="360000" y="4810245"/>
            <a:ext cx="32400" cy="84783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22000" y="4810245"/>
            <a:ext cx="4464000" cy="210311"/>
          </a:xfrm>
          <a:prstGeom prst="rect">
            <a:avLst/>
          </a:prstGeom>
          <a:noFill/>
        </p:spPr>
        <p:txBody>
          <a:bodyPr wrap="square" lIns="0" rIns="0" tIns="0" bIns="0">
            <a:spAutoFit/>
          </a:bodyPr>
          <a:lstStyle/>
          <a:p>
            <a:pPr algn="l">
              <a:lnSpc>
                <a:spcPct val="115000"/>
              </a:lnSpc>
            </a:pPr>
            <a:r>
              <a:rPr sz="1200" b="1" i="0">
                <a:solidFill>
                  <a:srgbClr val="00B4B4"/>
                </a:solidFill>
                <a:latin typeface="Barlow Condensed"/>
              </a:rPr>
              <a:t>9 · Moselle — SauceLabs</a:t>
            </a:r>
          </a:p>
        </p:txBody>
      </p:sp>
      <p:sp>
        <p:nvSpPr>
          <p:cNvPr id="26" name="TextBox 25"/>
          <p:cNvSpPr txBox="1"/>
          <p:nvPr/>
        </p:nvSpPr>
        <p:spPr>
          <a:xfrm>
            <a:off x="522000" y="5049356"/>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Testez partout et homologuez en toute confiance — démos live sur la plateforme mobile, du dev à la validation.</a:t>
            </a:r>
          </a:p>
        </p:txBody>
      </p:sp>
      <p:sp>
        <p:nvSpPr>
          <p:cNvPr id="27" name="TextBox 26"/>
          <p:cNvSpPr txBox="1"/>
          <p:nvPr/>
        </p:nvSpPr>
        <p:spPr>
          <a:xfrm>
            <a:off x="522000" y="5491578"/>
            <a:ext cx="4464000" cy="166497"/>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TFC · Vincent TREVARIN / DF Dommages · Aurore CAPLAN.</a:t>
            </a:r>
          </a:p>
        </p:txBody>
      </p:sp>
      <p:cxnSp>
        <p:nvCxnSpPr>
          <p:cNvPr id="28" name="Connector 27"/>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13h49 · le tirage au sort et les lots.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11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1</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Wisla</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Ludopédagogie</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564622"/>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420622"/>
          </a:xfrm>
          <a:prstGeom prst="rect">
            <a:avLst/>
          </a:prstGeom>
          <a:noFill/>
        </p:spPr>
        <p:txBody>
          <a:bodyPr wrap="square" lIns="0" rIns="0" tIns="0" bIns="0">
            <a:spAutoFit/>
          </a:bodyPr>
          <a:lstStyle/>
          <a:p>
            <a:pPr algn="l">
              <a:lnSpc>
                <a:spcPct val="115000"/>
              </a:lnSpc>
            </a:pPr>
            <a:r>
              <a:rPr sz="1200" b="1" i="0">
                <a:solidFill>
                  <a:srgbClr val="B32D2D"/>
                </a:solidFill>
                <a:latin typeface="Barlow"/>
              </a:rPr>
              <a:t>Les deux ateliers alternent selon la rotation. Laquelle a lequel n’est pas fixé : n’annonce pas d’horaire.</a:t>
            </a:r>
          </a:p>
        </p:txBody>
      </p:sp>
      <p:sp>
        <p:nvSpPr>
          <p:cNvPr id="14" name="TextBox 13"/>
          <p:cNvSpPr txBox="1"/>
          <p:nvPr/>
        </p:nvSpPr>
        <p:spPr>
          <a:xfrm>
            <a:off x="360000" y="2415173"/>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5" name="TextBox 14"/>
          <p:cNvSpPr txBox="1"/>
          <p:nvPr/>
        </p:nvSpPr>
        <p:spPr>
          <a:xfrm>
            <a:off x="360000" y="2679958"/>
            <a:ext cx="187200" cy="245364"/>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6" name="TextBox 15"/>
          <p:cNvSpPr txBox="1"/>
          <p:nvPr/>
        </p:nvSpPr>
        <p:spPr>
          <a:xfrm>
            <a:off x="547200" y="2679958"/>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CRAN Quality Experts · Guillaume COUSIN.</a:t>
            </a:r>
          </a:p>
        </p:txBody>
      </p:sp>
      <p:sp>
        <p:nvSpPr>
          <p:cNvPr id="17" name="Rectangle 16"/>
          <p:cNvSpPr/>
          <p:nvPr/>
        </p:nvSpPr>
        <p:spPr>
          <a:xfrm>
            <a:off x="360000" y="3004522"/>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60000" y="3004522"/>
            <a:ext cx="43200" cy="953928"/>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0000" y="3083722"/>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Tour de Babel et Marshmallow Challenge en alternance : découvrez par le jeu pourquoi il faut tester tôt ! »</a:t>
            </a:r>
          </a:p>
        </p:txBody>
      </p:sp>
      <p:sp>
        <p:nvSpPr>
          <p:cNvPr id="20" name="Rectangle 19"/>
          <p:cNvSpPr/>
          <p:nvPr/>
        </p:nvSpPr>
        <p:spPr>
          <a:xfrm>
            <a:off x="360000" y="4052050"/>
            <a:ext cx="4626000" cy="2113225"/>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5999" y="4102450"/>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2" name="TextBox 21"/>
          <p:cNvSpPr txBox="1"/>
          <p:nvPr/>
        </p:nvSpPr>
        <p:spPr>
          <a:xfrm>
            <a:off x="485999" y="4260850"/>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Option 1 : La tour de Babel</a:t>
            </a:r>
          </a:p>
        </p:txBody>
      </p:sp>
      <p:sp>
        <p:nvSpPr>
          <p:cNvPr id="23" name="TextBox 22"/>
          <p:cNvSpPr txBox="1"/>
          <p:nvPr/>
        </p:nvSpPr>
        <p:spPr>
          <a:xfrm>
            <a:off x="485999" y="4444125"/>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"Quand les bugs s'accumulent, tout s'effondre."</a:t>
            </a:r>
          </a:p>
        </p:txBody>
      </p:sp>
      <p:sp>
        <p:nvSpPr>
          <p:cNvPr id="24" name="TextBox 23"/>
          <p:cNvSpPr txBox="1"/>
          <p:nvPr/>
        </p:nvSpPr>
        <p:spPr>
          <a:xfrm>
            <a:off x="485999" y="4627400"/>
            <a:ext cx="4374001" cy="603500"/>
          </a:xfrm>
          <a:prstGeom prst="rect">
            <a:avLst/>
          </a:prstGeom>
          <a:noFill/>
        </p:spPr>
        <p:txBody>
          <a:bodyPr wrap="square" lIns="0" rIns="0" tIns="0" bIns="0">
            <a:spAutoFit/>
          </a:bodyPr>
          <a:lstStyle/>
          <a:p>
            <a:pPr algn="l">
              <a:lnSpc>
                <a:spcPct val="110000"/>
              </a:lnSpc>
            </a:pPr>
            <a:r>
              <a:rPr sz="900" b="0" i="0">
                <a:solidFill>
                  <a:srgbClr val="4A4A49"/>
                </a:solidFill>
                <a:latin typeface="Barlow"/>
              </a:rPr>
              <a:t>Cet atelier participatif met en scène la fragilité progressive d'un système. À chaque itération, vous construisez en gérant l'apparition croissante de défauts cachés. Plus les bugs sont découverts tard, plus leurs conséquences deviennent catastrophiques.</a:t>
            </a:r>
          </a:p>
        </p:txBody>
      </p:sp>
      <p:sp>
        <p:nvSpPr>
          <p:cNvPr id="25" name="TextBox 24"/>
          <p:cNvSpPr txBox="1"/>
          <p:nvPr/>
        </p:nvSpPr>
        <p:spPr>
          <a:xfrm>
            <a:off x="485999" y="5263300"/>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Option 2 : Marshmallow Challenge</a:t>
            </a:r>
          </a:p>
        </p:txBody>
      </p:sp>
      <p:sp>
        <p:nvSpPr>
          <p:cNvPr id="26" name="TextBox 25"/>
          <p:cNvSpPr txBox="1"/>
          <p:nvPr/>
        </p:nvSpPr>
        <p:spPr>
          <a:xfrm>
            <a:off x="485999" y="5446575"/>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"Tester tôt, c'est la vraie victoire."</a:t>
            </a:r>
          </a:p>
        </p:txBody>
      </p:sp>
      <p:sp>
        <p:nvSpPr>
          <p:cNvPr id="27" name="TextBox 26"/>
          <p:cNvSpPr txBox="1"/>
          <p:nvPr/>
        </p:nvSpPr>
        <p:spPr>
          <a:xfrm>
            <a:off x="485999" y="5629850"/>
            <a:ext cx="4374001" cy="452625"/>
          </a:xfrm>
          <a:prstGeom prst="rect">
            <a:avLst/>
          </a:prstGeom>
          <a:noFill/>
        </p:spPr>
        <p:txBody>
          <a:bodyPr wrap="square" lIns="0" rIns="0" tIns="0" bIns="0">
            <a:spAutoFit/>
          </a:bodyPr>
          <a:lstStyle/>
          <a:p>
            <a:pPr algn="l">
              <a:lnSpc>
                <a:spcPct val="110000"/>
              </a:lnSpc>
            </a:pPr>
            <a:r>
              <a:rPr sz="900" b="0" i="0">
                <a:solidFill>
                  <a:srgbClr val="4A4A49"/>
                </a:solidFill>
                <a:latin typeface="Barlow"/>
              </a:rPr>
              <a:t>Vous disposez de 18 minutes, 20 spaghettis, 1 chamallow. Construisez la tour la plus haute possible. Mais attention : chaque choix doit être validé rapidement ou vous risquez l'effondrement.</a:t>
            </a:r>
          </a:p>
        </p:txBody>
      </p:sp>
      <p:cxnSp>
        <p:nvCxnSpPr>
          <p:cNvPr id="28" name="Connector 27"/>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12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5</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Rhône</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Bâtisseurs de pyramides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3" name="TextBox 12"/>
          <p:cNvSpPr txBox="1"/>
          <p:nvPr/>
        </p:nvSpPr>
        <p:spPr>
          <a:xfrm>
            <a:off x="360000" y="2007336"/>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4" name="TextBox 13"/>
          <p:cNvSpPr txBox="1"/>
          <p:nvPr/>
        </p:nvSpPr>
        <p:spPr>
          <a:xfrm>
            <a:off x="547200" y="2007336"/>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TFC · Olivier PROUTEAU et Mélanie DA COSTA.</a:t>
            </a:r>
          </a:p>
        </p:txBody>
      </p:sp>
      <p:sp>
        <p:nvSpPr>
          <p:cNvPr id="15" name="Rectangle 14"/>
          <p:cNvSpPr/>
          <p:nvPr/>
        </p:nvSpPr>
        <p:spPr>
          <a:xfrm>
            <a:off x="360000" y="2577264"/>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60000" y="2577264"/>
            <a:ext cx="43200" cy="953928"/>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0000" y="2656464"/>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Construisez votre VRAIE pyramide de tests en 3D interactive — trouvez le bon équilibre en mode collaboratif ! »</a:t>
            </a:r>
          </a:p>
        </p:txBody>
      </p:sp>
      <p:sp>
        <p:nvSpPr>
          <p:cNvPr id="18" name="Rectangle 17"/>
          <p:cNvSpPr/>
          <p:nvPr/>
        </p:nvSpPr>
        <p:spPr>
          <a:xfrm>
            <a:off x="360000" y="3624792"/>
            <a:ext cx="4626000" cy="1714275"/>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5999" y="3675192"/>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0" name="TextBox 19"/>
          <p:cNvSpPr txBox="1"/>
          <p:nvPr/>
        </p:nvSpPr>
        <p:spPr>
          <a:xfrm>
            <a:off x="485999" y="3833592"/>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Arrêtez les triangles et les quadrants : construisez votre VRAIE pyramide de tests !</a:t>
            </a:r>
          </a:p>
        </p:txBody>
      </p:sp>
      <p:sp>
        <p:nvSpPr>
          <p:cNvPr id="21" name="TextBox 20"/>
          <p:cNvSpPr txBox="1"/>
          <p:nvPr/>
        </p:nvSpPr>
        <p:spPr>
          <a:xfrm>
            <a:off x="485999" y="4167742"/>
            <a:ext cx="4374001" cy="603500"/>
          </a:xfrm>
          <a:prstGeom prst="rect">
            <a:avLst/>
          </a:prstGeom>
          <a:noFill/>
        </p:spPr>
        <p:txBody>
          <a:bodyPr wrap="square" lIns="0" rIns="0" tIns="0" bIns="0">
            <a:spAutoFit/>
          </a:bodyPr>
          <a:lstStyle/>
          <a:p>
            <a:pPr algn="l">
              <a:lnSpc>
                <a:spcPct val="110000"/>
              </a:lnSpc>
            </a:pPr>
            <a:r>
              <a:rPr sz="900" b="0" i="0">
                <a:solidFill>
                  <a:srgbClr val="4A4A49"/>
                </a:solidFill>
                <a:latin typeface="Barlow"/>
              </a:rPr>
              <a:t>Fini les théories abstraites ! Plongez les mains dans une pyramide 3D interactive et repositionnez les bons types de test sur chaque face pour construire une stratégie cohérente. Entre tests unitaires, composants, résilience et garantie produit, trouvez le bon équilibre en mode ludique.</a:t>
            </a:r>
          </a:p>
        </p:txBody>
      </p:sp>
      <p:sp>
        <p:nvSpPr>
          <p:cNvPr id="22" name="TextBox 21"/>
          <p:cNvSpPr txBox="1"/>
          <p:nvPr/>
        </p:nvSpPr>
        <p:spPr>
          <a:xfrm>
            <a:off x="485999" y="4803642"/>
            <a:ext cx="4374001" cy="452625"/>
          </a:xfrm>
          <a:prstGeom prst="rect">
            <a:avLst/>
          </a:prstGeom>
          <a:noFill/>
        </p:spPr>
        <p:txBody>
          <a:bodyPr wrap="square" lIns="0" rIns="0" tIns="0" bIns="0">
            <a:spAutoFit/>
          </a:bodyPr>
          <a:lstStyle/>
          <a:p>
            <a:pPr algn="l">
              <a:lnSpc>
                <a:spcPct val="110000"/>
              </a:lnSpc>
            </a:pPr>
            <a:r>
              <a:rPr sz="900" b="0" i="0">
                <a:solidFill>
                  <a:srgbClr val="4A4A49"/>
                </a:solidFill>
                <a:latin typeface="Barlow"/>
              </a:rPr>
              <a:t>Un jeu collaboratif où chaque équipe doit assembler sa pyramide parfaite en faisant glisser, placer et confronter ses choix—parce que comprendre par le jeu, c'est retenir pour de vrai !</a:t>
            </a:r>
          </a:p>
        </p:txBody>
      </p:sp>
      <p:cxnSp>
        <p:nvCxnSpPr>
          <p:cNvPr id="23" name="Connector 22"/>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13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10</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61200"/>
            <a:ext cx="1547999" cy="306000"/>
          </a:xfrm>
          <a:prstGeom prst="rect">
            <a:avLst/>
          </a:prstGeom>
          <a:noFill/>
        </p:spPr>
        <p:txBody>
          <a:bodyPr wrap="square" lIns="0" rIns="0" tIns="0" bIns="0">
            <a:spAutoFit/>
          </a:bodyPr>
          <a:lstStyle/>
          <a:p>
            <a:pPr algn="r">
              <a:lnSpc>
                <a:spcPct val="100000"/>
              </a:lnSpc>
            </a:pPr>
            <a:r>
              <a:rPr sz="1200" b="1" i="0">
                <a:solidFill>
                  <a:srgbClr val="FFFFFF"/>
                </a:solidFill>
                <a:latin typeface="Barlow Condensed"/>
              </a:rPr>
              <a:t>Sumida + Alzette</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Mini-Série TESTY</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774933"/>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630933"/>
          </a:xfrm>
          <a:prstGeom prst="rect">
            <a:avLst/>
          </a:prstGeom>
          <a:noFill/>
        </p:spPr>
        <p:txBody>
          <a:bodyPr wrap="square" lIns="0" rIns="0" tIns="0" bIns="0">
            <a:spAutoFit/>
          </a:bodyPr>
          <a:lstStyle/>
          <a:p>
            <a:pPr algn="l">
              <a:lnSpc>
                <a:spcPct val="115000"/>
              </a:lnSpc>
            </a:pPr>
            <a:r>
              <a:rPr sz="1200" b="1" i="0">
                <a:solidFill>
                  <a:srgbClr val="B32D2D"/>
                </a:solidFill>
                <a:latin typeface="Barlow"/>
              </a:rPr>
              <a:t>Le fichier source finit par « visionnage en libre service » ; le conducteur du 10/09 décrit une diffusion présentée de l’épisode 4. À trancher avant de le dire.</a:t>
            </a:r>
          </a:p>
        </p:txBody>
      </p:sp>
      <p:sp>
        <p:nvSpPr>
          <p:cNvPr id="14" name="TextBox 13"/>
          <p:cNvSpPr txBox="1"/>
          <p:nvPr/>
        </p:nvSpPr>
        <p:spPr>
          <a:xfrm>
            <a:off x="360000" y="2625484"/>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5" name="TextBox 14"/>
          <p:cNvSpPr txBox="1"/>
          <p:nvPr/>
        </p:nvSpPr>
        <p:spPr>
          <a:xfrm>
            <a:off x="360000" y="2890269"/>
            <a:ext cx="187200" cy="245364"/>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6" name="TextBox 15"/>
          <p:cNvSpPr txBox="1"/>
          <p:nvPr/>
        </p:nvSpPr>
        <p:spPr>
          <a:xfrm>
            <a:off x="547200" y="2890269"/>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TFC · Elena TOMAS et Jaber BENZEGOUTTA.</a:t>
            </a:r>
          </a:p>
        </p:txBody>
      </p:sp>
      <p:sp>
        <p:nvSpPr>
          <p:cNvPr id="17" name="Rectangle 16"/>
          <p:cNvSpPr/>
          <p:nvPr/>
        </p:nvSpPr>
        <p:spPr>
          <a:xfrm>
            <a:off x="360000" y="3214833"/>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60000" y="3214833"/>
            <a:ext cx="43200" cy="953928"/>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0000" y="3294033"/>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Plongez dans l'univers coloré et décalé de TESTY : le métier de testeur en épisodes courts, ludiques, sans jargon. »</a:t>
            </a:r>
          </a:p>
        </p:txBody>
      </p:sp>
      <p:sp>
        <p:nvSpPr>
          <p:cNvPr id="20" name="Rectangle 19"/>
          <p:cNvSpPr/>
          <p:nvPr/>
        </p:nvSpPr>
        <p:spPr>
          <a:xfrm>
            <a:off x="360000" y="4262361"/>
            <a:ext cx="4626000" cy="15958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5999" y="4312761"/>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2" name="TextBox 21"/>
          <p:cNvSpPr txBox="1"/>
          <p:nvPr/>
        </p:nvSpPr>
        <p:spPr>
          <a:xfrm>
            <a:off x="485999" y="4471161"/>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TESTY : Mission Qualité Acceptée</a:t>
            </a:r>
          </a:p>
        </p:txBody>
      </p:sp>
      <p:sp>
        <p:nvSpPr>
          <p:cNvPr id="23" name="TextBox 22"/>
          <p:cNvSpPr txBox="1"/>
          <p:nvPr/>
        </p:nvSpPr>
        <p:spPr>
          <a:xfrm>
            <a:off x="485999" y="4654436"/>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Vous ne l'avez pas encore rencontré ?</a:t>
            </a:r>
          </a:p>
        </p:txBody>
      </p:sp>
      <p:sp>
        <p:nvSpPr>
          <p:cNvPr id="24" name="TextBox 23"/>
          <p:cNvSpPr txBox="1"/>
          <p:nvPr/>
        </p:nvSpPr>
        <p:spPr>
          <a:xfrm>
            <a:off x="485999" y="4837711"/>
            <a:ext cx="4374001" cy="7543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Plongez dans l'univers coloré et décalé de TESTY, un personnage attachant qui vous fait découvrir les coulisses du métier de testeur à travers des épisodes courts, ludiques et accessibies, sans jargon incompréhensible. Entre des bugs improbables, des situations cocasses et des « ah-ha ! » révélateurs, découvrez que tester, c'est être un vrai détective du code.</a:t>
            </a:r>
          </a:p>
        </p:txBody>
      </p:sp>
      <p:sp>
        <p:nvSpPr>
          <p:cNvPr id="25" name="TextBox 24"/>
          <p:cNvSpPr txBox="1"/>
          <p:nvPr/>
        </p:nvSpPr>
        <p:spPr>
          <a:xfrm>
            <a:off x="485999" y="5624486"/>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Visionnage en libre service.</a:t>
            </a:r>
          </a:p>
        </p:txBody>
      </p:sp>
      <p:cxnSp>
        <p:nvCxnSpPr>
          <p:cNvPr id="26" name="Connector 25"/>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14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6</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Tajo</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Référentiel de tests X-Ray</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3" name="TextBox 12"/>
          <p:cNvSpPr txBox="1"/>
          <p:nvPr/>
        </p:nvSpPr>
        <p:spPr>
          <a:xfrm>
            <a:off x="360000" y="2007336"/>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4" name="TextBox 13"/>
          <p:cNvSpPr txBox="1"/>
          <p:nvPr/>
        </p:nvSpPr>
        <p:spPr>
          <a:xfrm>
            <a:off x="547200" y="2007336"/>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OPEN · Alexandre BRUN / TFC · Fadi AIZOUKI.</a:t>
            </a:r>
          </a:p>
        </p:txBody>
      </p:sp>
      <p:sp>
        <p:nvSpPr>
          <p:cNvPr id="15" name="Rectangle 14"/>
          <p:cNvSpPr/>
          <p:nvPr/>
        </p:nvSpPr>
        <p:spPr>
          <a:xfrm>
            <a:off x="360000" y="2577264"/>
            <a:ext cx="4626000" cy="688752"/>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60000" y="2577264"/>
            <a:ext cx="43200" cy="688752"/>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0000" y="2656464"/>
            <a:ext cx="4266000" cy="530352"/>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Au revoir QC, bienvenue X-Ray ! Découvrez le produit et la trajectoire de migration 2027. »</a:t>
            </a:r>
          </a:p>
        </p:txBody>
      </p:sp>
      <p:sp>
        <p:nvSpPr>
          <p:cNvPr id="18" name="Rectangle 17"/>
          <p:cNvSpPr/>
          <p:nvPr/>
        </p:nvSpPr>
        <p:spPr>
          <a:xfrm>
            <a:off x="360000" y="3359616"/>
            <a:ext cx="4626000" cy="129405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5999" y="3410016"/>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0" name="TextBox 19"/>
          <p:cNvSpPr txBox="1"/>
          <p:nvPr/>
        </p:nvSpPr>
        <p:spPr>
          <a:xfrm>
            <a:off x="485999" y="3568416"/>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Au revoir QC, bienvenue XRAY !</a:t>
            </a:r>
          </a:p>
        </p:txBody>
      </p:sp>
      <p:sp>
        <p:nvSpPr>
          <p:cNvPr id="21" name="TextBox 20"/>
          <p:cNvSpPr txBox="1"/>
          <p:nvPr/>
        </p:nvSpPr>
        <p:spPr>
          <a:xfrm>
            <a:off x="485999" y="3751691"/>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"Moderniser notre outillage QC pour gagner en efficacité, résilience et performance opérationnelle."</a:t>
            </a:r>
          </a:p>
        </p:txBody>
      </p:sp>
      <p:sp>
        <p:nvSpPr>
          <p:cNvPr id="22" name="TextBox 21"/>
          <p:cNvSpPr txBox="1"/>
          <p:nvPr/>
        </p:nvSpPr>
        <p:spPr>
          <a:xfrm>
            <a:off x="485999" y="4085841"/>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Après des années de fidèles services, notre système QC historique va tirer sa révérence en 2027 pour laisser place à XRAY.</a:t>
            </a:r>
          </a:p>
        </p:txBody>
      </p:sp>
      <p:sp>
        <p:nvSpPr>
          <p:cNvPr id="23" name="TextBox 22"/>
          <p:cNvSpPr txBox="1"/>
          <p:nvPr/>
        </p:nvSpPr>
        <p:spPr>
          <a:xfrm>
            <a:off x="485999" y="4419991"/>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Venez découvrir le produit et la trajectoire de migration.</a:t>
            </a:r>
          </a:p>
        </p:txBody>
      </p:sp>
      <p:cxnSp>
        <p:nvCxnSpPr>
          <p:cNvPr id="24" name="Connector 23"/>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15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8</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Loire</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JADD</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3" name="TextBox 12"/>
          <p:cNvSpPr txBox="1"/>
          <p:nvPr/>
        </p:nvSpPr>
        <p:spPr>
          <a:xfrm>
            <a:off x="360000" y="2007336"/>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4" name="TextBox 13"/>
          <p:cNvSpPr txBox="1"/>
          <p:nvPr/>
        </p:nvSpPr>
        <p:spPr>
          <a:xfrm>
            <a:off x="547200" y="2007336"/>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TFC · Gabriel MOROSAN et Laurie ZINGLE / MCAD · Julien BAZZALI et Nicolas DROUET.</a:t>
            </a:r>
          </a:p>
        </p:txBody>
      </p:sp>
      <p:sp>
        <p:nvSpPr>
          <p:cNvPr id="15" name="Rectangle 14"/>
          <p:cNvSpPr/>
          <p:nvPr/>
        </p:nvSpPr>
        <p:spPr>
          <a:xfrm>
            <a:off x="360000" y="2577264"/>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60000" y="2577264"/>
            <a:ext cx="43200" cy="953928"/>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0000" y="2656464"/>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Les données de production à portée de clic pour vos tests : enrichissez, réutilisez, rechargez en quelques clics. »</a:t>
            </a:r>
          </a:p>
        </p:txBody>
      </p:sp>
      <p:sp>
        <p:nvSpPr>
          <p:cNvPr id="18" name="Rectangle 17"/>
          <p:cNvSpPr/>
          <p:nvPr/>
        </p:nvSpPr>
        <p:spPr>
          <a:xfrm>
            <a:off x="360000" y="3624792"/>
            <a:ext cx="4626000" cy="1110775"/>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5999" y="3675192"/>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0" name="TextBox 19"/>
          <p:cNvSpPr txBox="1"/>
          <p:nvPr/>
        </p:nvSpPr>
        <p:spPr>
          <a:xfrm>
            <a:off x="485999" y="3833592"/>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JADD : Los données de production à portée de clic pour vos tests</a:t>
            </a:r>
          </a:p>
        </p:txBody>
      </p:sp>
      <p:sp>
        <p:nvSpPr>
          <p:cNvPr id="21" name="TextBox 20"/>
          <p:cNvSpPr txBox="1"/>
          <p:nvPr/>
        </p:nvSpPr>
        <p:spPr>
          <a:xfrm>
            <a:off x="485999" y="4016867"/>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JADD est un portail offrant différentes fonctionnalités pour gérer vos données de test</a:t>
            </a:r>
          </a:p>
        </p:txBody>
      </p:sp>
      <p:sp>
        <p:nvSpPr>
          <p:cNvPr id="22" name="TextBox 21"/>
          <p:cNvSpPr txBox="1"/>
          <p:nvPr/>
        </p:nvSpPr>
        <p:spPr>
          <a:xfrm>
            <a:off x="485999" y="4351017"/>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En quelques clics, adaptez vos besoins en données de test en un temps record : enrichissez, supprimez, réutilisez, rechargez à nouveau...</a:t>
            </a:r>
          </a:p>
        </p:txBody>
      </p:sp>
      <p:cxnSp>
        <p:nvCxnSpPr>
          <p:cNvPr id="23" name="Connector 22"/>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16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9</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Moselle</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SauceLabs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3" name="TextBox 12"/>
          <p:cNvSpPr txBox="1"/>
          <p:nvPr/>
        </p:nvSpPr>
        <p:spPr>
          <a:xfrm>
            <a:off x="360000" y="2007336"/>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4" name="TextBox 13"/>
          <p:cNvSpPr txBox="1"/>
          <p:nvPr/>
        </p:nvSpPr>
        <p:spPr>
          <a:xfrm>
            <a:off x="547200" y="2007336"/>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TFC · Vincent TREVARIN / DF Dommages · Aurore CAPLAN.</a:t>
            </a:r>
          </a:p>
        </p:txBody>
      </p:sp>
      <p:sp>
        <p:nvSpPr>
          <p:cNvPr id="15" name="Rectangle 14"/>
          <p:cNvSpPr/>
          <p:nvPr/>
        </p:nvSpPr>
        <p:spPr>
          <a:xfrm>
            <a:off x="360000" y="2577264"/>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60000" y="2577264"/>
            <a:ext cx="43200" cy="953928"/>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0000" y="2656464"/>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Testez partout et homologuez en toute confiance — démos live sur la plateforme mobile, du dev à la validation. »</a:t>
            </a:r>
          </a:p>
        </p:txBody>
      </p:sp>
      <p:sp>
        <p:nvSpPr>
          <p:cNvPr id="18" name="Rectangle 17"/>
          <p:cNvSpPr/>
          <p:nvPr/>
        </p:nvSpPr>
        <p:spPr>
          <a:xfrm>
            <a:off x="360000" y="3624792"/>
            <a:ext cx="4626000" cy="15634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5999" y="3675192"/>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0" name="TextBox 19"/>
          <p:cNvSpPr txBox="1"/>
          <p:nvPr/>
        </p:nvSpPr>
        <p:spPr>
          <a:xfrm>
            <a:off x="485999" y="3833592"/>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SauceLabs à portée de main : développez, testez partout et homologuez en toute confiance.</a:t>
            </a:r>
          </a:p>
        </p:txBody>
      </p:sp>
      <p:sp>
        <p:nvSpPr>
          <p:cNvPr id="21" name="TextBox 20"/>
          <p:cNvSpPr txBox="1"/>
          <p:nvPr/>
        </p:nvSpPr>
        <p:spPr>
          <a:xfrm>
            <a:off x="485999" y="4167742"/>
            <a:ext cx="4374001" cy="452625"/>
          </a:xfrm>
          <a:prstGeom prst="rect">
            <a:avLst/>
          </a:prstGeom>
          <a:noFill/>
        </p:spPr>
        <p:txBody>
          <a:bodyPr wrap="square" lIns="0" rIns="0" tIns="0" bIns="0">
            <a:spAutoFit/>
          </a:bodyPr>
          <a:lstStyle/>
          <a:p>
            <a:pPr algn="l">
              <a:lnSpc>
                <a:spcPct val="110000"/>
              </a:lnSpc>
            </a:pPr>
            <a:r>
              <a:rPr sz="900" b="0" i="0">
                <a:solidFill>
                  <a:srgbClr val="4A4A49"/>
                </a:solidFill>
                <a:latin typeface="Barlow"/>
              </a:rPr>
              <a:t>Découvrez comment intégrer une plateforme de test mobile directement dans votre chaîne de développement locale et centrale, avec la possibilité d'exécuter vos tests d'homologation sur SauceLabs pour valider en conditions réelles.</a:t>
            </a:r>
          </a:p>
        </p:txBody>
      </p:sp>
      <p:sp>
        <p:nvSpPr>
          <p:cNvPr id="22" name="TextBox 21"/>
          <p:cNvSpPr txBox="1"/>
          <p:nvPr/>
        </p:nvSpPr>
        <p:spPr>
          <a:xfrm>
            <a:off x="485999" y="4652767"/>
            <a:ext cx="4374001" cy="452625"/>
          </a:xfrm>
          <a:prstGeom prst="rect">
            <a:avLst/>
          </a:prstGeom>
          <a:noFill/>
        </p:spPr>
        <p:txBody>
          <a:bodyPr wrap="square" lIns="0" rIns="0" tIns="0" bIns="0">
            <a:spAutoFit/>
          </a:bodyPr>
          <a:lstStyle/>
          <a:p>
            <a:pPr algn="l">
              <a:lnSpc>
                <a:spcPct val="110000"/>
              </a:lnSpc>
            </a:pPr>
            <a:r>
              <a:rPr sz="900" b="0" i="0">
                <a:solidFill>
                  <a:srgbClr val="4A4A49"/>
                </a:solidFill>
                <a:latin typeface="Barlow"/>
              </a:rPr>
              <a:t>Des démos live pour explorer les possibilités en temps réel et voir comment vos tests parcourent l'ensemble du cycle de vie – du développement à la validation d'homologation.</a:t>
            </a:r>
          </a:p>
        </p:txBody>
      </p:sp>
      <p:cxnSp>
        <p:nvCxnSpPr>
          <p:cNvPr id="23" name="Connector 22"/>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17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13h49</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14h00</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Lots, rappel des salles, dispersion</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3" name="TextBox 12"/>
          <p:cNvSpPr txBox="1"/>
          <p:nvPr/>
        </p:nvSpPr>
        <p:spPr>
          <a:xfrm>
            <a:off x="547200" y="1742551"/>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À chaque kiosque, une fiche : nom, prénom, numéro du kiosque. Une seule urne, à l’accueil.</a:t>
            </a:r>
          </a:p>
        </p:txBody>
      </p:sp>
      <p:sp>
        <p:nvSpPr>
          <p:cNvPr id="14" name="Rectangle 13"/>
          <p:cNvSpPr/>
          <p:nvPr/>
        </p:nvSpPr>
        <p:spPr>
          <a:xfrm>
            <a:off x="360000" y="2312479"/>
            <a:ext cx="4626000" cy="688752"/>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60000" y="2312479"/>
            <a:ext cx="43200" cy="688752"/>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0000" y="2391679"/>
            <a:ext cx="4266000" cy="530352"/>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Cinq kiosques, cinq fiches, cinq chances. Trois gagnants, trois lots. »</a:t>
            </a:r>
          </a:p>
        </p:txBody>
      </p:sp>
      <p:sp>
        <p:nvSpPr>
          <p:cNvPr id="17" name="Rectangle 16"/>
          <p:cNvSpPr/>
          <p:nvPr/>
        </p:nvSpPr>
        <p:spPr>
          <a:xfrm>
            <a:off x="360000" y="3094831"/>
            <a:ext cx="4626000" cy="10584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8000" y="3145231"/>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LES TROIS LOTS</a:t>
            </a:r>
          </a:p>
        </p:txBody>
      </p:sp>
      <p:cxnSp>
        <p:nvCxnSpPr>
          <p:cNvPr id="19" name="Connector 18"/>
          <p:cNvCxnSpPr/>
          <p:nvPr/>
        </p:nvCxnSpPr>
        <p:spPr>
          <a:xfrm>
            <a:off x="468000" y="353403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8000" y="379323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8000" y="405243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60000" y="4246831"/>
            <a:ext cx="4626000" cy="5400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68000" y="4297231"/>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RÈGLE DE PRÉSENCE (LA MÊME QU’À 12H10)</a:t>
            </a:r>
          </a:p>
        </p:txBody>
      </p:sp>
      <p:cxnSp>
        <p:nvCxnSpPr>
          <p:cNvPr id="24" name="Connector 23"/>
          <p:cNvCxnSpPr/>
          <p:nvPr/>
        </p:nvCxnSpPr>
        <p:spPr>
          <a:xfrm>
            <a:off x="468000" y="468603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0000" y="4880431"/>
            <a:ext cx="187200" cy="736092"/>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6" name="TextBox 25"/>
          <p:cNvSpPr txBox="1"/>
          <p:nvPr/>
        </p:nvSpPr>
        <p:spPr>
          <a:xfrm>
            <a:off x="547200" y="4880431"/>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13h52 QR code à l’écran. 13h54 : « on se retrouve ici à 16h30 pour la clôture et la remise des lots. » 13h55 : on libère la salle.</a:t>
            </a:r>
          </a:p>
        </p:txBody>
      </p:sp>
      <p:cxnSp>
        <p:nvCxnSpPr>
          <p:cNvPr id="27" name="Connector 26"/>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16h33 · la clôture, avec Ghislaine.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18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16h33</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16h36</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Synthèse de la journée, avec Ghislaine</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564622"/>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420622"/>
          </a:xfrm>
          <a:prstGeom prst="rect">
            <a:avLst/>
          </a:prstGeom>
          <a:noFill/>
        </p:spPr>
        <p:txBody>
          <a:bodyPr wrap="square" lIns="0" rIns="0" tIns="0" bIns="0">
            <a:spAutoFit/>
          </a:bodyPr>
          <a:lstStyle/>
          <a:p>
            <a:pPr algn="l">
              <a:lnSpc>
                <a:spcPct val="115000"/>
              </a:lnSpc>
            </a:pPr>
            <a:r>
              <a:rPr sz="1200" b="1" i="0">
                <a:solidFill>
                  <a:srgbClr val="B32D2D"/>
                </a:solidFill>
                <a:latin typeface="Barlow"/>
              </a:rPr>
              <a:t>Ne commence pas à 16h30 pile : la salle se remplit jusqu’à 16h35 depuis dix salles. Musique en fond jusque-là.</a:t>
            </a:r>
          </a:p>
        </p:txBody>
      </p:sp>
      <p:sp>
        <p:nvSpPr>
          <p:cNvPr id="14" name="TextBox 13"/>
          <p:cNvSpPr txBox="1"/>
          <p:nvPr/>
        </p:nvSpPr>
        <p:spPr>
          <a:xfrm>
            <a:off x="360000" y="2415173"/>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5" name="TextBox 14"/>
          <p:cNvSpPr txBox="1"/>
          <p:nvPr/>
        </p:nvSpPr>
        <p:spPr>
          <a:xfrm>
            <a:off x="547200" y="2415173"/>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Ce qu’on a vu aujourd’hui, en trois phrases. Pas un récapitulatif.</a:t>
            </a:r>
          </a:p>
        </p:txBody>
      </p:sp>
      <p:sp>
        <p:nvSpPr>
          <p:cNvPr id="16" name="Rectangle 15"/>
          <p:cNvSpPr/>
          <p:nvPr/>
        </p:nvSpPr>
        <p:spPr>
          <a:xfrm>
            <a:off x="360000" y="2985101"/>
            <a:ext cx="4626000" cy="5400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8000" y="3035501"/>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NOMBRE DE PARTICIPANTS — ÉMARGEMENTS REMONTÉS PAR LOU À 16H</a:t>
            </a:r>
          </a:p>
        </p:txBody>
      </p:sp>
      <p:cxnSp>
        <p:nvCxnSpPr>
          <p:cNvPr id="18" name="Connector 17"/>
          <p:cNvCxnSpPr/>
          <p:nvPr/>
        </p:nvCxnSpPr>
        <p:spPr>
          <a:xfrm>
            <a:off x="468000" y="342430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16h36 · les remerciements.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19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16h36</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16h44</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Remerciements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774933"/>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630933"/>
          </a:xfrm>
          <a:prstGeom prst="rect">
            <a:avLst/>
          </a:prstGeom>
          <a:noFill/>
        </p:spPr>
        <p:txBody>
          <a:bodyPr wrap="square" lIns="0" rIns="0" tIns="0" bIns="0">
            <a:spAutoFit/>
          </a:bodyPr>
          <a:lstStyle/>
          <a:p>
            <a:pPr algn="l">
              <a:lnSpc>
                <a:spcPct val="115000"/>
              </a:lnSpc>
            </a:pPr>
            <a:r>
              <a:rPr sz="1200" b="1" i="0">
                <a:solidFill>
                  <a:srgbClr val="B32D2D"/>
                </a:solidFill>
                <a:latin typeface="Barlow"/>
              </a:rPr>
              <a:t>Huit minutes pour trois montées sur scène. C’est la séquence qui déraille : appelle par groupe, jamais nom par nom.</a:t>
            </a:r>
          </a:p>
        </p:txBody>
      </p:sp>
      <p:sp>
        <p:nvSpPr>
          <p:cNvPr id="14" name="TextBox 13"/>
          <p:cNvSpPr txBox="1"/>
          <p:nvPr/>
        </p:nvSpPr>
        <p:spPr>
          <a:xfrm>
            <a:off x="360000" y="2625484"/>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5" name="TextBox 14"/>
          <p:cNvSpPr txBox="1"/>
          <p:nvPr/>
        </p:nvSpPr>
        <p:spPr>
          <a:xfrm>
            <a:off x="547200" y="2625484"/>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Les intervenants extérieurs du matin : K-LAGAN, Niji, et la table ronde.</a:t>
            </a:r>
          </a:p>
        </p:txBody>
      </p:sp>
      <p:sp>
        <p:nvSpPr>
          <p:cNvPr id="16" name="TextBox 15"/>
          <p:cNvSpPr txBox="1"/>
          <p:nvPr/>
        </p:nvSpPr>
        <p:spPr>
          <a:xfrm>
            <a:off x="360000" y="3195412"/>
            <a:ext cx="187200" cy="245364"/>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7" name="TextBox 16"/>
          <p:cNvSpPr txBox="1"/>
          <p:nvPr/>
        </p:nvSpPr>
        <p:spPr>
          <a:xfrm>
            <a:off x="547200" y="3195412"/>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Les porteurs des dix kiosques.</a:t>
            </a:r>
          </a:p>
        </p:txBody>
      </p:sp>
      <p:sp>
        <p:nvSpPr>
          <p:cNvPr id="18" name="TextBox 17"/>
          <p:cNvSpPr txBox="1"/>
          <p:nvPr/>
        </p:nvSpPr>
        <p:spPr>
          <a:xfrm>
            <a:off x="360000" y="3519976"/>
            <a:ext cx="187200" cy="245364"/>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9" name="TextBox 18"/>
          <p:cNvSpPr txBox="1"/>
          <p:nvPr/>
        </p:nvSpPr>
        <p:spPr>
          <a:xfrm>
            <a:off x="547200" y="3519976"/>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Le staff de l’organisation.</a:t>
            </a:r>
          </a:p>
        </p:txBody>
      </p:sp>
      <p:sp>
        <p:nvSpPr>
          <p:cNvPr id="20" name="TextBox 19"/>
          <p:cNvSpPr txBox="1"/>
          <p:nvPr/>
        </p:nvSpPr>
        <p:spPr>
          <a:xfrm>
            <a:off x="360000" y="3844540"/>
            <a:ext cx="4626000" cy="57835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Chaque groupe prévenu la veille et déjà debout côté scène avant 16h30. On nomme les gens une fois qu’ils sont sur scène. Chaque groupe y reste : cela évite trois allers-retours.</a:t>
            </a:r>
          </a:p>
        </p:txBody>
      </p:sp>
      <p:cxnSp>
        <p:nvCxnSpPr>
          <p:cNvPr id="21" name="Connector 20"/>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16h44 Fabrice conclut, puis 16h48 · le tirage.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ANAS</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20 / 20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16h48</a:t>
            </a:r>
          </a:p>
        </p:txBody>
      </p:sp>
      <p:sp>
        <p:nvSpPr>
          <p:cNvPr id="7" name="Rectangle 6"/>
          <p:cNvSpPr/>
          <p:nvPr/>
        </p:nvSpPr>
        <p:spPr>
          <a:xfrm>
            <a:off x="3330001" y="730800"/>
            <a:ext cx="1655999" cy="486000"/>
          </a:xfrm>
          <a:prstGeom prst="rect">
            <a:avLst/>
          </a:prstGeom>
          <a:solidFill>
            <a:srgbClr val="00B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17h00</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Tirage, remise des lots, musique de fin</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3" name="TextBox 12"/>
          <p:cNvSpPr txBox="1"/>
          <p:nvPr/>
        </p:nvSpPr>
        <p:spPr>
          <a:xfrm>
            <a:off x="547200" y="1742551"/>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Rappelle la règle AVANT de tirer : cinq kiosques, cinq fiches, trois gagnants, trois lots.</a:t>
            </a:r>
          </a:p>
        </p:txBody>
      </p:sp>
      <p:sp>
        <p:nvSpPr>
          <p:cNvPr id="14" name="TextBox 13"/>
          <p:cNvSpPr txBox="1"/>
          <p:nvPr/>
        </p:nvSpPr>
        <p:spPr>
          <a:xfrm>
            <a:off x="360000" y="2312479"/>
            <a:ext cx="187200" cy="245364"/>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5" name="TextBox 14"/>
          <p:cNvSpPr txBox="1"/>
          <p:nvPr/>
        </p:nvSpPr>
        <p:spPr>
          <a:xfrm>
            <a:off x="547200" y="2312479"/>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Fais tirer par un participant — ni staff, ni TFC.</a:t>
            </a:r>
          </a:p>
        </p:txBody>
      </p:sp>
      <p:sp>
        <p:nvSpPr>
          <p:cNvPr id="16" name="TextBox 15"/>
          <p:cNvSpPr txBox="1"/>
          <p:nvPr/>
        </p:nvSpPr>
        <p:spPr>
          <a:xfrm>
            <a:off x="360000" y="2637043"/>
            <a:ext cx="187200" cy="736092"/>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17" name="TextBox 16"/>
          <p:cNvSpPr txBox="1"/>
          <p:nvPr/>
        </p:nvSpPr>
        <p:spPr>
          <a:xfrm>
            <a:off x="547200" y="2637043"/>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Un tirage à la fois : on tire, on lit, la personne monte, on remet le lot, on applaudit, on passe au suivant.</a:t>
            </a:r>
          </a:p>
        </p:txBody>
      </p:sp>
      <p:sp>
        <p:nvSpPr>
          <p:cNvPr id="18" name="Rectangle 17"/>
          <p:cNvSpPr/>
          <p:nvPr/>
        </p:nvSpPr>
        <p:spPr>
          <a:xfrm>
            <a:off x="360000" y="3452335"/>
            <a:ext cx="4626000" cy="5400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8000" y="3502735"/>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CAS DU GAGNANT ABSENT — À ANNONCER AVANT LE PREMIER TIRAGE</a:t>
            </a:r>
          </a:p>
        </p:txBody>
      </p:sp>
      <p:cxnSp>
        <p:nvCxnSpPr>
          <p:cNvPr id="20" name="Connector 19"/>
          <p:cNvCxnSpPr/>
          <p:nvPr/>
        </p:nvCxnSpPr>
        <p:spPr>
          <a:xfrm>
            <a:off x="468000" y="3891535"/>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60000" y="4085935"/>
            <a:ext cx="187200" cy="490728"/>
          </a:xfrm>
          <a:prstGeom prst="rect">
            <a:avLst/>
          </a:prstGeom>
          <a:noFill/>
        </p:spPr>
        <p:txBody>
          <a:bodyPr wrap="square" lIns="0" rIns="0" tIns="0" bIns="0">
            <a:spAutoFit/>
          </a:bodyPr>
          <a:lstStyle/>
          <a:p>
            <a:pPr algn="l">
              <a:lnSpc>
                <a:spcPct val="115000"/>
              </a:lnSpc>
            </a:pPr>
            <a:r>
              <a:rPr sz="1400" b="1" i="0">
                <a:solidFill>
                  <a:srgbClr val="00B4B4"/>
                </a:solidFill>
                <a:latin typeface="Barlow"/>
              </a:rPr>
              <a:t>•</a:t>
            </a:r>
          </a:p>
        </p:txBody>
      </p:sp>
      <p:sp>
        <p:nvSpPr>
          <p:cNvPr id="22" name="TextBox 21"/>
          <p:cNvSpPr txBox="1"/>
          <p:nvPr/>
        </p:nvSpPr>
        <p:spPr>
          <a:xfrm>
            <a:off x="547200" y="4085935"/>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Musique de fin sur ta dernière phrase, scène encore pleine. Dernier message : merci aux participants.</a:t>
            </a:r>
          </a:p>
        </p:txBody>
      </p:sp>
      <p:cxnSp>
        <p:nvCxnSpPr>
          <p:cNvPr id="23" name="Connector 22"/>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Fin de journée.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GHISLAINE</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 / 6</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Repères</a:t>
            </a:r>
          </a:p>
        </p:txBody>
      </p:sp>
      <p:sp>
        <p:nvSpPr>
          <p:cNvPr id="7" name="TextBox 6"/>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La journée en huit lignes</a:t>
            </a:r>
          </a:p>
        </p:txBody>
      </p:sp>
      <p:cxnSp>
        <p:nvCxnSpPr>
          <p:cNvPr id="8" name="Connector 7"/>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0000" y="1742551"/>
            <a:ext cx="1116000" cy="223200"/>
          </a:xfrm>
          <a:prstGeom prst="rect">
            <a:avLst/>
          </a:prstGeom>
          <a:noFill/>
        </p:spPr>
        <p:txBody>
          <a:bodyPr wrap="square" lIns="0" rIns="0" tIns="0" bIns="0">
            <a:spAutoFit/>
          </a:bodyPr>
          <a:lstStyle/>
          <a:p>
            <a:pPr algn="l">
              <a:lnSpc>
                <a:spcPct val="115000"/>
              </a:lnSpc>
            </a:pPr>
            <a:r>
              <a:rPr sz="1500" b="1" i="0">
                <a:solidFill>
                  <a:srgbClr val="008080"/>
                </a:solidFill>
                <a:latin typeface="Barlow Condensed"/>
              </a:rPr>
              <a:t>09h45</a:t>
            </a:r>
          </a:p>
        </p:txBody>
      </p:sp>
      <p:sp>
        <p:nvSpPr>
          <p:cNvPr id="10" name="TextBox 9"/>
          <p:cNvSpPr txBox="1"/>
          <p:nvPr/>
        </p:nvSpPr>
        <p:spPr>
          <a:xfrm>
            <a:off x="1512000" y="17605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Mot d'ouverture — Ghislaine, Fabrice, Anas</a:t>
            </a:r>
          </a:p>
        </p:txBody>
      </p:sp>
      <p:sp>
        <p:nvSpPr>
          <p:cNvPr id="11" name="TextBox 10"/>
          <p:cNvSpPr txBox="1"/>
          <p:nvPr/>
        </p:nvSpPr>
        <p:spPr>
          <a:xfrm>
            <a:off x="360000" y="2023351"/>
            <a:ext cx="1116000" cy="223200"/>
          </a:xfrm>
          <a:prstGeom prst="rect">
            <a:avLst/>
          </a:prstGeom>
          <a:noFill/>
        </p:spPr>
        <p:txBody>
          <a:bodyPr wrap="square" lIns="0" rIns="0" tIns="0" bIns="0">
            <a:spAutoFit/>
          </a:bodyPr>
          <a:lstStyle/>
          <a:p>
            <a:pPr algn="l">
              <a:lnSpc>
                <a:spcPct val="115000"/>
              </a:lnSpc>
            </a:pPr>
            <a:r>
              <a:rPr sz="1500" b="1" i="0">
                <a:solidFill>
                  <a:srgbClr val="008080"/>
                </a:solidFill>
                <a:latin typeface="Barlow Condensed"/>
              </a:rPr>
              <a:t>10h00</a:t>
            </a:r>
          </a:p>
        </p:txBody>
      </p:sp>
      <p:sp>
        <p:nvSpPr>
          <p:cNvPr id="12" name="TextBox 11"/>
          <p:cNvSpPr txBox="1"/>
          <p:nvPr/>
        </p:nvSpPr>
        <p:spPr>
          <a:xfrm>
            <a:off x="1512000" y="20413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Conférence 1 — K-LAGAN</a:t>
            </a:r>
          </a:p>
        </p:txBody>
      </p:sp>
      <p:sp>
        <p:nvSpPr>
          <p:cNvPr id="13" name="TextBox 12"/>
          <p:cNvSpPr txBox="1"/>
          <p:nvPr/>
        </p:nvSpPr>
        <p:spPr>
          <a:xfrm>
            <a:off x="360000" y="2304151"/>
            <a:ext cx="1116000" cy="223200"/>
          </a:xfrm>
          <a:prstGeom prst="rect">
            <a:avLst/>
          </a:prstGeom>
          <a:noFill/>
        </p:spPr>
        <p:txBody>
          <a:bodyPr wrap="square" lIns="0" rIns="0" tIns="0" bIns="0">
            <a:spAutoFit/>
          </a:bodyPr>
          <a:lstStyle/>
          <a:p>
            <a:pPr algn="l">
              <a:lnSpc>
                <a:spcPct val="115000"/>
              </a:lnSpc>
            </a:pPr>
            <a:r>
              <a:rPr sz="1500" b="1" i="0">
                <a:solidFill>
                  <a:srgbClr val="008080"/>
                </a:solidFill>
                <a:latin typeface="Barlow Condensed"/>
              </a:rPr>
              <a:t>10h45</a:t>
            </a:r>
          </a:p>
        </p:txBody>
      </p:sp>
      <p:sp>
        <p:nvSpPr>
          <p:cNvPr id="14" name="TextBox 13"/>
          <p:cNvSpPr txBox="1"/>
          <p:nvPr/>
        </p:nvSpPr>
        <p:spPr>
          <a:xfrm>
            <a:off x="1512000" y="23221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Conférence 2 — Niji</a:t>
            </a:r>
          </a:p>
        </p:txBody>
      </p:sp>
      <p:sp>
        <p:nvSpPr>
          <p:cNvPr id="15" name="TextBox 14"/>
          <p:cNvSpPr txBox="1"/>
          <p:nvPr/>
        </p:nvSpPr>
        <p:spPr>
          <a:xfrm>
            <a:off x="360000" y="2584951"/>
            <a:ext cx="1116000" cy="223200"/>
          </a:xfrm>
          <a:prstGeom prst="rect">
            <a:avLst/>
          </a:prstGeom>
          <a:noFill/>
        </p:spPr>
        <p:txBody>
          <a:bodyPr wrap="square" lIns="0" rIns="0" tIns="0" bIns="0">
            <a:spAutoFit/>
          </a:bodyPr>
          <a:lstStyle/>
          <a:p>
            <a:pPr algn="l">
              <a:lnSpc>
                <a:spcPct val="115000"/>
              </a:lnSpc>
            </a:pPr>
            <a:r>
              <a:rPr sz="1500" b="1" i="0">
                <a:solidFill>
                  <a:srgbClr val="008080"/>
                </a:solidFill>
                <a:latin typeface="Barlow Condensed"/>
              </a:rPr>
              <a:t>11h30</a:t>
            </a:r>
          </a:p>
        </p:txBody>
      </p:sp>
      <p:sp>
        <p:nvSpPr>
          <p:cNvPr id="16" name="TextBox 15"/>
          <p:cNvSpPr txBox="1"/>
          <p:nvPr/>
        </p:nvSpPr>
        <p:spPr>
          <a:xfrm>
            <a:off x="1512000" y="26029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Table ronde — animée par Fabrice</a:t>
            </a:r>
          </a:p>
        </p:txBody>
      </p:sp>
      <p:sp>
        <p:nvSpPr>
          <p:cNvPr id="17" name="TextBox 16"/>
          <p:cNvSpPr txBox="1"/>
          <p:nvPr/>
        </p:nvSpPr>
        <p:spPr>
          <a:xfrm>
            <a:off x="360000" y="2865751"/>
            <a:ext cx="1116000" cy="223200"/>
          </a:xfrm>
          <a:prstGeom prst="rect">
            <a:avLst/>
          </a:prstGeom>
          <a:noFill/>
        </p:spPr>
        <p:txBody>
          <a:bodyPr wrap="square" lIns="0" rIns="0" tIns="0" bIns="0">
            <a:spAutoFit/>
          </a:bodyPr>
          <a:lstStyle/>
          <a:p>
            <a:pPr algn="l">
              <a:lnSpc>
                <a:spcPct val="115000"/>
              </a:lnSpc>
            </a:pPr>
            <a:r>
              <a:rPr sz="1500" b="1" i="0">
                <a:solidFill>
                  <a:srgbClr val="008080"/>
                </a:solidFill>
                <a:latin typeface="Barlow Condensed"/>
              </a:rPr>
              <a:t>12h15</a:t>
            </a:r>
          </a:p>
        </p:txBody>
      </p:sp>
      <p:sp>
        <p:nvSpPr>
          <p:cNvPr id="18" name="TextBox 17"/>
          <p:cNvSpPr txBox="1"/>
          <p:nvPr/>
        </p:nvSpPr>
        <p:spPr>
          <a:xfrm>
            <a:off x="1512000" y="28837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Cocktail déjeunatoire</a:t>
            </a:r>
          </a:p>
        </p:txBody>
      </p:sp>
      <p:sp>
        <p:nvSpPr>
          <p:cNvPr id="19" name="TextBox 18"/>
          <p:cNvSpPr txBox="1"/>
          <p:nvPr/>
        </p:nvSpPr>
        <p:spPr>
          <a:xfrm>
            <a:off x="360000" y="3146551"/>
            <a:ext cx="1116000" cy="223200"/>
          </a:xfrm>
          <a:prstGeom prst="rect">
            <a:avLst/>
          </a:prstGeom>
          <a:noFill/>
        </p:spPr>
        <p:txBody>
          <a:bodyPr wrap="square" lIns="0" rIns="0" tIns="0" bIns="0">
            <a:spAutoFit/>
          </a:bodyPr>
          <a:lstStyle/>
          <a:p>
            <a:pPr algn="l">
              <a:lnSpc>
                <a:spcPct val="115000"/>
              </a:lnSpc>
            </a:pPr>
            <a:r>
              <a:rPr sz="1500" b="1" i="0">
                <a:solidFill>
                  <a:srgbClr val="008080"/>
                </a:solidFill>
                <a:latin typeface="Barlow Condensed"/>
              </a:rPr>
              <a:t>13h40</a:t>
            </a:r>
          </a:p>
        </p:txBody>
      </p:sp>
      <p:sp>
        <p:nvSpPr>
          <p:cNvPr id="20" name="TextBox 19"/>
          <p:cNvSpPr txBox="1"/>
          <p:nvPr/>
        </p:nvSpPr>
        <p:spPr>
          <a:xfrm>
            <a:off x="1512000" y="31645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Organisation de l'après-midi</a:t>
            </a:r>
          </a:p>
        </p:txBody>
      </p:sp>
      <p:sp>
        <p:nvSpPr>
          <p:cNvPr id="21" name="TextBox 20"/>
          <p:cNvSpPr txBox="1"/>
          <p:nvPr/>
        </p:nvSpPr>
        <p:spPr>
          <a:xfrm>
            <a:off x="360000" y="3427351"/>
            <a:ext cx="1116000" cy="223200"/>
          </a:xfrm>
          <a:prstGeom prst="rect">
            <a:avLst/>
          </a:prstGeom>
          <a:noFill/>
        </p:spPr>
        <p:txBody>
          <a:bodyPr wrap="square" lIns="0" rIns="0" tIns="0" bIns="0">
            <a:spAutoFit/>
          </a:bodyPr>
          <a:lstStyle/>
          <a:p>
            <a:pPr algn="l">
              <a:lnSpc>
                <a:spcPct val="115000"/>
              </a:lnSpc>
            </a:pPr>
            <a:r>
              <a:rPr sz="1500" b="1" i="0">
                <a:solidFill>
                  <a:srgbClr val="008080"/>
                </a:solidFill>
                <a:latin typeface="Barlow Condensed"/>
              </a:rPr>
              <a:t>14h00</a:t>
            </a:r>
          </a:p>
        </p:txBody>
      </p:sp>
      <p:sp>
        <p:nvSpPr>
          <p:cNvPr id="22" name="TextBox 21"/>
          <p:cNvSpPr txBox="1"/>
          <p:nvPr/>
        </p:nvSpPr>
        <p:spPr>
          <a:xfrm>
            <a:off x="1512000" y="34453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5 rotations de 30 min, jusqu’à 16h25</a:t>
            </a:r>
          </a:p>
        </p:txBody>
      </p:sp>
      <p:sp>
        <p:nvSpPr>
          <p:cNvPr id="23" name="TextBox 22"/>
          <p:cNvSpPr txBox="1"/>
          <p:nvPr/>
        </p:nvSpPr>
        <p:spPr>
          <a:xfrm>
            <a:off x="360000" y="3708151"/>
            <a:ext cx="1116000" cy="223200"/>
          </a:xfrm>
          <a:prstGeom prst="rect">
            <a:avLst/>
          </a:prstGeom>
          <a:noFill/>
        </p:spPr>
        <p:txBody>
          <a:bodyPr wrap="square" lIns="0" rIns="0" tIns="0" bIns="0">
            <a:spAutoFit/>
          </a:bodyPr>
          <a:lstStyle/>
          <a:p>
            <a:pPr algn="l">
              <a:lnSpc>
                <a:spcPct val="115000"/>
              </a:lnSpc>
            </a:pPr>
            <a:r>
              <a:rPr sz="1500" b="1" i="0">
                <a:solidFill>
                  <a:srgbClr val="008080"/>
                </a:solidFill>
                <a:latin typeface="Barlow Condensed"/>
              </a:rPr>
              <a:t>16h30</a:t>
            </a:r>
          </a:p>
        </p:txBody>
      </p:sp>
      <p:sp>
        <p:nvSpPr>
          <p:cNvPr id="24" name="TextBox 23"/>
          <p:cNvSpPr txBox="1"/>
          <p:nvPr/>
        </p:nvSpPr>
        <p:spPr>
          <a:xfrm>
            <a:off x="1512000" y="37261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Clôture et remise des lots</a:t>
            </a:r>
          </a:p>
        </p:txBody>
      </p:sp>
      <p:sp>
        <p:nvSpPr>
          <p:cNvPr id="25" name="TextBox 24"/>
          <p:cNvSpPr txBox="1"/>
          <p:nvPr/>
        </p:nvSpPr>
        <p:spPr>
          <a:xfrm>
            <a:off x="360000" y="4060951"/>
            <a:ext cx="4626000" cy="57835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L'heure en haut à gauche de chaque carte est ton entrée en scène. Le pavé de couleur à droite est l’heure de fin visée : c’est elle qui tient la journée.</a:t>
            </a:r>
          </a:p>
        </p:txBody>
      </p:sp>
      <p:sp>
        <p:nvSpPr>
          <p:cNvPr id="26" name="TextBox 25"/>
          <p:cNvSpPr txBox="1"/>
          <p:nvPr/>
        </p:nvSpPr>
        <p:spPr>
          <a:xfrm>
            <a:off x="360000" y="4711306"/>
            <a:ext cx="4626000" cy="38557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Cartes numérotées, recto seul, dans l’ordre. Tu ne regardes jamais que celle du dessus.</a:t>
            </a:r>
          </a:p>
        </p:txBody>
      </p:sp>
      <p:cxnSp>
        <p:nvCxnSpPr>
          <p:cNvPr id="27" name="Connector 26"/>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Carte suivante : ta première prise de parole.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GHISLAINE</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2 / 6</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09h45</a:t>
            </a:r>
          </a:p>
        </p:txBody>
      </p:sp>
      <p:sp>
        <p:nvSpPr>
          <p:cNvPr id="7" name="Rectangle 6"/>
          <p:cNvSpPr/>
          <p:nvPr/>
        </p:nvSpPr>
        <p:spPr>
          <a:xfrm>
            <a:off x="3330001" y="730800"/>
            <a:ext cx="1655999" cy="4860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09h49</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Accueil et cadre de la journée</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187200" cy="736092"/>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3" name="TextBox 12"/>
          <p:cNvSpPr txBox="1"/>
          <p:nvPr/>
        </p:nvSpPr>
        <p:spPr>
          <a:xfrm>
            <a:off x="547200" y="1742551"/>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Bienvenue : le Testing Event, sa raison d’être, pourquoi Crédit Agricole Assurances y consacre une journée entière.</a:t>
            </a:r>
          </a:p>
        </p:txBody>
      </p:sp>
      <p:sp>
        <p:nvSpPr>
          <p:cNvPr id="14" name="TextBox 13"/>
          <p:cNvSpPr txBox="1"/>
          <p:nvPr/>
        </p:nvSpPr>
        <p:spPr>
          <a:xfrm>
            <a:off x="360000" y="2557843"/>
            <a:ext cx="187200" cy="981456"/>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5" name="TextBox 14"/>
          <p:cNvSpPr txBox="1"/>
          <p:nvPr/>
        </p:nvSpPr>
        <p:spPr>
          <a:xfrm>
            <a:off x="547200" y="2557843"/>
            <a:ext cx="4438800" cy="981456"/>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La journée est une journée, pas une matinée : conférences le matin, 10 kiosques l’après-midi, clôture à 16h30. Une partie de la salle repartira après le cocktail si personne ne le dit.</a:t>
            </a:r>
          </a:p>
        </p:txBody>
      </p:sp>
      <p:sp>
        <p:nvSpPr>
          <p:cNvPr id="16" name="TextBox 15"/>
          <p:cNvSpPr txBox="1"/>
          <p:nvPr/>
        </p:nvSpPr>
        <p:spPr>
          <a:xfrm>
            <a:off x="360000" y="3618499"/>
            <a:ext cx="4626000" cy="38557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Ne déroule pas le programme heure par heure ici : c’est ta séquence de 09h53, et le faire deux fois coûte trois minutes.</a:t>
            </a:r>
          </a:p>
        </p:txBody>
      </p:sp>
      <p:sp>
        <p:nvSpPr>
          <p:cNvPr id="17" name="TextBox 16"/>
          <p:cNvSpPr txBox="1"/>
          <p:nvPr/>
        </p:nvSpPr>
        <p:spPr>
          <a:xfrm>
            <a:off x="360000" y="4076069"/>
            <a:ext cx="187200" cy="245364"/>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8" name="TextBox 17"/>
          <p:cNvSpPr txBox="1"/>
          <p:nvPr/>
        </p:nvSpPr>
        <p:spPr>
          <a:xfrm>
            <a:off x="547200" y="4076069"/>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Annonce du sponsor et passage de parole à Fabrice.</a:t>
            </a:r>
          </a:p>
        </p:txBody>
      </p:sp>
      <p:sp>
        <p:nvSpPr>
          <p:cNvPr id="19" name="TextBox 18"/>
          <p:cNvSpPr txBox="1"/>
          <p:nvPr/>
        </p:nvSpPr>
        <p:spPr>
          <a:xfrm>
            <a:off x="360000" y="4400633"/>
            <a:ext cx="4626000" cy="57835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Tu restes en bord de scène pendant qu’il parle. Quatre minutes annoncées deviennent huit si personne ne tient la durée : signe discret convenu à 09h52.</a:t>
            </a:r>
          </a:p>
        </p:txBody>
      </p:sp>
      <p:cxnSp>
        <p:nvCxnSpPr>
          <p:cNvPr id="20" name="Connector 19"/>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09h53 · le programme de la journée.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GHISLAINE</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3 / 6</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09h53</a:t>
            </a:r>
          </a:p>
        </p:txBody>
      </p:sp>
      <p:sp>
        <p:nvSpPr>
          <p:cNvPr id="7" name="Rectangle 6"/>
          <p:cNvSpPr/>
          <p:nvPr/>
        </p:nvSpPr>
        <p:spPr>
          <a:xfrm>
            <a:off x="3330001" y="730800"/>
            <a:ext cx="1655999" cy="4860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09h56</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Le programme de la journée</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187200" cy="490728"/>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3" name="TextBox 12"/>
          <p:cNvSpPr txBox="1"/>
          <p:nvPr/>
        </p:nvSpPr>
        <p:spPr>
          <a:xfrm>
            <a:off x="547200" y="1742551"/>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Matin : deux conférences et une table ronde, questions après chacune.</a:t>
            </a:r>
          </a:p>
        </p:txBody>
      </p:sp>
      <p:sp>
        <p:nvSpPr>
          <p:cNvPr id="14" name="TextBox 13"/>
          <p:cNvSpPr txBox="1"/>
          <p:nvPr/>
        </p:nvSpPr>
        <p:spPr>
          <a:xfrm>
            <a:off x="360000" y="2312479"/>
            <a:ext cx="187200" cy="245364"/>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5" name="TextBox 14"/>
          <p:cNvSpPr txBox="1"/>
          <p:nvPr/>
        </p:nvSpPr>
        <p:spPr>
          <a:xfrm>
            <a:off x="547200" y="2312479"/>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Cocktail déjeunatoire à 12h15.</a:t>
            </a:r>
          </a:p>
        </p:txBody>
      </p:sp>
      <p:sp>
        <p:nvSpPr>
          <p:cNvPr id="16" name="TextBox 15"/>
          <p:cNvSpPr txBox="1"/>
          <p:nvPr/>
        </p:nvSpPr>
        <p:spPr>
          <a:xfrm>
            <a:off x="360000" y="2637043"/>
            <a:ext cx="187200" cy="490728"/>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7" name="TextBox 16"/>
          <p:cNvSpPr txBox="1"/>
          <p:nvPr/>
        </p:nvSpPr>
        <p:spPr>
          <a:xfrm>
            <a:off x="547200" y="2637043"/>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Reprise à 13h40 pour l’organisation de l’après-midi.</a:t>
            </a:r>
          </a:p>
        </p:txBody>
      </p:sp>
      <p:sp>
        <p:nvSpPr>
          <p:cNvPr id="18" name="TextBox 17"/>
          <p:cNvSpPr txBox="1"/>
          <p:nvPr/>
        </p:nvSpPr>
        <p:spPr>
          <a:xfrm>
            <a:off x="360000" y="3206971"/>
            <a:ext cx="187200" cy="490728"/>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9" name="TextBox 18"/>
          <p:cNvSpPr txBox="1"/>
          <p:nvPr/>
        </p:nvSpPr>
        <p:spPr>
          <a:xfrm>
            <a:off x="547200" y="3206971"/>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10 kiosques, 5 rotations identiques : chacun choisit ses sessions, on ne subit pas un parcours imposé.</a:t>
            </a:r>
          </a:p>
        </p:txBody>
      </p:sp>
      <p:sp>
        <p:nvSpPr>
          <p:cNvPr id="20" name="TextBox 19"/>
          <p:cNvSpPr txBox="1"/>
          <p:nvPr/>
        </p:nvSpPr>
        <p:spPr>
          <a:xfrm>
            <a:off x="360000" y="3776899"/>
            <a:ext cx="187200" cy="245364"/>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21" name="TextBox 20"/>
          <p:cNvSpPr txBox="1"/>
          <p:nvPr/>
        </p:nvSpPr>
        <p:spPr>
          <a:xfrm>
            <a:off x="547200" y="3776899"/>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Clôture à 16h30, avec remise de lots.</a:t>
            </a:r>
          </a:p>
        </p:txBody>
      </p:sp>
      <p:sp>
        <p:nvSpPr>
          <p:cNvPr id="22" name="TextBox 21"/>
          <p:cNvSpPr txBox="1"/>
          <p:nvPr/>
        </p:nvSpPr>
        <p:spPr>
          <a:xfrm>
            <a:off x="360000" y="4101463"/>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Passage de relais à Anas, qui prend le QR code.</a:t>
            </a:r>
          </a:p>
        </p:txBody>
      </p:sp>
      <p:cxnSp>
        <p:nvCxnSpPr>
          <p:cNvPr id="23" name="Connector 22"/>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11h25 · coulisses de la table ronde.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GHISLAINE</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4 / 6</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11h25</a:t>
            </a:r>
          </a:p>
        </p:txBody>
      </p:sp>
      <p:sp>
        <p:nvSpPr>
          <p:cNvPr id="7" name="Rectangle 6"/>
          <p:cNvSpPr/>
          <p:nvPr/>
        </p:nvSpPr>
        <p:spPr>
          <a:xfrm>
            <a:off x="3330001" y="730800"/>
            <a:ext cx="1655999" cy="4860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12h15</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Table ronde — tu es intervenante</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564622"/>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420622"/>
          </a:xfrm>
          <a:prstGeom prst="rect">
            <a:avLst/>
          </a:prstGeom>
          <a:noFill/>
        </p:spPr>
        <p:txBody>
          <a:bodyPr wrap="square" lIns="0" rIns="0" tIns="0" bIns="0">
            <a:spAutoFit/>
          </a:bodyPr>
          <a:lstStyle/>
          <a:p>
            <a:pPr algn="l">
              <a:lnSpc>
                <a:spcPct val="115000"/>
              </a:lnSpc>
            </a:pPr>
            <a:r>
              <a:rPr sz="1200" b="1" i="0">
                <a:solidFill>
                  <a:srgbClr val="B32D2D"/>
                </a:solidFill>
                <a:latin typeface="Barlow"/>
              </a:rPr>
              <a:t>Tu n’animes pas cette séquence : c’est Fabrice CHATRON qui anime. Cette carte est un repère, pas un script.</a:t>
            </a:r>
          </a:p>
        </p:txBody>
      </p:sp>
      <p:sp>
        <p:nvSpPr>
          <p:cNvPr id="14" name="TextBox 13"/>
          <p:cNvSpPr txBox="1"/>
          <p:nvPr/>
        </p:nvSpPr>
        <p:spPr>
          <a:xfrm>
            <a:off x="360000" y="2415173"/>
            <a:ext cx="187200" cy="736092"/>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5" name="TextBox 14"/>
          <p:cNvSpPr txBox="1"/>
          <p:nvPr/>
        </p:nvSpPr>
        <p:spPr>
          <a:xfrm>
            <a:off x="547200" y="2415173"/>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Mode produit et les tests. Angle : « Mode produit ADE : comment CAAS transforme ses approches de test pour accompagner la fabrication agile ? »</a:t>
            </a:r>
          </a:p>
        </p:txBody>
      </p:sp>
      <p:sp>
        <p:nvSpPr>
          <p:cNvPr id="16" name="TextBox 15"/>
          <p:cNvSpPr txBox="1"/>
          <p:nvPr/>
        </p:nvSpPr>
        <p:spPr>
          <a:xfrm>
            <a:off x="360000" y="3230465"/>
            <a:ext cx="187200" cy="490728"/>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7" name="TextBox 16"/>
          <p:cNvSpPr txBox="1"/>
          <p:nvPr/>
        </p:nvSpPr>
        <p:spPr>
          <a:xfrm>
            <a:off x="547200" y="3230465"/>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Avec toi : Grégory BARRANCO (TMV) et Erwan PERIGAULT (USR).</a:t>
            </a:r>
          </a:p>
        </p:txBody>
      </p:sp>
      <p:sp>
        <p:nvSpPr>
          <p:cNvPr id="18" name="TextBox 17"/>
          <p:cNvSpPr txBox="1"/>
          <p:nvPr/>
        </p:nvSpPr>
        <p:spPr>
          <a:xfrm>
            <a:off x="360000" y="3800393"/>
            <a:ext cx="4626000" cy="38557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Table ronde 32 min au plus, questions de 12h03 à 12h10, puis Anas reprend la main pour le message de midi.</a:t>
            </a:r>
          </a:p>
        </p:txBody>
      </p:sp>
      <p:cxnSp>
        <p:nvCxnSpPr>
          <p:cNvPr id="19" name="Connector 18"/>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16h33 · la clôture, avec Anas.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GHISLAINE</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5 / 6</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16h33</a:t>
            </a:r>
          </a:p>
        </p:txBody>
      </p:sp>
      <p:sp>
        <p:nvSpPr>
          <p:cNvPr id="7" name="Rectangle 6"/>
          <p:cNvSpPr/>
          <p:nvPr/>
        </p:nvSpPr>
        <p:spPr>
          <a:xfrm>
            <a:off x="3330001" y="730800"/>
            <a:ext cx="1655999" cy="4860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16h36</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Synthèse de la journée, avec Anas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564622"/>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420622"/>
          </a:xfrm>
          <a:prstGeom prst="rect">
            <a:avLst/>
          </a:prstGeom>
          <a:noFill/>
        </p:spPr>
        <p:txBody>
          <a:bodyPr wrap="square" lIns="0" rIns="0" tIns="0" bIns="0">
            <a:spAutoFit/>
          </a:bodyPr>
          <a:lstStyle/>
          <a:p>
            <a:pPr algn="l">
              <a:lnSpc>
                <a:spcPct val="115000"/>
              </a:lnSpc>
            </a:pPr>
            <a:r>
              <a:rPr sz="1200" b="1" i="0">
                <a:solidFill>
                  <a:srgbClr val="B32D2D"/>
                </a:solidFill>
                <a:latin typeface="Barlow"/>
              </a:rPr>
              <a:t>Ne commencez pas à 16h30 pile : la salle se remplit jusqu’à 16h35.</a:t>
            </a:r>
          </a:p>
        </p:txBody>
      </p:sp>
      <p:sp>
        <p:nvSpPr>
          <p:cNvPr id="14" name="TextBox 13"/>
          <p:cNvSpPr txBox="1"/>
          <p:nvPr/>
        </p:nvSpPr>
        <p:spPr>
          <a:xfrm>
            <a:off x="360000" y="2415173"/>
            <a:ext cx="187200" cy="490728"/>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5" name="TextBox 14"/>
          <p:cNvSpPr txBox="1"/>
          <p:nvPr/>
        </p:nvSpPr>
        <p:spPr>
          <a:xfrm>
            <a:off x="547200" y="2415173"/>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Ce qu’on a vu aujourd’hui, en trois phrases. Pas un récapitulatif.</a:t>
            </a:r>
          </a:p>
        </p:txBody>
      </p:sp>
      <p:sp>
        <p:nvSpPr>
          <p:cNvPr id="16" name="Rectangle 15"/>
          <p:cNvSpPr/>
          <p:nvPr/>
        </p:nvSpPr>
        <p:spPr>
          <a:xfrm>
            <a:off x="360000" y="2985101"/>
            <a:ext cx="4626000" cy="5400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8000" y="3035501"/>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NOMBRE DE PARTICIPANTS — ÉMARGEMENTS REMONTÉS PAR LOU À 16H</a:t>
            </a:r>
          </a:p>
        </p:txBody>
      </p:sp>
      <p:cxnSp>
        <p:nvCxnSpPr>
          <p:cNvPr id="18" name="Connector 17"/>
          <p:cNvCxnSpPr/>
          <p:nvPr/>
        </p:nvCxnSpPr>
        <p:spPr>
          <a:xfrm>
            <a:off x="468000" y="342430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60000" y="3618701"/>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Anas enchaîne seul sur les remerciements, puis Fabrice conclut.</a:t>
            </a:r>
          </a:p>
        </p:txBody>
      </p:sp>
      <p:cxnSp>
        <p:nvCxnSpPr>
          <p:cNvPr id="20" name="Connector 19"/>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16h48 · le tirage au sort, avec Anas.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GHISLAINE</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6 / 6</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16h48</a:t>
            </a:r>
          </a:p>
        </p:txBody>
      </p:sp>
      <p:sp>
        <p:nvSpPr>
          <p:cNvPr id="7" name="Rectangle 6"/>
          <p:cNvSpPr/>
          <p:nvPr/>
        </p:nvSpPr>
        <p:spPr>
          <a:xfrm>
            <a:off x="3330001" y="730800"/>
            <a:ext cx="1655999" cy="4860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16h56</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Tirage au sort et remise des lots, avec Anas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187200" cy="490728"/>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3" name="TextBox 12"/>
          <p:cNvSpPr txBox="1"/>
          <p:nvPr/>
        </p:nvSpPr>
        <p:spPr>
          <a:xfrm>
            <a:off x="547200" y="1742551"/>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La règle se rappelle AVANT de tirer : cinq kiosques, cinq fiches, trois gagnants, trois lots.</a:t>
            </a:r>
          </a:p>
        </p:txBody>
      </p:sp>
      <p:sp>
        <p:nvSpPr>
          <p:cNvPr id="14" name="TextBox 13"/>
          <p:cNvSpPr txBox="1"/>
          <p:nvPr/>
        </p:nvSpPr>
        <p:spPr>
          <a:xfrm>
            <a:off x="360000" y="2312479"/>
            <a:ext cx="187200" cy="245364"/>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5" name="TextBox 14"/>
          <p:cNvSpPr txBox="1"/>
          <p:nvPr/>
        </p:nvSpPr>
        <p:spPr>
          <a:xfrm>
            <a:off x="547200" y="2312479"/>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C’est un participant qui tire — ni staff, ni TFC.</a:t>
            </a:r>
          </a:p>
        </p:txBody>
      </p:sp>
      <p:sp>
        <p:nvSpPr>
          <p:cNvPr id="16" name="TextBox 15"/>
          <p:cNvSpPr txBox="1"/>
          <p:nvPr/>
        </p:nvSpPr>
        <p:spPr>
          <a:xfrm>
            <a:off x="360000" y="2637043"/>
            <a:ext cx="187200" cy="490728"/>
          </a:xfrm>
          <a:prstGeom prst="rect">
            <a:avLst/>
          </a:prstGeom>
          <a:noFill/>
        </p:spPr>
        <p:txBody>
          <a:bodyPr wrap="square" lIns="0" rIns="0" tIns="0" bIns="0">
            <a:spAutoFit/>
          </a:bodyPr>
          <a:lstStyle/>
          <a:p>
            <a:pPr algn="l">
              <a:lnSpc>
                <a:spcPct val="115000"/>
              </a:lnSpc>
            </a:pPr>
            <a:r>
              <a:rPr sz="1400" b="1" i="0">
                <a:solidFill>
                  <a:srgbClr val="008080"/>
                </a:solidFill>
                <a:latin typeface="Barlow"/>
              </a:rPr>
              <a:t>•</a:t>
            </a:r>
          </a:p>
        </p:txBody>
      </p:sp>
      <p:sp>
        <p:nvSpPr>
          <p:cNvPr id="17" name="TextBox 16"/>
          <p:cNvSpPr txBox="1"/>
          <p:nvPr/>
        </p:nvSpPr>
        <p:spPr>
          <a:xfrm>
            <a:off x="547200" y="2637043"/>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Un tirage à la fois. Trois noms lus d’affilée désorganisent la scène.</a:t>
            </a:r>
          </a:p>
        </p:txBody>
      </p:sp>
      <p:sp>
        <p:nvSpPr>
          <p:cNvPr id="18" name="Rectangle 17"/>
          <p:cNvSpPr/>
          <p:nvPr/>
        </p:nvSpPr>
        <p:spPr>
          <a:xfrm>
            <a:off x="360000" y="3206971"/>
            <a:ext cx="4626000" cy="10584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8000" y="3257371"/>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LES TROIS LOTS</a:t>
            </a:r>
          </a:p>
        </p:txBody>
      </p:sp>
      <p:cxnSp>
        <p:nvCxnSpPr>
          <p:cNvPr id="20" name="Connector 19"/>
          <p:cNvCxnSpPr/>
          <p:nvPr/>
        </p:nvCxnSpPr>
        <p:spPr>
          <a:xfrm>
            <a:off x="468000" y="364617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8000" y="390537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8000" y="4164571"/>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Musique de fin sur la dernière phrase d’Anas.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Repères</a:t>
            </a:r>
          </a:p>
        </p:txBody>
      </p:sp>
      <p:sp>
        <p:nvSpPr>
          <p:cNvPr id="7" name="TextBox 6"/>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La journée en huit lignes</a:t>
            </a:r>
          </a:p>
        </p:txBody>
      </p:sp>
      <p:cxnSp>
        <p:nvCxnSpPr>
          <p:cNvPr id="8" name="Connector 7"/>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0000" y="1742551"/>
            <a:ext cx="1116000" cy="223200"/>
          </a:xfrm>
          <a:prstGeom prst="rect">
            <a:avLst/>
          </a:prstGeom>
          <a:noFill/>
        </p:spPr>
        <p:txBody>
          <a:bodyPr wrap="square" lIns="0" rIns="0" tIns="0" bIns="0">
            <a:spAutoFit/>
          </a:bodyPr>
          <a:lstStyle/>
          <a:p>
            <a:pPr algn="l">
              <a:lnSpc>
                <a:spcPct val="115000"/>
              </a:lnSpc>
            </a:pPr>
            <a:r>
              <a:rPr sz="1500" b="1" i="0">
                <a:solidFill>
                  <a:srgbClr val="006B4F"/>
                </a:solidFill>
                <a:latin typeface="Barlow Condensed"/>
              </a:rPr>
              <a:t>09h45</a:t>
            </a:r>
          </a:p>
        </p:txBody>
      </p:sp>
      <p:sp>
        <p:nvSpPr>
          <p:cNvPr id="10" name="TextBox 9"/>
          <p:cNvSpPr txBox="1"/>
          <p:nvPr/>
        </p:nvSpPr>
        <p:spPr>
          <a:xfrm>
            <a:off x="1512000" y="17605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Mot d'ouverture — Ghislaine, Fabrice, Anas</a:t>
            </a:r>
          </a:p>
        </p:txBody>
      </p:sp>
      <p:sp>
        <p:nvSpPr>
          <p:cNvPr id="11" name="TextBox 10"/>
          <p:cNvSpPr txBox="1"/>
          <p:nvPr/>
        </p:nvSpPr>
        <p:spPr>
          <a:xfrm>
            <a:off x="360000" y="2023351"/>
            <a:ext cx="1116000" cy="223200"/>
          </a:xfrm>
          <a:prstGeom prst="rect">
            <a:avLst/>
          </a:prstGeom>
          <a:noFill/>
        </p:spPr>
        <p:txBody>
          <a:bodyPr wrap="square" lIns="0" rIns="0" tIns="0" bIns="0">
            <a:spAutoFit/>
          </a:bodyPr>
          <a:lstStyle/>
          <a:p>
            <a:pPr algn="l">
              <a:lnSpc>
                <a:spcPct val="115000"/>
              </a:lnSpc>
            </a:pPr>
            <a:r>
              <a:rPr sz="1500" b="1" i="0">
                <a:solidFill>
                  <a:srgbClr val="006B4F"/>
                </a:solidFill>
                <a:latin typeface="Barlow Condensed"/>
              </a:rPr>
              <a:t>10h00</a:t>
            </a:r>
          </a:p>
        </p:txBody>
      </p:sp>
      <p:sp>
        <p:nvSpPr>
          <p:cNvPr id="12" name="TextBox 11"/>
          <p:cNvSpPr txBox="1"/>
          <p:nvPr/>
        </p:nvSpPr>
        <p:spPr>
          <a:xfrm>
            <a:off x="1512000" y="20413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Conférence 1 — K-LAGAN</a:t>
            </a:r>
          </a:p>
        </p:txBody>
      </p:sp>
      <p:sp>
        <p:nvSpPr>
          <p:cNvPr id="13" name="TextBox 12"/>
          <p:cNvSpPr txBox="1"/>
          <p:nvPr/>
        </p:nvSpPr>
        <p:spPr>
          <a:xfrm>
            <a:off x="360000" y="2304151"/>
            <a:ext cx="1116000" cy="223200"/>
          </a:xfrm>
          <a:prstGeom prst="rect">
            <a:avLst/>
          </a:prstGeom>
          <a:noFill/>
        </p:spPr>
        <p:txBody>
          <a:bodyPr wrap="square" lIns="0" rIns="0" tIns="0" bIns="0">
            <a:spAutoFit/>
          </a:bodyPr>
          <a:lstStyle/>
          <a:p>
            <a:pPr algn="l">
              <a:lnSpc>
                <a:spcPct val="115000"/>
              </a:lnSpc>
            </a:pPr>
            <a:r>
              <a:rPr sz="1500" b="1" i="0">
                <a:solidFill>
                  <a:srgbClr val="006B4F"/>
                </a:solidFill>
                <a:latin typeface="Barlow Condensed"/>
              </a:rPr>
              <a:t>10h45</a:t>
            </a:r>
          </a:p>
        </p:txBody>
      </p:sp>
      <p:sp>
        <p:nvSpPr>
          <p:cNvPr id="14" name="TextBox 13"/>
          <p:cNvSpPr txBox="1"/>
          <p:nvPr/>
        </p:nvSpPr>
        <p:spPr>
          <a:xfrm>
            <a:off x="1512000" y="23221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Conférence 2 — Niji</a:t>
            </a:r>
          </a:p>
        </p:txBody>
      </p:sp>
      <p:sp>
        <p:nvSpPr>
          <p:cNvPr id="15" name="TextBox 14"/>
          <p:cNvSpPr txBox="1"/>
          <p:nvPr/>
        </p:nvSpPr>
        <p:spPr>
          <a:xfrm>
            <a:off x="360000" y="2584951"/>
            <a:ext cx="1116000" cy="223200"/>
          </a:xfrm>
          <a:prstGeom prst="rect">
            <a:avLst/>
          </a:prstGeom>
          <a:noFill/>
        </p:spPr>
        <p:txBody>
          <a:bodyPr wrap="square" lIns="0" rIns="0" tIns="0" bIns="0">
            <a:spAutoFit/>
          </a:bodyPr>
          <a:lstStyle/>
          <a:p>
            <a:pPr algn="l">
              <a:lnSpc>
                <a:spcPct val="115000"/>
              </a:lnSpc>
            </a:pPr>
            <a:r>
              <a:rPr sz="1500" b="1" i="0">
                <a:solidFill>
                  <a:srgbClr val="006B4F"/>
                </a:solidFill>
                <a:latin typeface="Barlow Condensed"/>
              </a:rPr>
              <a:t>11h30</a:t>
            </a:r>
          </a:p>
        </p:txBody>
      </p:sp>
      <p:sp>
        <p:nvSpPr>
          <p:cNvPr id="16" name="TextBox 15"/>
          <p:cNvSpPr txBox="1"/>
          <p:nvPr/>
        </p:nvSpPr>
        <p:spPr>
          <a:xfrm>
            <a:off x="1512000" y="26029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Table ronde — animée par Fabrice</a:t>
            </a:r>
          </a:p>
        </p:txBody>
      </p:sp>
      <p:sp>
        <p:nvSpPr>
          <p:cNvPr id="17" name="TextBox 16"/>
          <p:cNvSpPr txBox="1"/>
          <p:nvPr/>
        </p:nvSpPr>
        <p:spPr>
          <a:xfrm>
            <a:off x="360000" y="2865751"/>
            <a:ext cx="1116000" cy="223200"/>
          </a:xfrm>
          <a:prstGeom prst="rect">
            <a:avLst/>
          </a:prstGeom>
          <a:noFill/>
        </p:spPr>
        <p:txBody>
          <a:bodyPr wrap="square" lIns="0" rIns="0" tIns="0" bIns="0">
            <a:spAutoFit/>
          </a:bodyPr>
          <a:lstStyle/>
          <a:p>
            <a:pPr algn="l">
              <a:lnSpc>
                <a:spcPct val="115000"/>
              </a:lnSpc>
            </a:pPr>
            <a:r>
              <a:rPr sz="1500" b="1" i="0">
                <a:solidFill>
                  <a:srgbClr val="006B4F"/>
                </a:solidFill>
                <a:latin typeface="Barlow Condensed"/>
              </a:rPr>
              <a:t>12h15</a:t>
            </a:r>
          </a:p>
        </p:txBody>
      </p:sp>
      <p:sp>
        <p:nvSpPr>
          <p:cNvPr id="18" name="TextBox 17"/>
          <p:cNvSpPr txBox="1"/>
          <p:nvPr/>
        </p:nvSpPr>
        <p:spPr>
          <a:xfrm>
            <a:off x="1512000" y="28837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Cocktail déjeunatoire</a:t>
            </a:r>
          </a:p>
        </p:txBody>
      </p:sp>
      <p:sp>
        <p:nvSpPr>
          <p:cNvPr id="19" name="TextBox 18"/>
          <p:cNvSpPr txBox="1"/>
          <p:nvPr/>
        </p:nvSpPr>
        <p:spPr>
          <a:xfrm>
            <a:off x="360000" y="3146551"/>
            <a:ext cx="1116000" cy="223200"/>
          </a:xfrm>
          <a:prstGeom prst="rect">
            <a:avLst/>
          </a:prstGeom>
          <a:noFill/>
        </p:spPr>
        <p:txBody>
          <a:bodyPr wrap="square" lIns="0" rIns="0" tIns="0" bIns="0">
            <a:spAutoFit/>
          </a:bodyPr>
          <a:lstStyle/>
          <a:p>
            <a:pPr algn="l">
              <a:lnSpc>
                <a:spcPct val="115000"/>
              </a:lnSpc>
            </a:pPr>
            <a:r>
              <a:rPr sz="1500" b="1" i="0">
                <a:solidFill>
                  <a:srgbClr val="006B4F"/>
                </a:solidFill>
                <a:latin typeface="Barlow Condensed"/>
              </a:rPr>
              <a:t>13h40</a:t>
            </a:r>
          </a:p>
        </p:txBody>
      </p:sp>
      <p:sp>
        <p:nvSpPr>
          <p:cNvPr id="20" name="TextBox 19"/>
          <p:cNvSpPr txBox="1"/>
          <p:nvPr/>
        </p:nvSpPr>
        <p:spPr>
          <a:xfrm>
            <a:off x="1512000" y="31645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Organisation de l'après-midi</a:t>
            </a:r>
          </a:p>
        </p:txBody>
      </p:sp>
      <p:sp>
        <p:nvSpPr>
          <p:cNvPr id="21" name="TextBox 20"/>
          <p:cNvSpPr txBox="1"/>
          <p:nvPr/>
        </p:nvSpPr>
        <p:spPr>
          <a:xfrm>
            <a:off x="360000" y="3427351"/>
            <a:ext cx="1116000" cy="223200"/>
          </a:xfrm>
          <a:prstGeom prst="rect">
            <a:avLst/>
          </a:prstGeom>
          <a:noFill/>
        </p:spPr>
        <p:txBody>
          <a:bodyPr wrap="square" lIns="0" rIns="0" tIns="0" bIns="0">
            <a:spAutoFit/>
          </a:bodyPr>
          <a:lstStyle/>
          <a:p>
            <a:pPr algn="l">
              <a:lnSpc>
                <a:spcPct val="115000"/>
              </a:lnSpc>
            </a:pPr>
            <a:r>
              <a:rPr sz="1500" b="1" i="0">
                <a:solidFill>
                  <a:srgbClr val="006B4F"/>
                </a:solidFill>
                <a:latin typeface="Barlow Condensed"/>
              </a:rPr>
              <a:t>14h00</a:t>
            </a:r>
          </a:p>
        </p:txBody>
      </p:sp>
      <p:sp>
        <p:nvSpPr>
          <p:cNvPr id="22" name="TextBox 21"/>
          <p:cNvSpPr txBox="1"/>
          <p:nvPr/>
        </p:nvSpPr>
        <p:spPr>
          <a:xfrm>
            <a:off x="1512000" y="34453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5 rotations de 30 min, jusqu’à 16h25</a:t>
            </a:r>
          </a:p>
        </p:txBody>
      </p:sp>
      <p:sp>
        <p:nvSpPr>
          <p:cNvPr id="23" name="TextBox 22"/>
          <p:cNvSpPr txBox="1"/>
          <p:nvPr/>
        </p:nvSpPr>
        <p:spPr>
          <a:xfrm>
            <a:off x="360000" y="3708151"/>
            <a:ext cx="1116000" cy="223200"/>
          </a:xfrm>
          <a:prstGeom prst="rect">
            <a:avLst/>
          </a:prstGeom>
          <a:noFill/>
        </p:spPr>
        <p:txBody>
          <a:bodyPr wrap="square" lIns="0" rIns="0" tIns="0" bIns="0">
            <a:spAutoFit/>
          </a:bodyPr>
          <a:lstStyle/>
          <a:p>
            <a:pPr algn="l">
              <a:lnSpc>
                <a:spcPct val="115000"/>
              </a:lnSpc>
            </a:pPr>
            <a:r>
              <a:rPr sz="1500" b="1" i="0">
                <a:solidFill>
                  <a:srgbClr val="006B4F"/>
                </a:solidFill>
                <a:latin typeface="Barlow Condensed"/>
              </a:rPr>
              <a:t>16h30</a:t>
            </a:r>
          </a:p>
        </p:txBody>
      </p:sp>
      <p:sp>
        <p:nvSpPr>
          <p:cNvPr id="24" name="TextBox 23"/>
          <p:cNvSpPr txBox="1"/>
          <p:nvPr/>
        </p:nvSpPr>
        <p:spPr>
          <a:xfrm>
            <a:off x="1512000" y="3726151"/>
            <a:ext cx="3474000" cy="223200"/>
          </a:xfrm>
          <a:prstGeom prst="rect">
            <a:avLst/>
          </a:prstGeom>
          <a:noFill/>
        </p:spPr>
        <p:txBody>
          <a:bodyPr wrap="square" lIns="0" rIns="0" tIns="0" bIns="0">
            <a:spAutoFit/>
          </a:bodyPr>
          <a:lstStyle/>
          <a:p>
            <a:pPr algn="l">
              <a:lnSpc>
                <a:spcPct val="115000"/>
              </a:lnSpc>
            </a:pPr>
            <a:r>
              <a:rPr sz="1200" b="0" i="0">
                <a:solidFill>
                  <a:srgbClr val="1A1A2E"/>
                </a:solidFill>
                <a:latin typeface="Barlow"/>
              </a:rPr>
              <a:t>Clôture et remise des lots</a:t>
            </a:r>
          </a:p>
        </p:txBody>
      </p:sp>
      <p:sp>
        <p:nvSpPr>
          <p:cNvPr id="25" name="TextBox 24"/>
          <p:cNvSpPr txBox="1"/>
          <p:nvPr/>
        </p:nvSpPr>
        <p:spPr>
          <a:xfrm>
            <a:off x="360000" y="4060951"/>
            <a:ext cx="4626000" cy="57835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L'heure en haut à gauche de chaque carte est ton entrée en scène. Le pavé de couleur à droite est l’heure de fin visée : c’est elle qui tient la journée.</a:t>
            </a:r>
          </a:p>
        </p:txBody>
      </p:sp>
      <p:sp>
        <p:nvSpPr>
          <p:cNvPr id="26" name="TextBox 25"/>
          <p:cNvSpPr txBox="1"/>
          <p:nvPr/>
        </p:nvSpPr>
        <p:spPr>
          <a:xfrm>
            <a:off x="360000" y="4711306"/>
            <a:ext cx="4626000" cy="38557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Cartes numérotées, recto seul, dans l’ordre. Tu ne regardes jamais que celle du dessus.</a:t>
            </a:r>
          </a:p>
        </p:txBody>
      </p:sp>
      <p:cxnSp>
        <p:nvCxnSpPr>
          <p:cNvPr id="27" name="Connector 26"/>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Carte suivante : ta première prise de parole.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2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13h40</a:t>
            </a:r>
          </a:p>
        </p:txBody>
      </p:sp>
      <p:sp>
        <p:nvSpPr>
          <p:cNvPr id="7" name="Rectangle 6"/>
          <p:cNvSpPr/>
          <p:nvPr/>
        </p:nvSpPr>
        <p:spPr>
          <a:xfrm>
            <a:off x="3330001" y="730800"/>
            <a:ext cx="1655999" cy="4860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13h44</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Reprise et principe des rotations, avec Anas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564622"/>
          </a:xfrm>
          <a:prstGeom prst="rect">
            <a:avLst/>
          </a:prstGeom>
          <a:noFill/>
          <a:ln w="9525">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5999" y="1814551"/>
            <a:ext cx="4302000" cy="420622"/>
          </a:xfrm>
          <a:prstGeom prst="rect">
            <a:avLst/>
          </a:prstGeom>
          <a:noFill/>
        </p:spPr>
        <p:txBody>
          <a:bodyPr wrap="square" lIns="0" rIns="0" tIns="0" bIns="0">
            <a:spAutoFit/>
          </a:bodyPr>
          <a:lstStyle/>
          <a:p>
            <a:pPr algn="l">
              <a:lnSpc>
                <a:spcPct val="115000"/>
              </a:lnSpc>
            </a:pPr>
            <a:r>
              <a:rPr sz="1200" b="1" i="0">
                <a:solidFill>
                  <a:srgbClr val="B32D2D"/>
                </a:solidFill>
                <a:latin typeface="Barlow"/>
              </a:rPr>
              <a:t>Alternez les prises de parole. Quinze minutes d’instructions juste après un cocktail : à deux voix, la salle suit.</a:t>
            </a:r>
          </a:p>
        </p:txBody>
      </p:sp>
      <p:sp>
        <p:nvSpPr>
          <p:cNvPr id="14" name="TextBox 13"/>
          <p:cNvSpPr txBox="1"/>
          <p:nvPr/>
        </p:nvSpPr>
        <p:spPr>
          <a:xfrm>
            <a:off x="360000" y="2415173"/>
            <a:ext cx="187200" cy="736092"/>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5" name="TextBox 14"/>
          <p:cNvSpPr txBox="1"/>
          <p:nvPr/>
        </p:nvSpPr>
        <p:spPr>
          <a:xfrm>
            <a:off x="547200" y="2415173"/>
            <a:ext cx="4438800" cy="736092"/>
          </a:xfrm>
          <a:prstGeom prst="rect">
            <a:avLst/>
          </a:prstGeom>
          <a:noFill/>
        </p:spPr>
        <p:txBody>
          <a:bodyPr wrap="square" lIns="0" rIns="0" tIns="0" bIns="0">
            <a:spAutoFit/>
          </a:bodyPr>
          <a:lstStyle/>
          <a:p>
            <a:pPr algn="l">
              <a:lnSpc>
                <a:spcPct val="115000"/>
              </a:lnSpc>
            </a:pPr>
            <a:r>
              <a:rPr sz="1400" b="0" i="0">
                <a:solidFill>
                  <a:srgbClr val="1A1A2E"/>
                </a:solidFill>
                <a:latin typeface="Barlow"/>
              </a:rPr>
              <a:t>Accueil de reprise, une minute, à deux : « quinze minutes, et vous saurez exactement où aller, avec qui, et ce qu’il y a à gagner. »</a:t>
            </a:r>
          </a:p>
        </p:txBody>
      </p:sp>
      <p:sp>
        <p:nvSpPr>
          <p:cNvPr id="16" name="TextBox 15"/>
          <p:cNvSpPr txBox="1"/>
          <p:nvPr/>
        </p:nvSpPr>
        <p:spPr>
          <a:xfrm>
            <a:off x="360000" y="3230465"/>
            <a:ext cx="187200" cy="490728"/>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7" name="TextBox 16"/>
          <p:cNvSpPr txBox="1"/>
          <p:nvPr/>
        </p:nvSpPr>
        <p:spPr>
          <a:xfrm>
            <a:off x="547200" y="3230465"/>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10 kiosques en même temps, 5 fois, rotations identiques.</a:t>
            </a:r>
          </a:p>
        </p:txBody>
      </p:sp>
      <p:sp>
        <p:nvSpPr>
          <p:cNvPr id="18" name="TextBox 17"/>
          <p:cNvSpPr txBox="1"/>
          <p:nvPr/>
        </p:nvSpPr>
        <p:spPr>
          <a:xfrm>
            <a:off x="360000" y="3800393"/>
            <a:ext cx="187200" cy="490728"/>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9" name="TextBox 18"/>
          <p:cNvSpPr txBox="1"/>
          <p:nvPr/>
        </p:nvSpPr>
        <p:spPr>
          <a:xfrm>
            <a:off x="547200" y="3800393"/>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30 minutes : 20 d’atelier, 5 de questions, 5 pour se déplacer.</a:t>
            </a:r>
          </a:p>
        </p:txBody>
      </p:sp>
      <p:sp>
        <p:nvSpPr>
          <p:cNvPr id="20" name="TextBox 19"/>
          <p:cNvSpPr txBox="1"/>
          <p:nvPr/>
        </p:nvSpPr>
        <p:spPr>
          <a:xfrm>
            <a:off x="360000" y="4370321"/>
            <a:ext cx="187200" cy="245364"/>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21" name="TextBox 20"/>
          <p:cNvSpPr txBox="1"/>
          <p:nvPr/>
        </p:nvSpPr>
        <p:spPr>
          <a:xfrm>
            <a:off x="547200" y="4370321"/>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Horaires : 14h00 · 14h30 · 15h00 · 15h30 · 16h00.</a:t>
            </a:r>
          </a:p>
        </p:txBody>
      </p:sp>
      <p:sp>
        <p:nvSpPr>
          <p:cNvPr id="22" name="Rectangle 21"/>
          <p:cNvSpPr/>
          <p:nvPr/>
        </p:nvSpPr>
        <p:spPr>
          <a:xfrm>
            <a:off x="360000" y="4694885"/>
            <a:ext cx="4626000" cy="7992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68000" y="4745285"/>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QUI DIT QUOI — RÉPARTITION CONVENUE AVEC ANAS</a:t>
            </a:r>
          </a:p>
        </p:txBody>
      </p:sp>
      <p:cxnSp>
        <p:nvCxnSpPr>
          <p:cNvPr id="24" name="Connector 23"/>
          <p:cNvCxnSpPr/>
          <p:nvPr/>
        </p:nvCxnSpPr>
        <p:spPr>
          <a:xfrm>
            <a:off x="468000" y="5134085"/>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8000" y="5393285"/>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13h44 · les dix pitches, en trois blocs.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3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13h44</a:t>
            </a:r>
          </a:p>
        </p:txBody>
      </p:sp>
      <p:sp>
        <p:nvSpPr>
          <p:cNvPr id="7" name="Rectangle 6"/>
          <p:cNvSpPr/>
          <p:nvPr/>
        </p:nvSpPr>
        <p:spPr>
          <a:xfrm>
            <a:off x="3330001" y="730800"/>
            <a:ext cx="1655999" cy="4860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13h49</a:t>
            </a:r>
          </a:p>
        </p:txBody>
      </p:sp>
      <p:sp>
        <p:nvSpPr>
          <p:cNvPr id="10" name="TextBox 9"/>
          <p:cNvSpPr txBox="1"/>
          <p:nvPr/>
        </p:nvSpPr>
        <p:spPr>
          <a:xfrm>
            <a:off x="360000" y="1296000"/>
            <a:ext cx="4626000" cy="590702"/>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Les dix pitches en trois blocs — tu prends le bloc 2</a:t>
            </a:r>
          </a:p>
        </p:txBody>
      </p:sp>
      <p:cxnSp>
        <p:nvCxnSpPr>
          <p:cNvPr id="11" name="Connector 10"/>
          <p:cNvCxnSpPr/>
          <p:nvPr/>
        </p:nvCxnSpPr>
        <p:spPr>
          <a:xfrm>
            <a:off x="360000" y="1937102"/>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2037902"/>
            <a:ext cx="4626000" cy="77114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Les dix kiosques ne se disent plus dans l’ordre 1 à 10. Trois blocs, un animateur par bloc, deux passages de micro dans toute la séquence au lieu de neuf. Le tableau est dans l’ordre où ça se dit ; tes kiosques sont en couleur.</a:t>
            </a:r>
          </a:p>
        </p:txBody>
      </p:sp>
      <p:sp>
        <p:nvSpPr>
          <p:cNvPr id="13" name="TextBox 12"/>
          <p:cNvSpPr txBox="1"/>
          <p:nvPr/>
        </p:nvSpPr>
        <p:spPr>
          <a:xfrm>
            <a:off x="360000" y="2881042"/>
            <a:ext cx="270000" cy="151200"/>
          </a:xfrm>
          <a:prstGeom prst="rect">
            <a:avLst/>
          </a:prstGeom>
          <a:noFill/>
        </p:spPr>
        <p:txBody>
          <a:bodyPr wrap="square" lIns="0" rIns="0" tIns="0" bIns="0">
            <a:spAutoFit/>
          </a:bodyPr>
          <a:lstStyle/>
          <a:p>
            <a:pPr algn="l">
              <a:lnSpc>
                <a:spcPct val="115000"/>
              </a:lnSpc>
            </a:pPr>
            <a:r>
              <a:rPr sz="950" b="1" i="0">
                <a:solidFill>
                  <a:srgbClr val="4A4A49"/>
                </a:solidFill>
                <a:latin typeface="Barlow Condensed"/>
              </a:rPr>
              <a:t>N°</a:t>
            </a:r>
          </a:p>
        </p:txBody>
      </p:sp>
      <p:sp>
        <p:nvSpPr>
          <p:cNvPr id="14" name="TextBox 13"/>
          <p:cNvSpPr txBox="1"/>
          <p:nvPr/>
        </p:nvSpPr>
        <p:spPr>
          <a:xfrm>
            <a:off x="687600" y="2881042"/>
            <a:ext cx="1770912" cy="151200"/>
          </a:xfrm>
          <a:prstGeom prst="rect">
            <a:avLst/>
          </a:prstGeom>
          <a:noFill/>
        </p:spPr>
        <p:txBody>
          <a:bodyPr wrap="square" lIns="0" rIns="0" tIns="0" bIns="0">
            <a:spAutoFit/>
          </a:bodyPr>
          <a:lstStyle/>
          <a:p>
            <a:pPr algn="l">
              <a:lnSpc>
                <a:spcPct val="115000"/>
              </a:lnSpc>
            </a:pPr>
            <a:r>
              <a:rPr sz="950" b="1" i="0">
                <a:solidFill>
                  <a:srgbClr val="4A4A49"/>
                </a:solidFill>
                <a:latin typeface="Barlow Condensed"/>
              </a:rPr>
              <a:t>KIOSQUE</a:t>
            </a:r>
          </a:p>
        </p:txBody>
      </p:sp>
      <p:sp>
        <p:nvSpPr>
          <p:cNvPr id="15" name="TextBox 14"/>
          <p:cNvSpPr txBox="1"/>
          <p:nvPr/>
        </p:nvSpPr>
        <p:spPr>
          <a:xfrm>
            <a:off x="2516112" y="2881042"/>
            <a:ext cx="990719" cy="151200"/>
          </a:xfrm>
          <a:prstGeom prst="rect">
            <a:avLst/>
          </a:prstGeom>
          <a:noFill/>
        </p:spPr>
        <p:txBody>
          <a:bodyPr wrap="square" lIns="0" rIns="0" tIns="0" bIns="0">
            <a:spAutoFit/>
          </a:bodyPr>
          <a:lstStyle/>
          <a:p>
            <a:pPr algn="l">
              <a:lnSpc>
                <a:spcPct val="115000"/>
              </a:lnSpc>
            </a:pPr>
            <a:r>
              <a:rPr sz="950" b="1" i="0">
                <a:solidFill>
                  <a:srgbClr val="4A4A49"/>
                </a:solidFill>
                <a:latin typeface="Barlow Condensed"/>
              </a:rPr>
              <a:t>SALLE</a:t>
            </a:r>
          </a:p>
        </p:txBody>
      </p:sp>
      <p:sp>
        <p:nvSpPr>
          <p:cNvPr id="16" name="TextBox 15"/>
          <p:cNvSpPr txBox="1"/>
          <p:nvPr/>
        </p:nvSpPr>
        <p:spPr>
          <a:xfrm>
            <a:off x="3564431" y="2881042"/>
            <a:ext cx="1176480" cy="151200"/>
          </a:xfrm>
          <a:prstGeom prst="rect">
            <a:avLst/>
          </a:prstGeom>
          <a:noFill/>
        </p:spPr>
        <p:txBody>
          <a:bodyPr wrap="square" lIns="0" rIns="0" tIns="0" bIns="0">
            <a:spAutoFit/>
          </a:bodyPr>
          <a:lstStyle/>
          <a:p>
            <a:pPr algn="l">
              <a:lnSpc>
                <a:spcPct val="115000"/>
              </a:lnSpc>
            </a:pPr>
            <a:r>
              <a:rPr sz="950" b="1" i="0">
                <a:solidFill>
                  <a:srgbClr val="4A4A49"/>
                </a:solidFill>
                <a:latin typeface="Barlow Condensed"/>
              </a:rPr>
              <a:t>PORTÉ PAR</a:t>
            </a:r>
          </a:p>
        </p:txBody>
      </p:sp>
      <p:cxnSp>
        <p:nvCxnSpPr>
          <p:cNvPr id="17" name="Connector 16"/>
          <p:cNvCxnSpPr/>
          <p:nvPr/>
        </p:nvCxnSpPr>
        <p:spPr>
          <a:xfrm>
            <a:off x="360000" y="3046642"/>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0000" y="30682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1</a:t>
            </a:r>
          </a:p>
        </p:txBody>
      </p:sp>
      <p:sp>
        <p:nvSpPr>
          <p:cNvPr id="19" name="TextBox 18"/>
          <p:cNvSpPr txBox="1"/>
          <p:nvPr/>
        </p:nvSpPr>
        <p:spPr>
          <a:xfrm>
            <a:off x="687600" y="30682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Ludopédagogie</a:t>
            </a:r>
          </a:p>
        </p:txBody>
      </p:sp>
      <p:sp>
        <p:nvSpPr>
          <p:cNvPr id="20" name="TextBox 19"/>
          <p:cNvSpPr txBox="1"/>
          <p:nvPr/>
        </p:nvSpPr>
        <p:spPr>
          <a:xfrm>
            <a:off x="2516112" y="30682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Wisla</a:t>
            </a:r>
          </a:p>
        </p:txBody>
      </p:sp>
      <p:sp>
        <p:nvSpPr>
          <p:cNvPr id="21" name="TextBox 20"/>
          <p:cNvSpPr txBox="1"/>
          <p:nvPr/>
        </p:nvSpPr>
        <p:spPr>
          <a:xfrm>
            <a:off x="3564431" y="30682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CRAN Quality Experts</a:t>
            </a:r>
          </a:p>
        </p:txBody>
      </p:sp>
      <p:sp>
        <p:nvSpPr>
          <p:cNvPr id="22" name="TextBox 21"/>
          <p:cNvSpPr txBox="1"/>
          <p:nvPr/>
        </p:nvSpPr>
        <p:spPr>
          <a:xfrm>
            <a:off x="360000" y="33058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5</a:t>
            </a:r>
          </a:p>
        </p:txBody>
      </p:sp>
      <p:sp>
        <p:nvSpPr>
          <p:cNvPr id="23" name="TextBox 22"/>
          <p:cNvSpPr txBox="1"/>
          <p:nvPr/>
        </p:nvSpPr>
        <p:spPr>
          <a:xfrm>
            <a:off x="687600" y="33058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Bâtisseurs de pyramides</a:t>
            </a:r>
          </a:p>
        </p:txBody>
      </p:sp>
      <p:sp>
        <p:nvSpPr>
          <p:cNvPr id="24" name="TextBox 23"/>
          <p:cNvSpPr txBox="1"/>
          <p:nvPr/>
        </p:nvSpPr>
        <p:spPr>
          <a:xfrm>
            <a:off x="2516112" y="33058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Rhône</a:t>
            </a:r>
          </a:p>
        </p:txBody>
      </p:sp>
      <p:sp>
        <p:nvSpPr>
          <p:cNvPr id="25" name="TextBox 24"/>
          <p:cNvSpPr txBox="1"/>
          <p:nvPr/>
        </p:nvSpPr>
        <p:spPr>
          <a:xfrm>
            <a:off x="3564431" y="33058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a:t>
            </a:r>
          </a:p>
        </p:txBody>
      </p:sp>
      <p:sp>
        <p:nvSpPr>
          <p:cNvPr id="26" name="TextBox 25"/>
          <p:cNvSpPr txBox="1"/>
          <p:nvPr/>
        </p:nvSpPr>
        <p:spPr>
          <a:xfrm>
            <a:off x="360000" y="35434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10</a:t>
            </a:r>
          </a:p>
        </p:txBody>
      </p:sp>
      <p:sp>
        <p:nvSpPr>
          <p:cNvPr id="27" name="TextBox 26"/>
          <p:cNvSpPr txBox="1"/>
          <p:nvPr/>
        </p:nvSpPr>
        <p:spPr>
          <a:xfrm>
            <a:off x="687600" y="35434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Mini-Série TESTY</a:t>
            </a:r>
          </a:p>
        </p:txBody>
      </p:sp>
      <p:sp>
        <p:nvSpPr>
          <p:cNvPr id="28" name="TextBox 27"/>
          <p:cNvSpPr txBox="1"/>
          <p:nvPr/>
        </p:nvSpPr>
        <p:spPr>
          <a:xfrm>
            <a:off x="2516112" y="35434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Sumida + Alzette</a:t>
            </a:r>
          </a:p>
        </p:txBody>
      </p:sp>
      <p:sp>
        <p:nvSpPr>
          <p:cNvPr id="29" name="TextBox 28"/>
          <p:cNvSpPr txBox="1"/>
          <p:nvPr/>
        </p:nvSpPr>
        <p:spPr>
          <a:xfrm>
            <a:off x="3564431" y="35434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a:t>
            </a:r>
          </a:p>
        </p:txBody>
      </p:sp>
      <p:sp>
        <p:nvSpPr>
          <p:cNvPr id="30" name="TextBox 29"/>
          <p:cNvSpPr txBox="1"/>
          <p:nvPr/>
        </p:nvSpPr>
        <p:spPr>
          <a:xfrm>
            <a:off x="360000" y="3781042"/>
            <a:ext cx="270000" cy="198000"/>
          </a:xfrm>
          <a:prstGeom prst="rect">
            <a:avLst/>
          </a:prstGeom>
          <a:noFill/>
        </p:spPr>
        <p:txBody>
          <a:bodyPr wrap="square" lIns="0" rIns="0" tIns="0" bIns="0">
            <a:spAutoFit/>
          </a:bodyPr>
          <a:lstStyle/>
          <a:p>
            <a:pPr algn="l">
              <a:lnSpc>
                <a:spcPct val="115000"/>
              </a:lnSpc>
            </a:pPr>
            <a:r>
              <a:rPr sz="1300" b="1" i="0">
                <a:solidFill>
                  <a:srgbClr val="006B4F"/>
                </a:solidFill>
                <a:latin typeface="Barlow Condensed"/>
              </a:rPr>
              <a:t>4</a:t>
            </a:r>
          </a:p>
        </p:txBody>
      </p:sp>
      <p:sp>
        <p:nvSpPr>
          <p:cNvPr id="31" name="TextBox 30"/>
          <p:cNvSpPr txBox="1"/>
          <p:nvPr/>
        </p:nvSpPr>
        <p:spPr>
          <a:xfrm>
            <a:off x="687600" y="37810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Yest Companion</a:t>
            </a:r>
          </a:p>
        </p:txBody>
      </p:sp>
      <p:sp>
        <p:nvSpPr>
          <p:cNvPr id="32" name="TextBox 31"/>
          <p:cNvSpPr txBox="1"/>
          <p:nvPr/>
        </p:nvSpPr>
        <p:spPr>
          <a:xfrm>
            <a:off x="2516112" y="37810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Douro</a:t>
            </a:r>
          </a:p>
        </p:txBody>
      </p:sp>
      <p:sp>
        <p:nvSpPr>
          <p:cNvPr id="33" name="TextBox 32"/>
          <p:cNvSpPr txBox="1"/>
          <p:nvPr/>
        </p:nvSpPr>
        <p:spPr>
          <a:xfrm>
            <a:off x="3564431" y="37810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Smartesting</a:t>
            </a:r>
          </a:p>
        </p:txBody>
      </p:sp>
      <p:sp>
        <p:nvSpPr>
          <p:cNvPr id="34" name="TextBox 33"/>
          <p:cNvSpPr txBox="1"/>
          <p:nvPr/>
        </p:nvSpPr>
        <p:spPr>
          <a:xfrm>
            <a:off x="360000" y="4018642"/>
            <a:ext cx="270000" cy="198000"/>
          </a:xfrm>
          <a:prstGeom prst="rect">
            <a:avLst/>
          </a:prstGeom>
          <a:noFill/>
        </p:spPr>
        <p:txBody>
          <a:bodyPr wrap="square" lIns="0" rIns="0" tIns="0" bIns="0">
            <a:spAutoFit/>
          </a:bodyPr>
          <a:lstStyle/>
          <a:p>
            <a:pPr algn="l">
              <a:lnSpc>
                <a:spcPct val="115000"/>
              </a:lnSpc>
            </a:pPr>
            <a:r>
              <a:rPr sz="1300" b="1" i="0">
                <a:solidFill>
                  <a:srgbClr val="006B4F"/>
                </a:solidFill>
                <a:latin typeface="Barlow Condensed"/>
              </a:rPr>
              <a:t>7</a:t>
            </a:r>
          </a:p>
        </p:txBody>
      </p:sp>
      <p:sp>
        <p:nvSpPr>
          <p:cNvPr id="35" name="TextBox 34"/>
          <p:cNvSpPr txBox="1"/>
          <p:nvPr/>
        </p:nvSpPr>
        <p:spPr>
          <a:xfrm>
            <a:off x="687600" y="40186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SDSI Test &amp; IA</a:t>
            </a:r>
          </a:p>
        </p:txBody>
      </p:sp>
      <p:sp>
        <p:nvSpPr>
          <p:cNvPr id="36" name="TextBox 35"/>
          <p:cNvSpPr txBox="1"/>
          <p:nvPr/>
        </p:nvSpPr>
        <p:spPr>
          <a:xfrm>
            <a:off x="2516112" y="40186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Adige</a:t>
            </a:r>
          </a:p>
        </p:txBody>
      </p:sp>
      <p:sp>
        <p:nvSpPr>
          <p:cNvPr id="37" name="TextBox 36"/>
          <p:cNvSpPr txBox="1"/>
          <p:nvPr/>
        </p:nvSpPr>
        <p:spPr>
          <a:xfrm>
            <a:off x="3564431" y="40186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 · DF Dommages</a:t>
            </a:r>
          </a:p>
        </p:txBody>
      </p:sp>
      <p:sp>
        <p:nvSpPr>
          <p:cNvPr id="38" name="TextBox 37"/>
          <p:cNvSpPr txBox="1"/>
          <p:nvPr/>
        </p:nvSpPr>
        <p:spPr>
          <a:xfrm>
            <a:off x="360000" y="4256242"/>
            <a:ext cx="270000" cy="198000"/>
          </a:xfrm>
          <a:prstGeom prst="rect">
            <a:avLst/>
          </a:prstGeom>
          <a:noFill/>
        </p:spPr>
        <p:txBody>
          <a:bodyPr wrap="square" lIns="0" rIns="0" tIns="0" bIns="0">
            <a:spAutoFit/>
          </a:bodyPr>
          <a:lstStyle/>
          <a:p>
            <a:pPr algn="l">
              <a:lnSpc>
                <a:spcPct val="115000"/>
              </a:lnSpc>
            </a:pPr>
            <a:r>
              <a:rPr sz="1300" b="1" i="0">
                <a:solidFill>
                  <a:srgbClr val="006B4F"/>
                </a:solidFill>
                <a:latin typeface="Barlow Condensed"/>
              </a:rPr>
              <a:t>3</a:t>
            </a:r>
          </a:p>
        </p:txBody>
      </p:sp>
      <p:sp>
        <p:nvSpPr>
          <p:cNvPr id="39" name="TextBox 38"/>
          <p:cNvSpPr txBox="1"/>
          <p:nvPr/>
        </p:nvSpPr>
        <p:spPr>
          <a:xfrm>
            <a:off x="687600" y="42562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Écosystème d'agents IA</a:t>
            </a:r>
          </a:p>
        </p:txBody>
      </p:sp>
      <p:sp>
        <p:nvSpPr>
          <p:cNvPr id="40" name="TextBox 39"/>
          <p:cNvSpPr txBox="1"/>
          <p:nvPr/>
        </p:nvSpPr>
        <p:spPr>
          <a:xfrm>
            <a:off x="2516112" y="42562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Liffey</a:t>
            </a:r>
          </a:p>
        </p:txBody>
      </p:sp>
      <p:sp>
        <p:nvSpPr>
          <p:cNvPr id="41" name="TextBox 40"/>
          <p:cNvSpPr txBox="1"/>
          <p:nvPr/>
        </p:nvSpPr>
        <p:spPr>
          <a:xfrm>
            <a:off x="3564431" y="42562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a:t>
            </a:r>
          </a:p>
        </p:txBody>
      </p:sp>
      <p:sp>
        <p:nvSpPr>
          <p:cNvPr id="42" name="TextBox 41"/>
          <p:cNvSpPr txBox="1"/>
          <p:nvPr/>
        </p:nvSpPr>
        <p:spPr>
          <a:xfrm>
            <a:off x="360000" y="4493842"/>
            <a:ext cx="270000" cy="198000"/>
          </a:xfrm>
          <a:prstGeom prst="rect">
            <a:avLst/>
          </a:prstGeom>
          <a:noFill/>
        </p:spPr>
        <p:txBody>
          <a:bodyPr wrap="square" lIns="0" rIns="0" tIns="0" bIns="0">
            <a:spAutoFit/>
          </a:bodyPr>
          <a:lstStyle/>
          <a:p>
            <a:pPr algn="l">
              <a:lnSpc>
                <a:spcPct val="115000"/>
              </a:lnSpc>
            </a:pPr>
            <a:r>
              <a:rPr sz="1300" b="1" i="0">
                <a:solidFill>
                  <a:srgbClr val="006B4F"/>
                </a:solidFill>
                <a:latin typeface="Barlow Condensed"/>
              </a:rPr>
              <a:t>2</a:t>
            </a:r>
          </a:p>
        </p:txBody>
      </p:sp>
      <p:sp>
        <p:nvSpPr>
          <p:cNvPr id="43" name="TextBox 42"/>
          <p:cNvSpPr txBox="1"/>
          <p:nvPr/>
        </p:nvSpPr>
        <p:spPr>
          <a:xfrm>
            <a:off x="687600" y="4493842"/>
            <a:ext cx="1770912" cy="198000"/>
          </a:xfrm>
          <a:prstGeom prst="rect">
            <a:avLst/>
          </a:prstGeom>
          <a:noFill/>
        </p:spPr>
        <p:txBody>
          <a:bodyPr wrap="square" lIns="0" rIns="0" tIns="0" bIns="0">
            <a:spAutoFit/>
          </a:bodyPr>
          <a:lstStyle/>
          <a:p>
            <a:pPr algn="l">
              <a:lnSpc>
                <a:spcPct val="115000"/>
              </a:lnSpc>
            </a:pPr>
            <a:r>
              <a:rPr sz="1100" b="0" i="0">
                <a:solidFill>
                  <a:srgbClr val="1A1A2E"/>
                </a:solidFill>
                <a:latin typeface="Barlow"/>
              </a:rPr>
              <a:t>LynQA</a:t>
            </a:r>
          </a:p>
        </p:txBody>
      </p:sp>
      <p:sp>
        <p:nvSpPr>
          <p:cNvPr id="44" name="TextBox 43"/>
          <p:cNvSpPr txBox="1"/>
          <p:nvPr/>
        </p:nvSpPr>
        <p:spPr>
          <a:xfrm>
            <a:off x="2516112" y="4493842"/>
            <a:ext cx="990719" cy="198000"/>
          </a:xfrm>
          <a:prstGeom prst="rect">
            <a:avLst/>
          </a:prstGeom>
          <a:noFill/>
        </p:spPr>
        <p:txBody>
          <a:bodyPr wrap="square" lIns="0" rIns="0" tIns="0" bIns="0">
            <a:spAutoFit/>
          </a:bodyPr>
          <a:lstStyle/>
          <a:p>
            <a:pPr algn="l">
              <a:lnSpc>
                <a:spcPct val="115000"/>
              </a:lnSpc>
            </a:pPr>
            <a:r>
              <a:rPr sz="1000" b="1" i="0">
                <a:solidFill>
                  <a:srgbClr val="1A1A2E"/>
                </a:solidFill>
                <a:latin typeface="Barlow"/>
              </a:rPr>
              <a:t>Donau</a:t>
            </a:r>
          </a:p>
        </p:txBody>
      </p:sp>
      <p:sp>
        <p:nvSpPr>
          <p:cNvPr id="45" name="TextBox 44"/>
          <p:cNvSpPr txBox="1"/>
          <p:nvPr/>
        </p:nvSpPr>
        <p:spPr>
          <a:xfrm>
            <a:off x="3564431" y="44938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Smartesting</a:t>
            </a:r>
          </a:p>
        </p:txBody>
      </p:sp>
      <p:sp>
        <p:nvSpPr>
          <p:cNvPr id="46" name="TextBox 45"/>
          <p:cNvSpPr txBox="1"/>
          <p:nvPr/>
        </p:nvSpPr>
        <p:spPr>
          <a:xfrm>
            <a:off x="360000" y="47314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6</a:t>
            </a:r>
          </a:p>
        </p:txBody>
      </p:sp>
      <p:sp>
        <p:nvSpPr>
          <p:cNvPr id="47" name="TextBox 46"/>
          <p:cNvSpPr txBox="1"/>
          <p:nvPr/>
        </p:nvSpPr>
        <p:spPr>
          <a:xfrm>
            <a:off x="687600" y="47314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Référentiel de tests X-Ray</a:t>
            </a:r>
          </a:p>
        </p:txBody>
      </p:sp>
      <p:sp>
        <p:nvSpPr>
          <p:cNvPr id="48" name="TextBox 47"/>
          <p:cNvSpPr txBox="1"/>
          <p:nvPr/>
        </p:nvSpPr>
        <p:spPr>
          <a:xfrm>
            <a:off x="2516112" y="47314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Tajo</a:t>
            </a:r>
          </a:p>
        </p:txBody>
      </p:sp>
      <p:sp>
        <p:nvSpPr>
          <p:cNvPr id="49" name="TextBox 48"/>
          <p:cNvSpPr txBox="1"/>
          <p:nvPr/>
        </p:nvSpPr>
        <p:spPr>
          <a:xfrm>
            <a:off x="3564431" y="47314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OPEN · TFC</a:t>
            </a:r>
          </a:p>
        </p:txBody>
      </p:sp>
      <p:sp>
        <p:nvSpPr>
          <p:cNvPr id="50" name="TextBox 49"/>
          <p:cNvSpPr txBox="1"/>
          <p:nvPr/>
        </p:nvSpPr>
        <p:spPr>
          <a:xfrm>
            <a:off x="360000" y="49690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8</a:t>
            </a:r>
          </a:p>
        </p:txBody>
      </p:sp>
      <p:sp>
        <p:nvSpPr>
          <p:cNvPr id="51" name="TextBox 50"/>
          <p:cNvSpPr txBox="1"/>
          <p:nvPr/>
        </p:nvSpPr>
        <p:spPr>
          <a:xfrm>
            <a:off x="687600" y="49690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JADD</a:t>
            </a:r>
          </a:p>
        </p:txBody>
      </p:sp>
      <p:sp>
        <p:nvSpPr>
          <p:cNvPr id="52" name="TextBox 51"/>
          <p:cNvSpPr txBox="1"/>
          <p:nvPr/>
        </p:nvSpPr>
        <p:spPr>
          <a:xfrm>
            <a:off x="2516112" y="49690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Loire</a:t>
            </a:r>
          </a:p>
        </p:txBody>
      </p:sp>
      <p:sp>
        <p:nvSpPr>
          <p:cNvPr id="53" name="TextBox 52"/>
          <p:cNvSpPr txBox="1"/>
          <p:nvPr/>
        </p:nvSpPr>
        <p:spPr>
          <a:xfrm>
            <a:off x="3564431" y="49690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 · MCAD</a:t>
            </a:r>
          </a:p>
        </p:txBody>
      </p:sp>
      <p:sp>
        <p:nvSpPr>
          <p:cNvPr id="54" name="TextBox 53"/>
          <p:cNvSpPr txBox="1"/>
          <p:nvPr/>
        </p:nvSpPr>
        <p:spPr>
          <a:xfrm>
            <a:off x="360000" y="5206642"/>
            <a:ext cx="270000" cy="198000"/>
          </a:xfrm>
          <a:prstGeom prst="rect">
            <a:avLst/>
          </a:prstGeom>
          <a:noFill/>
        </p:spPr>
        <p:txBody>
          <a:bodyPr wrap="square" lIns="0" rIns="0" tIns="0" bIns="0">
            <a:spAutoFit/>
          </a:bodyPr>
          <a:lstStyle/>
          <a:p>
            <a:pPr algn="l">
              <a:lnSpc>
                <a:spcPct val="115000"/>
              </a:lnSpc>
            </a:pPr>
            <a:r>
              <a:rPr sz="1300" b="1" i="0">
                <a:solidFill>
                  <a:srgbClr val="4A4A49"/>
                </a:solidFill>
                <a:latin typeface="Barlow Condensed"/>
              </a:rPr>
              <a:t>9</a:t>
            </a:r>
          </a:p>
        </p:txBody>
      </p:sp>
      <p:sp>
        <p:nvSpPr>
          <p:cNvPr id="55" name="TextBox 54"/>
          <p:cNvSpPr txBox="1"/>
          <p:nvPr/>
        </p:nvSpPr>
        <p:spPr>
          <a:xfrm>
            <a:off x="687600" y="5206642"/>
            <a:ext cx="1770912" cy="19800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SauceLabs</a:t>
            </a:r>
          </a:p>
        </p:txBody>
      </p:sp>
      <p:sp>
        <p:nvSpPr>
          <p:cNvPr id="56" name="TextBox 55"/>
          <p:cNvSpPr txBox="1"/>
          <p:nvPr/>
        </p:nvSpPr>
        <p:spPr>
          <a:xfrm>
            <a:off x="2516112" y="5206642"/>
            <a:ext cx="990719" cy="198000"/>
          </a:xfrm>
          <a:prstGeom prst="rect">
            <a:avLst/>
          </a:prstGeom>
          <a:noFill/>
        </p:spPr>
        <p:txBody>
          <a:bodyPr wrap="square" lIns="0" rIns="0" tIns="0" bIns="0">
            <a:spAutoFit/>
          </a:bodyPr>
          <a:lstStyle/>
          <a:p>
            <a:pPr algn="l">
              <a:lnSpc>
                <a:spcPct val="115000"/>
              </a:lnSpc>
            </a:pPr>
            <a:r>
              <a:rPr sz="1000" b="0" i="0">
                <a:solidFill>
                  <a:srgbClr val="4A4A49"/>
                </a:solidFill>
                <a:latin typeface="Barlow"/>
              </a:rPr>
              <a:t>Moselle</a:t>
            </a:r>
          </a:p>
        </p:txBody>
      </p:sp>
      <p:sp>
        <p:nvSpPr>
          <p:cNvPr id="57" name="TextBox 56"/>
          <p:cNvSpPr txBox="1"/>
          <p:nvPr/>
        </p:nvSpPr>
        <p:spPr>
          <a:xfrm>
            <a:off x="3564431" y="5206642"/>
            <a:ext cx="1176480" cy="198000"/>
          </a:xfrm>
          <a:prstGeom prst="rect">
            <a:avLst/>
          </a:prstGeom>
          <a:noFill/>
        </p:spPr>
        <p:txBody>
          <a:bodyPr wrap="square" lIns="0" rIns="0" tIns="0" bIns="0">
            <a:spAutoFit/>
          </a:bodyPr>
          <a:lstStyle/>
          <a:p>
            <a:pPr algn="l">
              <a:lnSpc>
                <a:spcPct val="115000"/>
              </a:lnSpc>
            </a:pPr>
            <a:r>
              <a:rPr sz="950" b="0" i="0">
                <a:solidFill>
                  <a:srgbClr val="4A4A49"/>
                </a:solidFill>
                <a:latin typeface="Barlow"/>
              </a:rPr>
              <a:t>TFC · DF Dommages</a:t>
            </a:r>
          </a:p>
        </p:txBody>
      </p:sp>
      <p:sp>
        <p:nvSpPr>
          <p:cNvPr id="58" name="TextBox 57"/>
          <p:cNvSpPr txBox="1"/>
          <p:nvPr/>
        </p:nvSpPr>
        <p:spPr>
          <a:xfrm>
            <a:off x="360000" y="5530642"/>
            <a:ext cx="4626000" cy="385570"/>
          </a:xfrm>
          <a:prstGeom prst="rect">
            <a:avLst/>
          </a:prstGeom>
          <a:noFill/>
        </p:spPr>
        <p:txBody>
          <a:bodyPr wrap="square" lIns="0" rIns="0" tIns="0" bIns="0">
            <a:spAutoFit/>
          </a:bodyPr>
          <a:lstStyle/>
          <a:p>
            <a:pPr algn="l">
              <a:lnSpc>
                <a:spcPct val="115000"/>
              </a:lnSpc>
            </a:pPr>
            <a:r>
              <a:rPr sz="1100" b="0" i="0">
                <a:solidFill>
                  <a:srgbClr val="4A4A49"/>
                </a:solidFill>
                <a:latin typeface="Barlow"/>
              </a:rPr>
              <a:t>Une carte par bloc, tenue en scène. Une carte de préparation par kiosque en fin de jeu, à lire la veille.</a:t>
            </a:r>
          </a:p>
        </p:txBody>
      </p:sp>
      <p:sp>
        <p:nvSpPr>
          <p:cNvPr id="59" name="TextBox 58"/>
          <p:cNvSpPr txBox="1"/>
          <p:nvPr/>
        </p:nvSpPr>
        <p:spPr>
          <a:xfrm>
            <a:off x="360000" y="5988212"/>
            <a:ext cx="4626000" cy="57835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Si ça déborde après 13h50 : le rappel des salles passe de 2 min à 1 min et le tirage se dit debout, sans slide. La dispersion de 13h55 ne se sacrifie jamais.</a:t>
            </a:r>
          </a:p>
        </p:txBody>
      </p:sp>
      <p:cxnSp>
        <p:nvCxnSpPr>
          <p:cNvPr id="60" name="Connector 59"/>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Anas ouvre avec le bloc 1 ; ta carte est celle du bloc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4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Bloc 2</a:t>
            </a:r>
          </a:p>
        </p:txBody>
      </p:sp>
      <p:sp>
        <p:nvSpPr>
          <p:cNvPr id="7" name="Rectangle 6"/>
          <p:cNvSpPr/>
          <p:nvPr/>
        </p:nvSpPr>
        <p:spPr>
          <a:xfrm>
            <a:off x="3330001" y="730800"/>
            <a:ext cx="1655999" cy="4860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TENIR</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 min 50</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L’IA dans vos tests — 4 kiosques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000" y="1742551"/>
            <a:ext cx="4626000" cy="688752"/>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60000" y="1742551"/>
            <a:ext cx="43200" cy="688752"/>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0000" y="1821751"/>
            <a:ext cx="4266000" cy="530352"/>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Quatre démos, de l’US au test exécuté. Les quatre tiennent dans vos cinq créneaux. »</a:t>
            </a:r>
          </a:p>
        </p:txBody>
      </p:sp>
      <p:sp>
        <p:nvSpPr>
          <p:cNvPr id="15" name="TextBox 14"/>
          <p:cNvSpPr txBox="1"/>
          <p:nvPr/>
        </p:nvSpPr>
        <p:spPr>
          <a:xfrm>
            <a:off x="360000" y="2524903"/>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Pour chacun : nomme les porteurs, fais-leur lever la main.</a:t>
            </a:r>
          </a:p>
        </p:txBody>
      </p:sp>
      <p:sp>
        <p:nvSpPr>
          <p:cNvPr id="16" name="Rectangle 15"/>
          <p:cNvSpPr/>
          <p:nvPr/>
        </p:nvSpPr>
        <p:spPr>
          <a:xfrm>
            <a:off x="360000" y="2789688"/>
            <a:ext cx="32400" cy="84783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2000" y="2789688"/>
            <a:ext cx="4464000" cy="210311"/>
          </a:xfrm>
          <a:prstGeom prst="rect">
            <a:avLst/>
          </a:prstGeom>
          <a:noFill/>
        </p:spPr>
        <p:txBody>
          <a:bodyPr wrap="square" lIns="0" rIns="0" tIns="0" bIns="0">
            <a:spAutoFit/>
          </a:bodyPr>
          <a:lstStyle/>
          <a:p>
            <a:pPr algn="l">
              <a:lnSpc>
                <a:spcPct val="115000"/>
              </a:lnSpc>
            </a:pPr>
            <a:r>
              <a:rPr sz="1200" b="1" i="0">
                <a:solidFill>
                  <a:srgbClr val="006B4F"/>
                </a:solidFill>
                <a:latin typeface="Barlow Condensed"/>
              </a:rPr>
              <a:t>4 · Douro — Yest Companion</a:t>
            </a:r>
          </a:p>
        </p:txBody>
      </p:sp>
      <p:sp>
        <p:nvSpPr>
          <p:cNvPr id="18" name="TextBox 17"/>
          <p:cNvSpPr txBox="1"/>
          <p:nvPr/>
        </p:nvSpPr>
        <p:spPr>
          <a:xfrm>
            <a:off x="522000" y="3028799"/>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De la page blanche à la mise à jour : l'IA propose les parcours à partir de vos US Jira/Confluence, vous validez.</a:t>
            </a:r>
          </a:p>
        </p:txBody>
      </p:sp>
      <p:sp>
        <p:nvSpPr>
          <p:cNvPr id="19" name="TextBox 18"/>
          <p:cNvSpPr txBox="1"/>
          <p:nvPr/>
        </p:nvSpPr>
        <p:spPr>
          <a:xfrm>
            <a:off x="522000" y="3471021"/>
            <a:ext cx="4464000" cy="166497"/>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Smartesting · Arnaud BOUZY.</a:t>
            </a:r>
          </a:p>
        </p:txBody>
      </p:sp>
      <p:sp>
        <p:nvSpPr>
          <p:cNvPr id="20" name="Rectangle 19"/>
          <p:cNvSpPr/>
          <p:nvPr/>
        </p:nvSpPr>
        <p:spPr>
          <a:xfrm>
            <a:off x="360000" y="3716718"/>
            <a:ext cx="32400" cy="1014327"/>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2000" y="3716718"/>
            <a:ext cx="4464000" cy="210311"/>
          </a:xfrm>
          <a:prstGeom prst="rect">
            <a:avLst/>
          </a:prstGeom>
          <a:noFill/>
        </p:spPr>
        <p:txBody>
          <a:bodyPr wrap="square" lIns="0" rIns="0" tIns="0" bIns="0">
            <a:spAutoFit/>
          </a:bodyPr>
          <a:lstStyle/>
          <a:p>
            <a:pPr algn="l">
              <a:lnSpc>
                <a:spcPct val="115000"/>
              </a:lnSpc>
            </a:pPr>
            <a:r>
              <a:rPr sz="1200" b="1" i="0">
                <a:solidFill>
                  <a:srgbClr val="006B4F"/>
                </a:solidFill>
                <a:latin typeface="Barlow Condensed"/>
              </a:rPr>
              <a:t>7 · Adige — SDSI Test &amp; IA</a:t>
            </a:r>
          </a:p>
        </p:txBody>
      </p:sp>
      <p:sp>
        <p:nvSpPr>
          <p:cNvPr id="22" name="TextBox 21"/>
          <p:cNvSpPr txBox="1"/>
          <p:nvPr/>
        </p:nvSpPr>
        <p:spPr>
          <a:xfrm>
            <a:off x="522000" y="3955829"/>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IACA &amp; IACT : deux agents IA pour générer critères d'acceptance et cas de test directement depuis vos US.</a:t>
            </a:r>
          </a:p>
        </p:txBody>
      </p:sp>
      <p:sp>
        <p:nvSpPr>
          <p:cNvPr id="23" name="TextBox 22"/>
          <p:cNvSpPr txBox="1"/>
          <p:nvPr/>
        </p:nvSpPr>
        <p:spPr>
          <a:xfrm>
            <a:off x="522000" y="4398051"/>
            <a:ext cx="4464000" cy="332994"/>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TFC · Donatien REVEAU et Elodie TORDJMAN / DF Dommages · Vamé SYLLA.</a:t>
            </a:r>
          </a:p>
        </p:txBody>
      </p:sp>
      <p:sp>
        <p:nvSpPr>
          <p:cNvPr id="24" name="Rectangle 23"/>
          <p:cNvSpPr/>
          <p:nvPr/>
        </p:nvSpPr>
        <p:spPr>
          <a:xfrm>
            <a:off x="360000" y="4810245"/>
            <a:ext cx="32400" cy="84783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22000" y="4810245"/>
            <a:ext cx="4464000" cy="210311"/>
          </a:xfrm>
          <a:prstGeom prst="rect">
            <a:avLst/>
          </a:prstGeom>
          <a:noFill/>
        </p:spPr>
        <p:txBody>
          <a:bodyPr wrap="square" lIns="0" rIns="0" tIns="0" bIns="0">
            <a:spAutoFit/>
          </a:bodyPr>
          <a:lstStyle/>
          <a:p>
            <a:pPr algn="l">
              <a:lnSpc>
                <a:spcPct val="115000"/>
              </a:lnSpc>
            </a:pPr>
            <a:r>
              <a:rPr sz="1200" b="1" i="0">
                <a:solidFill>
                  <a:srgbClr val="006B4F"/>
                </a:solidFill>
                <a:latin typeface="Barlow Condensed"/>
              </a:rPr>
              <a:t>3 · Liffey — Écosystème d'agents IA</a:t>
            </a:r>
          </a:p>
        </p:txBody>
      </p:sp>
      <p:sp>
        <p:nvSpPr>
          <p:cNvPr id="26" name="TextBox 25"/>
          <p:cNvSpPr txBox="1"/>
          <p:nvPr/>
        </p:nvSpPr>
        <p:spPr>
          <a:xfrm>
            <a:off x="522000" y="5049356"/>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Coder, Tester, Automatiser… 3 agents IA, une chaîne de production de test automatisé !</a:t>
            </a:r>
          </a:p>
        </p:txBody>
      </p:sp>
      <p:sp>
        <p:nvSpPr>
          <p:cNvPr id="27" name="TextBox 26"/>
          <p:cNvSpPr txBox="1"/>
          <p:nvPr/>
        </p:nvSpPr>
        <p:spPr>
          <a:xfrm>
            <a:off x="522000" y="5491578"/>
            <a:ext cx="4464000" cy="166497"/>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TFC · Jérémy DELAUX.</a:t>
            </a:r>
          </a:p>
        </p:txBody>
      </p:sp>
      <p:sp>
        <p:nvSpPr>
          <p:cNvPr id="28" name="Rectangle 27"/>
          <p:cNvSpPr/>
          <p:nvPr/>
        </p:nvSpPr>
        <p:spPr>
          <a:xfrm>
            <a:off x="360000" y="5737275"/>
            <a:ext cx="32400" cy="84783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22000" y="5737275"/>
            <a:ext cx="4464000" cy="210311"/>
          </a:xfrm>
          <a:prstGeom prst="rect">
            <a:avLst/>
          </a:prstGeom>
          <a:noFill/>
        </p:spPr>
        <p:txBody>
          <a:bodyPr wrap="square" lIns="0" rIns="0" tIns="0" bIns="0">
            <a:spAutoFit/>
          </a:bodyPr>
          <a:lstStyle/>
          <a:p>
            <a:pPr algn="l">
              <a:lnSpc>
                <a:spcPct val="115000"/>
              </a:lnSpc>
            </a:pPr>
            <a:r>
              <a:rPr sz="1200" b="1" i="0">
                <a:solidFill>
                  <a:srgbClr val="006B4F"/>
                </a:solidFill>
                <a:latin typeface="Barlow Condensed"/>
              </a:rPr>
              <a:t>2 · Donau — LynQA</a:t>
            </a:r>
          </a:p>
        </p:txBody>
      </p:sp>
      <p:sp>
        <p:nvSpPr>
          <p:cNvPr id="30" name="TextBox 29"/>
          <p:cNvSpPr txBox="1"/>
          <p:nvPr/>
        </p:nvSpPr>
        <p:spPr>
          <a:xfrm>
            <a:off x="522000" y="5976386"/>
            <a:ext cx="4464000" cy="420622"/>
          </a:xfrm>
          <a:prstGeom prst="rect">
            <a:avLst/>
          </a:prstGeom>
          <a:noFill/>
        </p:spPr>
        <p:txBody>
          <a:bodyPr wrap="square" lIns="0" rIns="0" tIns="0" bIns="0">
            <a:spAutoFit/>
          </a:bodyPr>
          <a:lstStyle/>
          <a:p>
            <a:pPr algn="l">
              <a:lnSpc>
                <a:spcPct val="120000"/>
              </a:lnSpc>
            </a:pPr>
            <a:r>
              <a:rPr sz="1150" b="0" i="0">
                <a:solidFill>
                  <a:srgbClr val="1A1A2E"/>
                </a:solidFill>
                <a:latin typeface="Barlow"/>
              </a:rPr>
              <a:t>L'agent IA qui exécute vos tests manuels pendant que vous dormez — sans scripting, sans restructuration.</a:t>
            </a:r>
          </a:p>
        </p:txBody>
      </p:sp>
      <p:sp>
        <p:nvSpPr>
          <p:cNvPr id="31" name="TextBox 30"/>
          <p:cNvSpPr txBox="1"/>
          <p:nvPr/>
        </p:nvSpPr>
        <p:spPr>
          <a:xfrm>
            <a:off x="522000" y="6418608"/>
            <a:ext cx="4464000" cy="166497"/>
          </a:xfrm>
          <a:prstGeom prst="rect">
            <a:avLst/>
          </a:prstGeom>
          <a:noFill/>
        </p:spPr>
        <p:txBody>
          <a:bodyPr wrap="square" lIns="0" rIns="0" tIns="0" bIns="0">
            <a:spAutoFit/>
          </a:bodyPr>
          <a:lstStyle/>
          <a:p>
            <a:pPr algn="l">
              <a:lnSpc>
                <a:spcPct val="115000"/>
              </a:lnSpc>
            </a:pPr>
            <a:r>
              <a:rPr sz="950" b="0" i="0">
                <a:solidFill>
                  <a:srgbClr val="4A4A49"/>
                </a:solidFill>
                <a:latin typeface="Barlow"/>
              </a:rPr>
              <a:t>Porté par Smartesting · Fabien NICOLET et Michel GUEZ.</a:t>
            </a:r>
          </a:p>
        </p:txBody>
      </p:sp>
      <p:cxnSp>
        <p:nvCxnSpPr>
          <p:cNvPr id="32" name="Connector 31"/>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Anas reprend le micro pour le bloc 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5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4</a:t>
            </a:r>
          </a:p>
        </p:txBody>
      </p:sp>
      <p:sp>
        <p:nvSpPr>
          <p:cNvPr id="7" name="Rectangle 6"/>
          <p:cNvSpPr/>
          <p:nvPr/>
        </p:nvSpPr>
        <p:spPr>
          <a:xfrm>
            <a:off x="3330001" y="730800"/>
            <a:ext cx="1655999" cy="4860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Douro</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Yest Companion</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3" name="TextBox 12"/>
          <p:cNvSpPr txBox="1"/>
          <p:nvPr/>
        </p:nvSpPr>
        <p:spPr>
          <a:xfrm>
            <a:off x="360000" y="2007336"/>
            <a:ext cx="187200" cy="245364"/>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4" name="TextBox 13"/>
          <p:cNvSpPr txBox="1"/>
          <p:nvPr/>
        </p:nvSpPr>
        <p:spPr>
          <a:xfrm>
            <a:off x="547200" y="2007336"/>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Smartesting · Arnaud BOUZY.</a:t>
            </a:r>
          </a:p>
        </p:txBody>
      </p:sp>
      <p:sp>
        <p:nvSpPr>
          <p:cNvPr id="15" name="Rectangle 14"/>
          <p:cNvSpPr/>
          <p:nvPr/>
        </p:nvSpPr>
        <p:spPr>
          <a:xfrm>
            <a:off x="360000" y="2331900"/>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60000" y="2331900"/>
            <a:ext cx="43200" cy="953928"/>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0000" y="2411100"/>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De la page blanche à la mise à jour : l'IA propose les parcours à partir de vos US Jira/Confluence, vous validez. »</a:t>
            </a:r>
          </a:p>
        </p:txBody>
      </p:sp>
      <p:sp>
        <p:nvSpPr>
          <p:cNvPr id="18" name="Rectangle 17"/>
          <p:cNvSpPr/>
          <p:nvPr/>
        </p:nvSpPr>
        <p:spPr>
          <a:xfrm>
            <a:off x="360000" y="3379428"/>
            <a:ext cx="4626000" cy="192995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5999" y="3429828"/>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0" name="TextBox 19"/>
          <p:cNvSpPr txBox="1"/>
          <p:nvPr/>
        </p:nvSpPr>
        <p:spPr>
          <a:xfrm>
            <a:off x="485999" y="3588228"/>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De la page blanche à la mise à jour, Yest Companion vous accompagne sur le parcours.</a:t>
            </a:r>
          </a:p>
        </p:txBody>
      </p:sp>
      <p:sp>
        <p:nvSpPr>
          <p:cNvPr id="21" name="TextBox 20"/>
          <p:cNvSpPr txBox="1"/>
          <p:nvPr/>
        </p:nvSpPr>
        <p:spPr>
          <a:xfrm>
            <a:off x="485999" y="3922378"/>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Explication</a:t>
            </a:r>
          </a:p>
        </p:txBody>
      </p:sp>
      <p:sp>
        <p:nvSpPr>
          <p:cNvPr id="22" name="TextBox 21"/>
          <p:cNvSpPr txBox="1"/>
          <p:nvPr/>
        </p:nvSpPr>
        <p:spPr>
          <a:xfrm>
            <a:off x="485999" y="4105653"/>
            <a:ext cx="4374001" cy="603500"/>
          </a:xfrm>
          <a:prstGeom prst="rect">
            <a:avLst/>
          </a:prstGeom>
          <a:noFill/>
        </p:spPr>
        <p:txBody>
          <a:bodyPr wrap="square" lIns="0" rIns="0" tIns="0" bIns="0">
            <a:spAutoFit/>
          </a:bodyPr>
          <a:lstStyle/>
          <a:p>
            <a:pPr algn="l">
              <a:lnSpc>
                <a:spcPct val="110000"/>
              </a:lnSpc>
            </a:pPr>
            <a:r>
              <a:rPr sz="900" b="0" i="0">
                <a:solidFill>
                  <a:srgbClr val="4A4A49"/>
                </a:solidFill>
                <a:latin typeface="Barlow"/>
              </a:rPr>
              <a:t>À partir de vos spécifications (US JIRA, pages Confluence), Yest Companion propose un premier parcours structuré, avec ses tâches métier et son enchaînement, puis le fait évoluer quand les exigences changent. Vous gardez la main à chaque étape : l'IA propose, vous validez ou vous ajustez.</a:t>
            </a:r>
          </a:p>
        </p:txBody>
      </p:sp>
      <p:sp>
        <p:nvSpPr>
          <p:cNvPr id="23" name="TextBox 22"/>
          <p:cNvSpPr txBox="1"/>
          <p:nvPr/>
        </p:nvSpPr>
        <p:spPr>
          <a:xfrm>
            <a:off x="485999" y="4741553"/>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Message clé</a:t>
            </a:r>
          </a:p>
        </p:txBody>
      </p:sp>
      <p:sp>
        <p:nvSpPr>
          <p:cNvPr id="24" name="TextBox 23"/>
          <p:cNvSpPr txBox="1"/>
          <p:nvPr/>
        </p:nvSpPr>
        <p:spPr>
          <a:xfrm>
            <a:off x="485999" y="4924828"/>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Yest Companion accélère la prise en main de Yest et la maintenance des parcours, donc celle des tests.</a:t>
            </a:r>
          </a:p>
        </p:txBody>
      </p:sp>
      <p:cxnSp>
        <p:nvCxnSpPr>
          <p:cNvPr id="25" name="Connector 24"/>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6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7</a:t>
            </a:r>
          </a:p>
        </p:txBody>
      </p:sp>
      <p:sp>
        <p:nvSpPr>
          <p:cNvPr id="7" name="Rectangle 6"/>
          <p:cNvSpPr/>
          <p:nvPr/>
        </p:nvSpPr>
        <p:spPr>
          <a:xfrm>
            <a:off x="3330001" y="730800"/>
            <a:ext cx="1655999" cy="4860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Adige</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SDSI Test &amp; IA</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3" name="TextBox 12"/>
          <p:cNvSpPr txBox="1"/>
          <p:nvPr/>
        </p:nvSpPr>
        <p:spPr>
          <a:xfrm>
            <a:off x="360000" y="2007336"/>
            <a:ext cx="187200" cy="490728"/>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4" name="TextBox 13"/>
          <p:cNvSpPr txBox="1"/>
          <p:nvPr/>
        </p:nvSpPr>
        <p:spPr>
          <a:xfrm>
            <a:off x="547200" y="2007336"/>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TFC · Donatien REVEAU et Elodie TORDJMAN / DF Dommages · Vamé SYLLA.</a:t>
            </a:r>
          </a:p>
        </p:txBody>
      </p:sp>
      <p:sp>
        <p:nvSpPr>
          <p:cNvPr id="15" name="Rectangle 14"/>
          <p:cNvSpPr/>
          <p:nvPr/>
        </p:nvSpPr>
        <p:spPr>
          <a:xfrm>
            <a:off x="360000" y="2577264"/>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60000" y="2577264"/>
            <a:ext cx="43200" cy="953928"/>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0000" y="2656464"/>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IACA &amp; IACT : deux agents IA pour générer critères d'acceptance et cas de test directement depuis vos US. »</a:t>
            </a:r>
          </a:p>
        </p:txBody>
      </p:sp>
      <p:sp>
        <p:nvSpPr>
          <p:cNvPr id="18" name="Rectangle 17"/>
          <p:cNvSpPr/>
          <p:nvPr/>
        </p:nvSpPr>
        <p:spPr>
          <a:xfrm>
            <a:off x="360000" y="3624792"/>
            <a:ext cx="4626000" cy="16282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5999" y="3675192"/>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0" name="TextBox 19"/>
          <p:cNvSpPr txBox="1"/>
          <p:nvPr/>
        </p:nvSpPr>
        <p:spPr>
          <a:xfrm>
            <a:off x="485999" y="3833592"/>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IACA et IACT les assistants des QA en Squad :</a:t>
            </a:r>
          </a:p>
        </p:txBody>
      </p:sp>
      <p:sp>
        <p:nvSpPr>
          <p:cNvPr id="21" name="TextBox 20"/>
          <p:cNvSpPr txBox="1"/>
          <p:nvPr/>
        </p:nvSpPr>
        <p:spPr>
          <a:xfrm>
            <a:off x="485999" y="4016867"/>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Deux agents IA pour aider les QA dans la génération des critères d'acceptance et des cas de test associés sur la base d'US</a:t>
            </a:r>
          </a:p>
        </p:txBody>
      </p:sp>
      <p:sp>
        <p:nvSpPr>
          <p:cNvPr id="22" name="TextBox 21"/>
          <p:cNvSpPr txBox="1"/>
          <p:nvPr/>
        </p:nvSpPr>
        <p:spPr>
          <a:xfrm>
            <a:off x="485999" y="4351017"/>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 Analyser les US pour en extraire les règles, leurs complétudes et leurs cohérences</a:t>
            </a:r>
          </a:p>
        </p:txBody>
      </p:sp>
      <p:sp>
        <p:nvSpPr>
          <p:cNvPr id="23" name="TextBox 22"/>
          <p:cNvSpPr txBox="1"/>
          <p:nvPr/>
        </p:nvSpPr>
        <p:spPr>
          <a:xfrm>
            <a:off x="485999" y="4685167"/>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 Générer des critères d'acceptance et cas de test pour valider les règles identifiées</a:t>
            </a:r>
          </a:p>
        </p:txBody>
      </p:sp>
      <p:sp>
        <p:nvSpPr>
          <p:cNvPr id="24" name="TextBox 23"/>
          <p:cNvSpPr txBox="1"/>
          <p:nvPr/>
        </p:nvSpPr>
        <p:spPr>
          <a:xfrm>
            <a:off x="485999" y="5019317"/>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 Effectuer une couverture complète et optimisée des US</a:t>
            </a:r>
          </a:p>
        </p:txBody>
      </p:sp>
      <p:cxnSp>
        <p:nvCxnSpPr>
          <p:cNvPr id="25" name="Connector 24"/>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7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3</a:t>
            </a:r>
          </a:p>
        </p:txBody>
      </p:sp>
      <p:sp>
        <p:nvSpPr>
          <p:cNvPr id="7" name="Rectangle 6"/>
          <p:cNvSpPr/>
          <p:nvPr/>
        </p:nvSpPr>
        <p:spPr>
          <a:xfrm>
            <a:off x="3330001" y="730800"/>
            <a:ext cx="1655999" cy="4860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Liffey</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Écosystème d'agents IA</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3" name="TextBox 12"/>
          <p:cNvSpPr txBox="1"/>
          <p:nvPr/>
        </p:nvSpPr>
        <p:spPr>
          <a:xfrm>
            <a:off x="360000" y="2007336"/>
            <a:ext cx="187200" cy="245364"/>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4" name="TextBox 13"/>
          <p:cNvSpPr txBox="1"/>
          <p:nvPr/>
        </p:nvSpPr>
        <p:spPr>
          <a:xfrm>
            <a:off x="547200" y="2007336"/>
            <a:ext cx="4438800" cy="245364"/>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TFC · Jérémy DELAUX.</a:t>
            </a:r>
          </a:p>
        </p:txBody>
      </p:sp>
      <p:sp>
        <p:nvSpPr>
          <p:cNvPr id="15" name="Rectangle 14"/>
          <p:cNvSpPr/>
          <p:nvPr/>
        </p:nvSpPr>
        <p:spPr>
          <a:xfrm>
            <a:off x="360000" y="2331900"/>
            <a:ext cx="4626000" cy="688752"/>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60000" y="2331900"/>
            <a:ext cx="43200" cy="688752"/>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0000" y="2411100"/>
            <a:ext cx="4266000" cy="530352"/>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Coder, Tester, Automatiser… 3 agents IA, une chaîne de production de test automatisé ! »</a:t>
            </a:r>
          </a:p>
        </p:txBody>
      </p:sp>
      <p:sp>
        <p:nvSpPr>
          <p:cNvPr id="18" name="Rectangle 17"/>
          <p:cNvSpPr/>
          <p:nvPr/>
        </p:nvSpPr>
        <p:spPr>
          <a:xfrm>
            <a:off x="360000" y="3114252"/>
            <a:ext cx="4626000" cy="189755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5999" y="3164652"/>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0" name="TextBox 19"/>
          <p:cNvSpPr txBox="1"/>
          <p:nvPr/>
        </p:nvSpPr>
        <p:spPr>
          <a:xfrm>
            <a:off x="485999" y="3323052"/>
            <a:ext cx="4374001" cy="301750"/>
          </a:xfrm>
          <a:prstGeom prst="rect">
            <a:avLst/>
          </a:prstGeom>
          <a:noFill/>
        </p:spPr>
        <p:txBody>
          <a:bodyPr wrap="square" lIns="0" rIns="0" tIns="0" bIns="0">
            <a:spAutoFit/>
          </a:bodyPr>
          <a:lstStyle/>
          <a:p>
            <a:pPr algn="l">
              <a:lnSpc>
                <a:spcPct val="110000"/>
              </a:lnSpc>
            </a:pPr>
            <a:r>
              <a:rPr sz="900" b="0" i="0">
                <a:solidFill>
                  <a:srgbClr val="4A4A49"/>
                </a:solidFill>
                <a:latin typeface="Barlow"/>
              </a:rPr>
              <a:t>"Coder, Tester, Automatiser... 3 agents IA, une chaîne de production de tests automatisés !"</a:t>
            </a:r>
          </a:p>
        </p:txBody>
      </p:sp>
      <p:sp>
        <p:nvSpPr>
          <p:cNvPr id="21" name="TextBox 20"/>
          <p:cNvSpPr txBox="1"/>
          <p:nvPr/>
        </p:nvSpPr>
        <p:spPr>
          <a:xfrm>
            <a:off x="485999" y="3657202"/>
            <a:ext cx="4374001" cy="603500"/>
          </a:xfrm>
          <a:prstGeom prst="rect">
            <a:avLst/>
          </a:prstGeom>
          <a:noFill/>
        </p:spPr>
        <p:txBody>
          <a:bodyPr wrap="square" lIns="0" rIns="0" tIns="0" bIns="0">
            <a:spAutoFit/>
          </a:bodyPr>
          <a:lstStyle/>
          <a:p>
            <a:pPr algn="l">
              <a:lnSpc>
                <a:spcPct val="110000"/>
              </a:lnSpc>
            </a:pPr>
            <a:r>
              <a:rPr sz="900" b="0" i="0">
                <a:solidFill>
                  <a:srgbClr val="4A4A49"/>
                </a:solidFill>
                <a:latin typeface="Barlow"/>
              </a:rPr>
              <a:t>3 agents IA spécialisés se transmettent le travail : l’un lit le code et en extrait la structure technique, l’autre traduit le besoin métier en scénarios de tests bout en bout, le troisième assemble les deux pour produire les tests fonctionnels automatisés.</a:t>
            </a:r>
          </a:p>
        </p:txBody>
      </p:sp>
      <p:sp>
        <p:nvSpPr>
          <p:cNvPr id="22" name="TextBox 21"/>
          <p:cNvSpPr txBox="1"/>
          <p:nvPr/>
        </p:nvSpPr>
        <p:spPr>
          <a:xfrm>
            <a:off x="485999" y="4293102"/>
            <a:ext cx="4374001" cy="452625"/>
          </a:xfrm>
          <a:prstGeom prst="rect">
            <a:avLst/>
          </a:prstGeom>
          <a:noFill/>
        </p:spPr>
        <p:txBody>
          <a:bodyPr wrap="square" lIns="0" rIns="0" tIns="0" bIns="0">
            <a:spAutoFit/>
          </a:bodyPr>
          <a:lstStyle/>
          <a:p>
            <a:pPr algn="l">
              <a:lnSpc>
                <a:spcPct val="110000"/>
              </a:lnSpc>
            </a:pPr>
            <a:r>
              <a:rPr sz="900" b="0" i="0">
                <a:solidFill>
                  <a:srgbClr val="4A4A49"/>
                </a:solidFill>
                <a:latin typeface="Barlow"/>
              </a:rPr>
              <a:t>le 3ième agent ferme la boucle : un libellé qui a changé, une règle métier absente, un identifiant manquant - tout écart rencontré remonte vers l'agent concerné...</a:t>
            </a:r>
          </a:p>
        </p:txBody>
      </p:sp>
      <p:sp>
        <p:nvSpPr>
          <p:cNvPr id="23" name="TextBox 22"/>
          <p:cNvSpPr txBox="1"/>
          <p:nvPr/>
        </p:nvSpPr>
        <p:spPr>
          <a:xfrm>
            <a:off x="485999" y="4778127"/>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Chaque test automatisé produit enrichit la chaîne qui l'a produit.</a:t>
            </a:r>
          </a:p>
        </p:txBody>
      </p:sp>
      <p:cxnSp>
        <p:nvCxnSpPr>
          <p:cNvPr id="24" name="Connector 23"/>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8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Kiosque 2</a:t>
            </a:r>
          </a:p>
        </p:txBody>
      </p:sp>
      <p:sp>
        <p:nvSpPr>
          <p:cNvPr id="7" name="Rectangle 6"/>
          <p:cNvSpPr/>
          <p:nvPr/>
        </p:nvSpPr>
        <p:spPr>
          <a:xfrm>
            <a:off x="3330001" y="730800"/>
            <a:ext cx="1655999" cy="4860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SALLE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Donau</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LynQA</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4626000" cy="19278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À lire la veille. En scène, tu ne tiens que ton bloc.</a:t>
            </a:r>
          </a:p>
        </p:txBody>
      </p:sp>
      <p:sp>
        <p:nvSpPr>
          <p:cNvPr id="13" name="TextBox 12"/>
          <p:cNvSpPr txBox="1"/>
          <p:nvPr/>
        </p:nvSpPr>
        <p:spPr>
          <a:xfrm>
            <a:off x="360000" y="2007336"/>
            <a:ext cx="187200" cy="490728"/>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4" name="TextBox 13"/>
          <p:cNvSpPr txBox="1"/>
          <p:nvPr/>
        </p:nvSpPr>
        <p:spPr>
          <a:xfrm>
            <a:off x="547200" y="2007336"/>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Porté par Smartesting · Fabien NICOLET et Michel GUEZ.</a:t>
            </a:r>
          </a:p>
        </p:txBody>
      </p:sp>
      <p:sp>
        <p:nvSpPr>
          <p:cNvPr id="15" name="Rectangle 14"/>
          <p:cNvSpPr/>
          <p:nvPr/>
        </p:nvSpPr>
        <p:spPr>
          <a:xfrm>
            <a:off x="360000" y="2577264"/>
            <a:ext cx="4626000" cy="953928"/>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60000" y="2577264"/>
            <a:ext cx="43200" cy="953928"/>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0000" y="2656464"/>
            <a:ext cx="4266000" cy="795528"/>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L'agent IA qui exécute vos tests manuels pendant que vous dormez — sans scripting, sans restructuration. »</a:t>
            </a:r>
          </a:p>
        </p:txBody>
      </p:sp>
      <p:sp>
        <p:nvSpPr>
          <p:cNvPr id="18" name="Rectangle 17"/>
          <p:cNvSpPr/>
          <p:nvPr/>
        </p:nvSpPr>
        <p:spPr>
          <a:xfrm>
            <a:off x="360000" y="3624792"/>
            <a:ext cx="4626000" cy="189755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5999" y="3675192"/>
            <a:ext cx="4374001" cy="151200"/>
          </a:xfrm>
          <a:prstGeom prst="rect">
            <a:avLst/>
          </a:prstGeom>
          <a:noFill/>
        </p:spPr>
        <p:txBody>
          <a:bodyPr wrap="square" lIns="0" rIns="0" tIns="0" bIns="0">
            <a:spAutoFit/>
          </a:bodyPr>
          <a:lstStyle/>
          <a:p>
            <a:pPr algn="l">
              <a:lnSpc>
                <a:spcPct val="115000"/>
              </a:lnSpc>
            </a:pPr>
            <a:r>
              <a:rPr sz="900" b="1" i="0">
                <a:solidFill>
                  <a:srgbClr val="4A4A49"/>
                </a:solidFill>
                <a:latin typeface="Barlow Condensed"/>
              </a:rPr>
              <a:t>LE TEXTE DU PORTEUR — À LIRE AVANT, PAS EN SCÈNE</a:t>
            </a:r>
          </a:p>
        </p:txBody>
      </p:sp>
      <p:sp>
        <p:nvSpPr>
          <p:cNvPr id="20" name="TextBox 19"/>
          <p:cNvSpPr txBox="1"/>
          <p:nvPr/>
        </p:nvSpPr>
        <p:spPr>
          <a:xfrm>
            <a:off x="485999" y="3833592"/>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"Lynqa : l'agent IA qui exécute vos tests manuels pendant que vous dormez."</a:t>
            </a:r>
          </a:p>
        </p:txBody>
      </p:sp>
      <p:sp>
        <p:nvSpPr>
          <p:cNvPr id="21" name="TextBox 20"/>
          <p:cNvSpPr txBox="1"/>
          <p:nvPr/>
        </p:nvSpPr>
        <p:spPr>
          <a:xfrm>
            <a:off x="485999" y="4016867"/>
            <a:ext cx="4374001" cy="603500"/>
          </a:xfrm>
          <a:prstGeom prst="rect">
            <a:avLst/>
          </a:prstGeom>
          <a:noFill/>
        </p:spPr>
        <p:txBody>
          <a:bodyPr wrap="square" lIns="0" rIns="0" tIns="0" bIns="0">
            <a:spAutoFit/>
          </a:bodyPr>
          <a:lstStyle/>
          <a:p>
            <a:pPr algn="l">
              <a:lnSpc>
                <a:spcPct val="110000"/>
              </a:lnSpc>
            </a:pPr>
            <a:r>
              <a:rPr sz="900" b="0" i="0">
                <a:solidFill>
                  <a:srgbClr val="4A4A49"/>
                </a:solidFill>
                <a:latin typeface="Barlow"/>
              </a:rPr>
              <a:t>Savez-vous que 80% des tests fonctionnels restent manuels ? C'est normal : certains sont visuels, trop instables ou trop coûteux à automatiser. Mais ces campagnes manuelles répétitives pèsent lourd : fatigue des testeurs, risques d'erreurs, ressources mobilisées à chaque cycle.</a:t>
            </a:r>
          </a:p>
        </p:txBody>
      </p:sp>
      <p:sp>
        <p:nvSpPr>
          <p:cNvPr id="22" name="TextBox 21"/>
          <p:cNvSpPr txBox="1"/>
          <p:nvPr/>
        </p:nvSpPr>
        <p:spPr>
          <a:xfrm>
            <a:off x="485999" y="4652767"/>
            <a:ext cx="4374001" cy="150875"/>
          </a:xfrm>
          <a:prstGeom prst="rect">
            <a:avLst/>
          </a:prstGeom>
          <a:noFill/>
        </p:spPr>
        <p:txBody>
          <a:bodyPr wrap="square" lIns="0" rIns="0" tIns="0" bIns="0">
            <a:spAutoFit/>
          </a:bodyPr>
          <a:lstStyle/>
          <a:p>
            <a:pPr algn="l">
              <a:lnSpc>
                <a:spcPct val="110000"/>
              </a:lnSpc>
            </a:pPr>
            <a:r>
              <a:rPr sz="900" b="0" i="0">
                <a:solidFill>
                  <a:srgbClr val="4A4A49"/>
                </a:solidFill>
                <a:latin typeface="Barlow"/>
              </a:rPr>
              <a:t>Imaginez :</a:t>
            </a:r>
          </a:p>
        </p:txBody>
      </p:sp>
      <p:sp>
        <p:nvSpPr>
          <p:cNvPr id="23" name="TextBox 22"/>
          <p:cNvSpPr txBox="1"/>
          <p:nvPr/>
        </p:nvSpPr>
        <p:spPr>
          <a:xfrm>
            <a:off x="485999" y="4836042"/>
            <a:ext cx="4374001" cy="603500"/>
          </a:xfrm>
          <a:prstGeom prst="rect">
            <a:avLst/>
          </a:prstGeom>
          <a:noFill/>
        </p:spPr>
        <p:txBody>
          <a:bodyPr wrap="square" lIns="0" rIns="0" tIns="0" bIns="0">
            <a:spAutoFit/>
          </a:bodyPr>
          <a:lstStyle/>
          <a:p>
            <a:pPr algn="l">
              <a:lnSpc>
                <a:spcPct val="110000"/>
              </a:lnSpc>
            </a:pPr>
            <a:r>
              <a:rPr sz="900" b="0" i="0">
                <a:solidFill>
                  <a:srgbClr val="4A4A49"/>
                </a:solidFill>
                <a:latin typeface="Barlow"/>
              </a:rPr>
              <a:t>Un agent IA qui lit vos cas de test existants (sans modification), les exécute automatiquement 24h/24, 7j/7, et produit un rapport détaillé avec captures d'écran étape par étape. Pas de scripting, pas de no-code, pas de restructuration de vos scénarios.</a:t>
            </a:r>
          </a:p>
        </p:txBody>
      </p:sp>
      <p:cxnSp>
        <p:nvCxnSpPr>
          <p:cNvPr id="24" name="Connector 23"/>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Rien à dire depuis cette carte.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9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13h49</a:t>
            </a:r>
          </a:p>
        </p:txBody>
      </p:sp>
      <p:sp>
        <p:nvSpPr>
          <p:cNvPr id="7" name="Rectangle 6"/>
          <p:cNvSpPr/>
          <p:nvPr/>
        </p:nvSpPr>
        <p:spPr>
          <a:xfrm>
            <a:off x="3330001" y="730800"/>
            <a:ext cx="1655999" cy="4860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30001" y="781200"/>
            <a:ext cx="1547999" cy="144000"/>
          </a:xfrm>
          <a:prstGeom prst="rect">
            <a:avLst/>
          </a:prstGeom>
          <a:noFill/>
        </p:spPr>
        <p:txBody>
          <a:bodyPr wrap="square" lIns="0" rIns="0" tIns="0" bIns="0">
            <a:spAutoFit/>
          </a:bodyPr>
          <a:lstStyle/>
          <a:p>
            <a:pPr algn="r">
              <a:lnSpc>
                <a:spcPct val="115000"/>
              </a:lnSpc>
            </a:pPr>
            <a:r>
              <a:rPr sz="900" b="1" i="1">
                <a:solidFill>
                  <a:srgbClr val="FFFFFF"/>
                </a:solidFill>
                <a:latin typeface="Barlow Condensed"/>
              </a:rPr>
              <a:t>FIN VISÉE</a:t>
            </a:r>
          </a:p>
        </p:txBody>
      </p:sp>
      <p:sp>
        <p:nvSpPr>
          <p:cNvPr id="9" name="TextBox 8"/>
          <p:cNvSpPr txBox="1"/>
          <p:nvPr/>
        </p:nvSpPr>
        <p:spPr>
          <a:xfrm>
            <a:off x="3330001" y="903600"/>
            <a:ext cx="1547999" cy="306000"/>
          </a:xfrm>
          <a:prstGeom prst="rect">
            <a:avLst/>
          </a:prstGeom>
          <a:noFill/>
        </p:spPr>
        <p:txBody>
          <a:bodyPr wrap="square" lIns="0" rIns="0" tIns="0" bIns="0">
            <a:spAutoFit/>
          </a:bodyPr>
          <a:lstStyle/>
          <a:p>
            <a:pPr algn="r">
              <a:lnSpc>
                <a:spcPct val="100000"/>
              </a:lnSpc>
            </a:pPr>
            <a:r>
              <a:rPr sz="1900" b="1" i="0">
                <a:solidFill>
                  <a:srgbClr val="FFFFFF"/>
                </a:solidFill>
                <a:latin typeface="Barlow Condensed"/>
              </a:rPr>
              <a:t>13h52</a:t>
            </a:r>
          </a:p>
        </p:txBody>
      </p:sp>
      <p:sp>
        <p:nvSpPr>
          <p:cNvPr id="10" name="TextBox 9"/>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Le tirage au sort et les lots</a:t>
            </a:r>
          </a:p>
        </p:txBody>
      </p:sp>
      <p:cxnSp>
        <p:nvCxnSpPr>
          <p:cNvPr id="11" name="Connector 10"/>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0000" y="1742551"/>
            <a:ext cx="187200" cy="490728"/>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3" name="TextBox 12"/>
          <p:cNvSpPr txBox="1"/>
          <p:nvPr/>
        </p:nvSpPr>
        <p:spPr>
          <a:xfrm>
            <a:off x="547200" y="1742551"/>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À chaque kiosque, une fiche : nom, prénom, numéro du kiosque.</a:t>
            </a:r>
          </a:p>
        </p:txBody>
      </p:sp>
      <p:sp>
        <p:nvSpPr>
          <p:cNvPr id="14" name="Rectangle 13"/>
          <p:cNvSpPr/>
          <p:nvPr/>
        </p:nvSpPr>
        <p:spPr>
          <a:xfrm>
            <a:off x="360000" y="2312479"/>
            <a:ext cx="4626000" cy="423576"/>
          </a:xfrm>
          <a:prstGeom prst="rect">
            <a:avLst/>
          </a:prstGeom>
          <a:solidFill>
            <a:srgbClr val="D9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60000" y="2312479"/>
            <a:ext cx="43200" cy="423576"/>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0000" y="2391679"/>
            <a:ext cx="4266000" cy="265176"/>
          </a:xfrm>
          <a:prstGeom prst="rect">
            <a:avLst/>
          </a:prstGeom>
          <a:noFill/>
        </p:spPr>
        <p:txBody>
          <a:bodyPr wrap="square" lIns="0" rIns="0" tIns="0" bIns="0">
            <a:spAutoFit/>
          </a:bodyPr>
          <a:lstStyle/>
          <a:p>
            <a:pPr algn="l">
              <a:lnSpc>
                <a:spcPct val="120000"/>
              </a:lnSpc>
            </a:pPr>
            <a:r>
              <a:rPr sz="1450" b="0" i="1">
                <a:solidFill>
                  <a:srgbClr val="1A1A2E"/>
                </a:solidFill>
                <a:latin typeface="Barlow"/>
              </a:rPr>
              <a:t>« Cinq kiosques, cinq fiches, cinq chances. »</a:t>
            </a:r>
          </a:p>
        </p:txBody>
      </p:sp>
      <p:sp>
        <p:nvSpPr>
          <p:cNvPr id="17" name="TextBox 16"/>
          <p:cNvSpPr txBox="1"/>
          <p:nvPr/>
        </p:nvSpPr>
        <p:spPr>
          <a:xfrm>
            <a:off x="360000" y="2829655"/>
            <a:ext cx="187200" cy="490728"/>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8" name="TextBox 17"/>
          <p:cNvSpPr txBox="1"/>
          <p:nvPr/>
        </p:nvSpPr>
        <p:spPr>
          <a:xfrm>
            <a:off x="547200" y="2829655"/>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Une seule urne, à l’accueil. Trois gagnants, trois lots, tirés à 16h30.</a:t>
            </a:r>
          </a:p>
        </p:txBody>
      </p:sp>
      <p:sp>
        <p:nvSpPr>
          <p:cNvPr id="19" name="Rectangle 18"/>
          <p:cNvSpPr/>
          <p:nvPr/>
        </p:nvSpPr>
        <p:spPr>
          <a:xfrm>
            <a:off x="360000" y="3399583"/>
            <a:ext cx="4626000" cy="10584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8000" y="3449983"/>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LES TROIS LOTS</a:t>
            </a:r>
          </a:p>
        </p:txBody>
      </p:sp>
      <p:cxnSp>
        <p:nvCxnSpPr>
          <p:cNvPr id="21" name="Connector 20"/>
          <p:cNvCxnSpPr/>
          <p:nvPr/>
        </p:nvCxnSpPr>
        <p:spPr>
          <a:xfrm>
            <a:off x="468000" y="3838783"/>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8000" y="4097983"/>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8000" y="4357183"/>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60000" y="4551583"/>
            <a:ext cx="4626000" cy="5400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68000" y="4601983"/>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RÈGLE DE PRÉSENCE POUR GAGNER</a:t>
            </a:r>
          </a:p>
        </p:txBody>
      </p:sp>
      <p:cxnSp>
        <p:nvCxnSpPr>
          <p:cNvPr id="26" name="Connector 25"/>
          <p:cNvCxnSpPr/>
          <p:nvPr/>
        </p:nvCxnSpPr>
        <p:spPr>
          <a:xfrm>
            <a:off x="468000" y="4990783"/>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Ensuite — 13h52 Anas rappelle les salles, puis dispersion à 13h55.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346000" cy="450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50000"/>
            <a:ext cx="5346000" cy="79200"/>
          </a:xfrm>
          <a:prstGeom prst="rect">
            <a:avLst/>
          </a:prstGeom>
          <a:solidFill>
            <a:srgbClr val="00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0000" y="108000"/>
            <a:ext cx="3240000" cy="251999"/>
          </a:xfrm>
          <a:prstGeom prst="rect">
            <a:avLst/>
          </a:prstGeom>
          <a:noFill/>
        </p:spPr>
        <p:txBody>
          <a:bodyPr wrap="square" lIns="0" rIns="0" tIns="0" bIns="0">
            <a:spAutoFit/>
          </a:bodyPr>
          <a:lstStyle/>
          <a:p>
            <a:pPr algn="l">
              <a:lnSpc>
                <a:spcPct val="115000"/>
              </a:lnSpc>
            </a:pPr>
            <a:r>
              <a:rPr sz="1500" b="1" i="0">
                <a:solidFill>
                  <a:srgbClr val="FFFFFF"/>
                </a:solidFill>
                <a:latin typeface="Barlow Condensed"/>
              </a:rPr>
              <a:t>DEUXIÈME ANIMATEUR</a:t>
            </a:r>
          </a:p>
        </p:txBody>
      </p:sp>
      <p:sp>
        <p:nvSpPr>
          <p:cNvPr id="5" name="TextBox 4"/>
          <p:cNvSpPr txBox="1"/>
          <p:nvPr/>
        </p:nvSpPr>
        <p:spPr>
          <a:xfrm>
            <a:off x="3546000" y="122400"/>
            <a:ext cx="1440000" cy="251999"/>
          </a:xfrm>
          <a:prstGeom prst="rect">
            <a:avLst/>
          </a:prstGeom>
          <a:noFill/>
        </p:spPr>
        <p:txBody>
          <a:bodyPr wrap="square" lIns="0" rIns="0" tIns="0" bIns="0">
            <a:spAutoFit/>
          </a:bodyPr>
          <a:lstStyle/>
          <a:p>
            <a:pPr algn="r">
              <a:lnSpc>
                <a:spcPct val="115000"/>
              </a:lnSpc>
            </a:pPr>
            <a:r>
              <a:rPr sz="1300" b="1" i="0">
                <a:solidFill>
                  <a:srgbClr val="00B4B4"/>
                </a:solidFill>
                <a:latin typeface="Barlow Condensed"/>
              </a:rPr>
              <a:t>10 / 10</a:t>
            </a:r>
          </a:p>
        </p:txBody>
      </p:sp>
      <p:sp>
        <p:nvSpPr>
          <p:cNvPr id="6" name="TextBox 5"/>
          <p:cNvSpPr txBox="1"/>
          <p:nvPr/>
        </p:nvSpPr>
        <p:spPr>
          <a:xfrm>
            <a:off x="360000" y="702000"/>
            <a:ext cx="2160000" cy="468000"/>
          </a:xfrm>
          <a:prstGeom prst="rect">
            <a:avLst/>
          </a:prstGeom>
          <a:noFill/>
        </p:spPr>
        <p:txBody>
          <a:bodyPr wrap="square" lIns="0" rIns="0" tIns="0" bIns="0">
            <a:spAutoFit/>
          </a:bodyPr>
          <a:lstStyle/>
          <a:p>
            <a:pPr algn="l">
              <a:lnSpc>
                <a:spcPct val="115000"/>
              </a:lnSpc>
            </a:pPr>
            <a:r>
              <a:rPr sz="3400" b="1" i="0">
                <a:solidFill>
                  <a:srgbClr val="1A1A2E"/>
                </a:solidFill>
                <a:latin typeface="Barlow Condensed"/>
              </a:rPr>
              <a:t>16h25</a:t>
            </a:r>
          </a:p>
        </p:txBody>
      </p:sp>
      <p:sp>
        <p:nvSpPr>
          <p:cNvPr id="7" name="TextBox 6"/>
          <p:cNvSpPr txBox="1"/>
          <p:nvPr/>
        </p:nvSpPr>
        <p:spPr>
          <a:xfrm>
            <a:off x="360000" y="1296000"/>
            <a:ext cx="4626000" cy="295351"/>
          </a:xfrm>
          <a:prstGeom prst="rect">
            <a:avLst/>
          </a:prstGeom>
          <a:noFill/>
        </p:spPr>
        <p:txBody>
          <a:bodyPr wrap="square" lIns="0" rIns="0" tIns="0" bIns="0">
            <a:spAutoFit/>
          </a:bodyPr>
          <a:lstStyle/>
          <a:p>
            <a:pPr algn="l">
              <a:lnSpc>
                <a:spcPct val="102000"/>
              </a:lnSpc>
            </a:pPr>
            <a:r>
              <a:rPr sz="1900" b="1" i="0">
                <a:solidFill>
                  <a:srgbClr val="1A1A2E"/>
                </a:solidFill>
                <a:latin typeface="Barlow Condensed"/>
              </a:rPr>
              <a:t>Clôture — présent en salle</a:t>
            </a:r>
          </a:p>
        </p:txBody>
      </p:sp>
      <p:cxnSp>
        <p:nvCxnSpPr>
          <p:cNvPr id="8" name="Connector 7"/>
          <p:cNvCxnSpPr/>
          <p:nvPr/>
        </p:nvCxnSpPr>
        <p:spPr>
          <a:xfrm>
            <a:off x="360000" y="1641751"/>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0000" y="1742551"/>
            <a:ext cx="4626000" cy="578355"/>
          </a:xfrm>
          <a:prstGeom prst="rect">
            <a:avLst/>
          </a:prstGeom>
          <a:noFill/>
        </p:spPr>
        <p:txBody>
          <a:bodyPr wrap="square" lIns="0" rIns="0" tIns="0" bIns="0">
            <a:spAutoFit/>
          </a:bodyPr>
          <a:lstStyle/>
          <a:p>
            <a:pPr algn="l">
              <a:lnSpc>
                <a:spcPct val="115000"/>
              </a:lnSpc>
            </a:pPr>
            <a:r>
              <a:rPr sz="1100" b="0" i="0">
                <a:solidFill>
                  <a:srgbClr val="4A4A49"/>
                </a:solidFill>
                <a:latin typeface="Barlow"/>
              </a:rPr>
              <a:t>Le conducteur te demande d’être là de 16h25 à la fin, sans te donner de prise de parole. Ce n’est pas un oubli de la carte : c’est ce qui est écrit.</a:t>
            </a:r>
          </a:p>
        </p:txBody>
      </p:sp>
      <p:sp>
        <p:nvSpPr>
          <p:cNvPr id="10" name="TextBox 9"/>
          <p:cNvSpPr txBox="1"/>
          <p:nvPr/>
        </p:nvSpPr>
        <p:spPr>
          <a:xfrm>
            <a:off x="360000" y="2392906"/>
            <a:ext cx="187200" cy="490728"/>
          </a:xfrm>
          <a:prstGeom prst="rect">
            <a:avLst/>
          </a:prstGeom>
          <a:noFill/>
        </p:spPr>
        <p:txBody>
          <a:bodyPr wrap="square" lIns="0" rIns="0" tIns="0" bIns="0">
            <a:spAutoFit/>
          </a:bodyPr>
          <a:lstStyle/>
          <a:p>
            <a:pPr algn="l">
              <a:lnSpc>
                <a:spcPct val="115000"/>
              </a:lnSpc>
            </a:pPr>
            <a:r>
              <a:rPr sz="1400" b="1" i="0">
                <a:solidFill>
                  <a:srgbClr val="006B4F"/>
                </a:solidFill>
                <a:latin typeface="Barlow"/>
              </a:rPr>
              <a:t>•</a:t>
            </a:r>
          </a:p>
        </p:txBody>
      </p:sp>
      <p:sp>
        <p:nvSpPr>
          <p:cNvPr id="11" name="TextBox 10"/>
          <p:cNvSpPr txBox="1"/>
          <p:nvPr/>
        </p:nvSpPr>
        <p:spPr>
          <a:xfrm>
            <a:off x="547200" y="2392906"/>
            <a:ext cx="4438800" cy="490728"/>
          </a:xfrm>
          <a:prstGeom prst="rect">
            <a:avLst/>
          </a:prstGeom>
          <a:noFill/>
        </p:spPr>
        <p:txBody>
          <a:bodyPr wrap="square" lIns="0" rIns="0" tIns="0" bIns="0">
            <a:spAutoFit/>
          </a:bodyPr>
          <a:lstStyle/>
          <a:p>
            <a:pPr algn="l">
              <a:lnSpc>
                <a:spcPct val="115000"/>
              </a:lnSpc>
            </a:pPr>
            <a:r>
              <a:rPr sz="1400" b="0" i="0">
                <a:solidFill>
                  <a:srgbClr val="1A1A2E"/>
                </a:solidFill>
                <a:latin typeface="Barlow"/>
              </a:rPr>
              <a:t>La clôture est tenue par Ghislaine, Anas et Fabrice.</a:t>
            </a:r>
          </a:p>
        </p:txBody>
      </p:sp>
      <p:sp>
        <p:nvSpPr>
          <p:cNvPr id="12" name="Rectangle 11"/>
          <p:cNvSpPr/>
          <p:nvPr/>
        </p:nvSpPr>
        <p:spPr>
          <a:xfrm>
            <a:off x="360000" y="2962834"/>
            <a:ext cx="4626000" cy="799200"/>
          </a:xfrm>
          <a:prstGeom prst="rect">
            <a:avLst/>
          </a:prstGeom>
          <a:no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8000" y="3013234"/>
            <a:ext cx="4410000" cy="162000"/>
          </a:xfrm>
          <a:prstGeom prst="rect">
            <a:avLst/>
          </a:prstGeom>
          <a:noFill/>
        </p:spPr>
        <p:txBody>
          <a:bodyPr wrap="square" lIns="0" rIns="0" tIns="0" bIns="0">
            <a:spAutoFit/>
          </a:bodyPr>
          <a:lstStyle/>
          <a:p>
            <a:pPr algn="l">
              <a:lnSpc>
                <a:spcPct val="115000"/>
              </a:lnSpc>
            </a:pPr>
            <a:r>
              <a:rPr sz="1000" b="1" i="0">
                <a:solidFill>
                  <a:srgbClr val="B32D2D"/>
                </a:solidFill>
                <a:latin typeface="Barlow Condensed"/>
              </a:rPr>
              <a:t>À REMPLIR — PRISE DE PAROLE CONFIÉE EN CLÔTURE, LE CAS ÉCHÉANT</a:t>
            </a:r>
          </a:p>
        </p:txBody>
      </p:sp>
      <p:cxnSp>
        <p:nvCxnSpPr>
          <p:cNvPr id="14" name="Connector 13"/>
          <p:cNvCxnSpPr/>
          <p:nvPr/>
        </p:nvCxnSpPr>
        <p:spPr>
          <a:xfrm>
            <a:off x="468000" y="3402034"/>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68000" y="3661234"/>
            <a:ext cx="4410000" cy="0"/>
          </a:xfrm>
          <a:prstGeom prst="line">
            <a:avLst/>
          </a:prstGeom>
          <a:ln w="9525">
            <a:solidFill>
              <a:srgbClr val="E3E3E3"/>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60000" y="6858000"/>
            <a:ext cx="4626000" cy="0"/>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60000" y="6966000"/>
            <a:ext cx="4626000" cy="432000"/>
          </a:xfrm>
          <a:prstGeom prst="rect">
            <a:avLst/>
          </a:prstGeom>
          <a:noFill/>
        </p:spPr>
        <p:txBody>
          <a:bodyPr wrap="square" lIns="0" rIns="0" tIns="0" bIns="0">
            <a:spAutoFit/>
          </a:bodyPr>
          <a:lstStyle/>
          <a:p>
            <a:pPr algn="l">
              <a:lnSpc>
                <a:spcPct val="115000"/>
              </a:lnSpc>
            </a:pPr>
            <a:r>
              <a:rPr sz="1150" b="0" i="0">
                <a:solidFill>
                  <a:srgbClr val="4A4A49"/>
                </a:solidFill>
                <a:latin typeface="Barlow"/>
              </a:rPr>
              <a:t>Fin de journée.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