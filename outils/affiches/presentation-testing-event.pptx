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56000"/>
            <a:ext cx="12193200" cy="54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400" y="1655999"/>
            <a:ext cx="5400000" cy="117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000" y="44712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5148000"/>
            <a:ext cx="106092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LUNDI 14 SEPTEMBRE 2026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D9EFEF"/>
                </a:solidFill>
                <a:latin typeface="Barlow"/>
              </a:rPr>
              <a:t>Business Center · 36/44 bd de Vaugirard · Crédit Agricole Assurances · Paris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48000" y="5580000"/>
            <a:ext cx="1044000" cy="10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000" y="5652000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TITRE DE LA DIAPOSITIVE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Chapeau facultatif : une phrase qui annonce ce que la diapo montre.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30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30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0000" y="3239999"/>
            <a:ext cx="10080000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6A6A"/>
                </a:solidFill>
                <a:latin typeface="Barlow Condensed"/>
              </a:rPr>
              <a:t>ZONE DE CONTENU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Dupliquez cette diapositive pour en créer une nouvelle : le bandeau, la signature et le pied de page suivront.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La zone utile va de 2,2 cm à 31,7 cm en largeur, et de 4,7 cm à 17,3 cm en hauteur. Barlow Condensed pour les titres, Barlow pour le texte.</a:t>
            </a:r>
          </a:p>
          <a:p>
            <a:pPr algn="l">
              <a:lnSpc>
                <a:spcPct val="160000"/>
              </a:lnSpc>
            </a:pPr>
            <a:r>
              <a:rPr sz="1300" b="1">
                <a:solidFill>
                  <a:srgbClr val="C01020"/>
                </a:solidFill>
                <a:latin typeface="Barlow"/>
              </a:rPr>
              <a:t>Cette diapositive est un gabarit : retirez-la avant de présenter.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PROGRAMME DE LA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6A6A"/>
                </a:solidFill>
                <a:latin typeface="Barlow Condensed"/>
              </a:rPr>
              <a:t>MATIN — CONFÉRENCES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302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302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8000" y="313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9h00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4000" y="315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Accueil café &amp; petit-déjeuner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356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000" y="356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8000" y="367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9h45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4000" y="369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Mot d'ouverture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410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2000" y="410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8000" y="421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10h00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44000" y="423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Des 7 principes du test aux 7 principes de la qualité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000" y="464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2000" y="464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8000" y="475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10h45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44000" y="477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De l'IA générative aux tests « augmentés 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" y="518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000" y="518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000" y="529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11h30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44000" y="531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Mode produit et les tests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572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2000" y="572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8000" y="583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12h15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000" y="585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Cocktail déjeunatoire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28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01020"/>
                </a:solidFill>
                <a:latin typeface="Barlow Condensed"/>
              </a:rPr>
              <a:t>APRÈS-MIDI — KIOSQUES &amp; ATELIERS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28000" y="302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28000" y="3024000"/>
            <a:ext cx="57600" cy="4608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4000" y="313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13h40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80000" y="315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Présentation de l'organisation des kiosques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28000" y="356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28000" y="3564000"/>
            <a:ext cx="57600" cy="4608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4000" y="367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14h00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80000" y="369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5 rotations de 30 min · 10 kiosques en simultané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28000" y="410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28000" y="4104000"/>
            <a:ext cx="57600" cy="4608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4000" y="421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16h30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80000" y="423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Mot de clôture &amp; remise des lots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OUVERTURE DE LA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12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12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0000" y="2843999"/>
            <a:ext cx="158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9h00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000" y="2851200"/>
            <a:ext cx="81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Accueil café &amp; petit-déjeuner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Café, viennoiseries et premiers échanges dans le hall du Business Center.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4104000"/>
            <a:ext cx="10609200" cy="12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2000" y="4104000"/>
            <a:ext cx="57600" cy="12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0000" y="4355999"/>
            <a:ext cx="158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9h45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000" y="4363200"/>
            <a:ext cx="81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Mot d'ouverture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Le cadre de la journée, en quelques minutes, avant la première conférence.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CONFÉRENCE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10h00 – 10h45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Des 7 principes du test aux 7 principes de la qualité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Un produit peut être parfaitement testé… et pourtant inutilisable.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CONFÉRENCE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10h45 – 11h30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De l'IA générative aux tests « augmentés » : les 7 leçons apprises pour industrialiser l'IA dans le cycle de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Le rôle du testeur ne disparaît pas… il se transforme.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TABLE RONDE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11h30 – 12h15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Mode produit et les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Mode produit ADE : comment CAAS transforme ses approches de test pour accompagner la fabrication agile ?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PAUSE DÉJEUNER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259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2000" y="2952000"/>
            <a:ext cx="99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12h15 · Cocktail déjeunatoire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816000"/>
            <a:ext cx="990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A4A49"/>
                </a:solidFill>
                <a:latin typeface="Barlow"/>
              </a:rPr>
              <a:t>Une heure et demie pour déjeuner, prolonger les échanges du matin et repérer les kiosques de l'après-midi.</a:t>
            </a:r>
          </a:p>
          <a:p>
            <a:pPr algn="l">
              <a:lnSpc>
                <a:spcPct val="180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Reprise à 13h40 avec la présentation de l'organisation des kiosques.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L'APRÈS-MIDI, MODE D'EMPLOI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Dix kiosques tournent en même temps, cinq fois de suite. Vous en faites cinq, dans l'ordre que vous voulez.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3999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999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kiosques en simultané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Dix sujets, dix salles au rez-de-jardin.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7299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9298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9298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rotations identiques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Le même kiosque est joué cinq fois : rien à rater.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598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598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4597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4597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minutes d'atelier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Puis 5 minutes de questions avant de changer de salle.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37897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7897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896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896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kiosques par personne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Un par rotation — à vous de composer votre parcours.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" y="5220000"/>
            <a:ext cx="10609200" cy="90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0000" y="5382000"/>
            <a:ext cx="28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B4B4"/>
                </a:solidFill>
                <a:latin typeface="Barlow Condensed"/>
              </a:rPr>
              <a:t>LES 5 ROTATIONS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7600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600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14h00 → 14h30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4984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4984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14h30 → 15h00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2368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2368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15h00 → 15h30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9752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752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15h30 → 16h00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7136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7136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16h00 → 16h30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LES DIX KIOSQUES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000" y="27288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9999" y="26928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Ludopédagogie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Tour de Babel ou Marshmallow Challenge : découvrez par le jeu pourquoi il faut tester tôt !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3336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2000" y="33336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2000" y="34704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9999" y="34344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LynQA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L'agent IA qui exécute vos tests manuels pendant que vous dormez — sans scripting, sans restructuration.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0752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2000" y="40752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0" y="42120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19999" y="41760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Écosystème d'agents IA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Coder, Tester, Automatiser… 3 agents IA, une chaîne de production de test automatisé !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48168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000" y="48168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0" y="49536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9999" y="49176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Yest Companion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De la page blanche à la mise à jour : l'IA propose les parcours à partir de vos US Jira/Confluence, vous validez.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55584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2000" y="55584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000" y="56952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19999" y="56592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Bâtisseurs de pyramides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Construisez votre VRAIE pyramide de tests en 3D interactive — trouvez le bon équilibre en mode collaboratif !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200" y="25920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200" y="25920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7200" y="27288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5199" y="26928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Référentiel de tests X-Ray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Au revoir QC, bienvenue X-Ray ! Découvrez le produit et la trajectoire de migration 2027.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200" y="33336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17200" y="33336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7200" y="34704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5199" y="34344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SDSI Test &amp; IA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IACA &amp; IACT : deux agents IA pour générer critères d'acceptance et cas de test directement depuis vos US.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200" y="40752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200" y="40752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7200" y="42120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5199" y="41760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JADD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Les données de production à portée de clic pour vos tests : enrichissez, réutilisez, rechargez en quelques clics.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200" y="48168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17200" y="48168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7200" y="49536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5199" y="49176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SauceLabs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Testez partout et homologuez en toute confiance — démos live sur la plateforme mobile, du dev à la validation.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200" y="55584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17200" y="55584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7200" y="56952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5199" y="56592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Vidéo TESTY — libre service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Plongez dans l'univers coloré et décalé de TESTY : le métier de testeur en épisodes courts, ludiques, sans jargon.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JEU — UNE FICHE, UNE URNE, TROIS GAGNANTS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Chaque kiosque visité vous rapproche du tirage au sort de fin de journée.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3999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3999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3999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Une fiche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Vous recevez une fiche en début d'après-midi.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7299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59298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59298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59298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Cinq lignes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À chaque kiosque, vous y inscrivez vos nom et prénom et le numéro du kiosque — cinq fois dans l'après-midi.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2598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2598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74597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4597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4597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Dans l'urne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En fin de parcours, vous déposez votre fiche dans l'urne prévue à cet effet.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37897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37897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89896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896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896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Trois gagnants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Tirage au sort de trois personnes pour trois lots distincts, remis au mot de clôture.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5616000"/>
            <a:ext cx="10609200" cy="6840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0000" y="5796000"/>
            <a:ext cx="99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Les trois lots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PROGRAMME DANS VOTRE POCHE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Un QR code sur les affiches, les écrans et à chaque porte de salle.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951999" cy="2951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0" y="3168000"/>
            <a:ext cx="2592000" cy="2592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36000" y="2988000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6000" y="2988000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7999" y="3103200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Les dix kiosques en détail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Le sujet, le pitch, ce que vous allez y faire.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6000" y="3815999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6000" y="3815999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87999" y="3931199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La salle de chaque kiosque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Publiée le jour même — les affectations tombent tard.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6000" y="4643998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6000" y="4643998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87999" y="4759198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Le plan du rez-de-jardin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Touchez une salle : elle s'allume sur le plan.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36000" y="5471997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6000" y="5471997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7999" y="5587197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Votre sélection de 5 kiosques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Elle reste dans votre téléphone, même après la mise à jour des salles.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6048000"/>
            <a:ext cx="2951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Aucune inscription, aucun compte.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CLÔTURE ET REMISE DES LOTS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259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2000" y="2952000"/>
            <a:ext cx="99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16h30 – 17h00 · Mot de clôture &amp; remise des lots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816000"/>
            <a:ext cx="9900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A4A49"/>
                </a:solidFill>
                <a:latin typeface="Barlow"/>
              </a:rPr>
              <a:t>Retour sur la journée, puis tirage au sort de l'urne : trois fiches, trois gagnants, trois lots.</a:t>
            </a:r>
          </a:p>
          <a:p>
            <a:pPr algn="l">
              <a:lnSpc>
                <a:spcPct val="180000"/>
              </a:lnSpc>
            </a:pPr>
            <a:r>
              <a:rPr sz="1500" b="1">
                <a:solidFill>
                  <a:srgbClr val="C01020"/>
                </a:solidFill>
                <a:latin typeface="Barlow"/>
              </a:rPr>
              <a:t>Il faut être présent pour repartir avec son lot.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MERCI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Cette journée est le travail de celles et ceux qui l'ont préparée, animée et soutenue.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3999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INTERVENANT·ES DU MATIN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Conférences 1 et 2, table ronde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999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7299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9298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ANIMATEUR·RICES DES KIOSQUES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Les dix kiosques de l'après-midi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9298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598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598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4597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ÉQUIPE D'ORGANISATION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Préparation, logistique, accueil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4597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37897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7897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896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PARTENAIRES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Éditeurs et partenaires de la journée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896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400" y="1296000"/>
            <a:ext cx="3960000" cy="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000" y="2664000"/>
            <a:ext cx="106092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MERCI</a:t>
            </a:r>
          </a:p>
        </p:txBody>
      </p:sp>
      <p:sp>
        <p:nvSpPr>
          <p:cNvPr id="5" name="Rectangle 4"/>
          <p:cNvSpPr/>
          <p:nvPr/>
        </p:nvSpPr>
        <p:spPr>
          <a:xfrm>
            <a:off x="5378400" y="4031999"/>
            <a:ext cx="1440000" cy="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4284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Le programme reste en ligne — scannez, il est à jour.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32400" y="4824000"/>
            <a:ext cx="1332000" cy="13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400" y="4914000"/>
            <a:ext cx="1152000" cy="115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