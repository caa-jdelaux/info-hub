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56000"/>
            <a:ext cx="12193200" cy="540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couverture-log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8400" y="1655999"/>
            <a:ext cx="5400000" cy="117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2000" y="4471200"/>
            <a:ext cx="106092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5148000"/>
            <a:ext cx="106092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00B4B4"/>
                </a:solidFill>
                <a:latin typeface="Barlow Condensed"/>
              </a:rPr>
              <a:t>LUNDI 14 SEPTEMBRE 2026</a:t>
            </a:r>
          </a:p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D9EFEF"/>
                </a:solidFill>
                <a:latin typeface="Barlow"/>
              </a:rPr>
              <a:t>Business Center · 36/44 bd de Vaugirard · Crédit Agricole Assurances · Paris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48000" y="5580000"/>
            <a:ext cx="1044000" cy="1044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testing-event-20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20000" y="5652000"/>
            <a:ext cx="900000" cy="9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TITRE DE LA DIAPOSITIVE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484000"/>
            <a:ext cx="106092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Chapeau facultatif : une phrase qui annonce ce que la diapo montre.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000" y="2988000"/>
            <a:ext cx="10609200" cy="3024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2000" y="2988000"/>
            <a:ext cx="57600" cy="3024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80000" y="3239999"/>
            <a:ext cx="10080000" cy="25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6A6A"/>
                </a:solidFill>
                <a:latin typeface="Barlow Condensed"/>
              </a:rPr>
              <a:t>ZONE DE CONTENU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4A4A49"/>
                </a:solidFill>
                <a:latin typeface="Barlow"/>
              </a:rPr>
              <a:t>Dupliquez cette diapositive pour en créer une nouvelle : le bandeau, la signature et le pied de page suivront.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4A4A49"/>
                </a:solidFill>
                <a:latin typeface="Barlow"/>
              </a:rPr>
              <a:t>La zone utile va de 2,2 cm à 31,7 cm en largeur, et de 4,7 cm à 17,3 cm en hauteur. Barlow Condensed pour les titres, Barlow pour le texte.</a:t>
            </a:r>
          </a:p>
          <a:p>
            <a:pPr algn="l">
              <a:lnSpc>
                <a:spcPct val="160000"/>
              </a:lnSpc>
            </a:pPr>
            <a:r>
              <a:rPr sz="1300" b="1">
                <a:solidFill>
                  <a:srgbClr val="C01020"/>
                </a:solidFill>
                <a:latin typeface="Barlow"/>
              </a:rPr>
              <a:t>Cette diapositive est un gabarit : retirez-la avant de présenter.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LE PROGRAMME DE LA JOURNÉE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592000"/>
            <a:ext cx="511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006A6A"/>
                </a:solidFill>
                <a:latin typeface="Barlow Condensed"/>
              </a:rPr>
              <a:t>MATIN — CONFÉRENCES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000" y="3024000"/>
            <a:ext cx="5112000" cy="460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2000" y="3024000"/>
            <a:ext cx="57600" cy="4608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8000" y="3139200"/>
            <a:ext cx="86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1A2E"/>
                </a:solidFill>
                <a:latin typeface="Barlow Condensed"/>
              </a:rPr>
              <a:t>9h00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44000" y="3153600"/>
            <a:ext cx="3816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A1A2E"/>
                </a:solidFill>
                <a:latin typeface="Barlow"/>
              </a:rPr>
              <a:t>Accueil café &amp; petit-déjeuner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2000" y="3564000"/>
            <a:ext cx="5112000" cy="460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2000" y="3564000"/>
            <a:ext cx="57600" cy="4608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8000" y="3679200"/>
            <a:ext cx="86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1A2E"/>
                </a:solidFill>
                <a:latin typeface="Barlow Condensed"/>
              </a:rPr>
              <a:t>9h45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44000" y="3693600"/>
            <a:ext cx="3816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A1A2E"/>
                </a:solidFill>
                <a:latin typeface="Barlow"/>
              </a:rPr>
              <a:t>Mot d'ouverture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2000" y="4104000"/>
            <a:ext cx="5112000" cy="460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2000" y="4104000"/>
            <a:ext cx="57600" cy="4608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8000" y="4219200"/>
            <a:ext cx="86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1A2E"/>
                </a:solidFill>
                <a:latin typeface="Barlow Condensed"/>
              </a:rPr>
              <a:t>10h00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44000" y="4233600"/>
            <a:ext cx="3816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A1A2E"/>
                </a:solidFill>
                <a:latin typeface="Barlow"/>
              </a:rPr>
              <a:t>Des 7 principes du test aux 7 principes de la qualité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2000" y="4644000"/>
            <a:ext cx="5112000" cy="460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2000" y="4644000"/>
            <a:ext cx="57600" cy="4608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8000" y="4759200"/>
            <a:ext cx="86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1A2E"/>
                </a:solidFill>
                <a:latin typeface="Barlow Condensed"/>
              </a:rPr>
              <a:t>10h45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44000" y="4773600"/>
            <a:ext cx="3816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A1A2E"/>
                </a:solidFill>
                <a:latin typeface="Barlow"/>
              </a:rPr>
              <a:t>De l'IA générative aux tests « augmentés »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2000" y="5184000"/>
            <a:ext cx="5112000" cy="460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2000" y="5184000"/>
            <a:ext cx="57600" cy="4608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8000" y="5299200"/>
            <a:ext cx="86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1A2E"/>
                </a:solidFill>
                <a:latin typeface="Barlow Condensed"/>
              </a:rPr>
              <a:t>11h30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44000" y="5313600"/>
            <a:ext cx="3816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A1A2E"/>
                </a:solidFill>
                <a:latin typeface="Barlow"/>
              </a:rPr>
              <a:t>Mode produit et les tests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2000" y="5724000"/>
            <a:ext cx="5112000" cy="460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92000" y="5724000"/>
            <a:ext cx="57600" cy="4608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8000" y="5839200"/>
            <a:ext cx="86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1A2E"/>
                </a:solidFill>
                <a:latin typeface="Barlow Condensed"/>
              </a:rPr>
              <a:t>12h15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4000" y="5853600"/>
            <a:ext cx="3816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A1A2E"/>
                </a:solidFill>
                <a:latin typeface="Barlow"/>
              </a:rPr>
              <a:t>Cocktail déjeunatoire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28000" y="2592000"/>
            <a:ext cx="511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C01020"/>
                </a:solidFill>
                <a:latin typeface="Barlow Condensed"/>
              </a:rPr>
              <a:t>APRÈS-MIDI — KIOSQUES &amp; ATELIERS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28000" y="3024000"/>
            <a:ext cx="5112000" cy="460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228000" y="3024000"/>
            <a:ext cx="57600" cy="4608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44000" y="3139200"/>
            <a:ext cx="86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1A2E"/>
                </a:solidFill>
                <a:latin typeface="Barlow Condensed"/>
              </a:rPr>
              <a:t>13h40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80000" y="3153600"/>
            <a:ext cx="3816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A1A2E"/>
                </a:solidFill>
                <a:latin typeface="Barlow"/>
              </a:rPr>
              <a:t>Présentation de l'organisation des kiosques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28000" y="3564000"/>
            <a:ext cx="5112000" cy="460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228000" y="3564000"/>
            <a:ext cx="57600" cy="4608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44000" y="3679200"/>
            <a:ext cx="86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1A2E"/>
                </a:solidFill>
                <a:latin typeface="Barlow Condensed"/>
              </a:rPr>
              <a:t>14h00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80000" y="3693600"/>
            <a:ext cx="3816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A1A2E"/>
                </a:solidFill>
                <a:latin typeface="Barlow"/>
              </a:rPr>
              <a:t>5 rotations de 30 min · 10 kiosques en simultané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28000" y="4104000"/>
            <a:ext cx="5112000" cy="460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228000" y="4104000"/>
            <a:ext cx="57600" cy="4608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44000" y="4219200"/>
            <a:ext cx="86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1A2E"/>
                </a:solidFill>
                <a:latin typeface="Barlow Condensed"/>
              </a:rPr>
              <a:t>16h30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80000" y="4233600"/>
            <a:ext cx="3816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1A1A2E"/>
                </a:solidFill>
                <a:latin typeface="Barlow"/>
              </a:rPr>
              <a:t>Mot de clôture &amp; remise des lots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OUVERTURE DE LA JOURNÉE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2000" y="2592000"/>
            <a:ext cx="10609200" cy="1224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2000" y="2592000"/>
            <a:ext cx="57600" cy="1224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0000" y="2843999"/>
            <a:ext cx="1584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A1A2E"/>
                </a:solidFill>
                <a:latin typeface="Barlow Condensed"/>
              </a:rPr>
              <a:t>9h00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000" y="2851200"/>
            <a:ext cx="8100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6A6A"/>
                </a:solidFill>
                <a:latin typeface="Barlow Condensed"/>
              </a:rPr>
              <a:t>Accueil café &amp; petit-déjeuner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4A4A49"/>
                </a:solidFill>
                <a:latin typeface="Barlow"/>
              </a:rPr>
              <a:t>Café, viennoiseries et premiers échanges dans le hall du Business Center.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4104000"/>
            <a:ext cx="10609200" cy="1224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2000" y="4104000"/>
            <a:ext cx="57600" cy="1224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0000" y="4355999"/>
            <a:ext cx="1584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A1A2E"/>
                </a:solidFill>
                <a:latin typeface="Barlow Condensed"/>
              </a:rPr>
              <a:t>9h45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000" y="4363200"/>
            <a:ext cx="8100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6A6A"/>
                </a:solidFill>
                <a:latin typeface="Barlow Condensed"/>
              </a:rPr>
              <a:t>Mot d'ouverture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4A4A49"/>
                </a:solidFill>
                <a:latin typeface="Barlow"/>
              </a:rPr>
              <a:t>Le cadre de la journée, en quelques minutes, avant la première conférence.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CONFÉRENCE 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484000"/>
            <a:ext cx="106092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10h00 – 10h45 · Auditorium Seine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000" y="2988000"/>
            <a:ext cx="10609200" cy="273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2000" y="2988000"/>
            <a:ext cx="57600" cy="2736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52000" y="3276000"/>
            <a:ext cx="990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1A1A2E"/>
                </a:solidFill>
                <a:latin typeface="Barlow Condensed"/>
              </a:rPr>
              <a:t>Des 7 principes du test aux 7 principes de la qualité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000" y="4536000"/>
            <a:ext cx="990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6A6A"/>
                </a:solidFill>
                <a:latin typeface="Barlow"/>
              </a:rPr>
              <a:t>« Un produit peut être parfaitement testé… et pourtant inutilisable. 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2000" y="5220000"/>
            <a:ext cx="990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A49"/>
                </a:solidFill>
                <a:latin typeface="Barlow"/>
              </a:rPr>
              <a:t>Intervenant·es : </a:t>
            </a:r>
            <a:r>
              <a:rPr sz="1300" b="1">
                <a:solidFill>
                  <a:srgbClr val="C01020"/>
                </a:solidFill>
                <a:latin typeface="Barlow"/>
              </a:rPr>
              <a:t>[ à compléter 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CONFÉRENCE 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484000"/>
            <a:ext cx="106092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10h45 – 11h30 · Auditorium Seine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000" y="2988000"/>
            <a:ext cx="10609200" cy="273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2000" y="2988000"/>
            <a:ext cx="57600" cy="2736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52000" y="3276000"/>
            <a:ext cx="990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1A1A2E"/>
                </a:solidFill>
                <a:latin typeface="Barlow Condensed"/>
              </a:rPr>
              <a:t>De l'IA générative aux tests « augmentés » : les 7 leçons apprises pour industrialiser l'IA dans le cycle de test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000" y="4536000"/>
            <a:ext cx="990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6A6A"/>
                </a:solidFill>
                <a:latin typeface="Barlow"/>
              </a:rPr>
              <a:t>« Le rôle du testeur ne disparaît pas… il se transforme. 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2000" y="5220000"/>
            <a:ext cx="990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A49"/>
                </a:solidFill>
                <a:latin typeface="Barlow"/>
              </a:rPr>
              <a:t>Intervenant·es : </a:t>
            </a:r>
            <a:r>
              <a:rPr sz="1300" b="1">
                <a:solidFill>
                  <a:srgbClr val="C01020"/>
                </a:solidFill>
                <a:latin typeface="Barlow"/>
              </a:rPr>
              <a:t>[ à compléter 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TABLE RONDE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484000"/>
            <a:ext cx="106092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11h30 – 12h15 · Auditorium Seine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000" y="2988000"/>
            <a:ext cx="10609200" cy="273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2000" y="2988000"/>
            <a:ext cx="57600" cy="2736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52000" y="3276000"/>
            <a:ext cx="99000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>
                <a:solidFill>
                  <a:srgbClr val="1A1A2E"/>
                </a:solidFill>
                <a:latin typeface="Barlow Condensed"/>
              </a:rPr>
              <a:t>Mode produit et les tests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000" y="4536000"/>
            <a:ext cx="990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006A6A"/>
                </a:solidFill>
                <a:latin typeface="Barlow"/>
              </a:rPr>
              <a:t>« Mode produit ADE : comment CAAS transforme ses approches de test pour accompagner la fabrication agile ? 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2000" y="5220000"/>
            <a:ext cx="9900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4A4A49"/>
                </a:solidFill>
                <a:latin typeface="Barlow"/>
              </a:rPr>
              <a:t>Intervenant·es : </a:t>
            </a:r>
            <a:r>
              <a:rPr sz="1300" b="1">
                <a:solidFill>
                  <a:srgbClr val="C01020"/>
                </a:solidFill>
                <a:latin typeface="Barlow"/>
              </a:rPr>
              <a:t>[ à compléter 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PAUSE DÉJEUNER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2000" y="2592000"/>
            <a:ext cx="106092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2000" y="2592000"/>
            <a:ext cx="57600" cy="259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52000" y="2952000"/>
            <a:ext cx="9900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A1A2E"/>
                </a:solidFill>
                <a:latin typeface="Barlow Condensed"/>
              </a:rPr>
              <a:t>12h15 · Cocktail déjeunatoire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000" y="3816000"/>
            <a:ext cx="990000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4A4A49"/>
                </a:solidFill>
                <a:latin typeface="Barlow"/>
              </a:rPr>
              <a:t>Une heure et demie pour déjeuner, prolonger les échanges du matin et repérer les kiosques de l'après-midi.</a:t>
            </a:r>
          </a:p>
          <a:p>
            <a:pPr algn="l">
              <a:lnSpc>
                <a:spcPct val="180000"/>
              </a:lnSpc>
            </a:pPr>
            <a:r>
              <a:rPr sz="1500" b="1">
                <a:solidFill>
                  <a:srgbClr val="006A6A"/>
                </a:solidFill>
                <a:latin typeface="Barlow"/>
              </a:rPr>
              <a:t>Reprise à 13h40 avec la présentation de l'organisation des kiosques.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L'APRÈS-MIDI, MODE D'EMPLOI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484000"/>
            <a:ext cx="106092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Dix kiosques tournent en même temps, cinq fois de suite. Vous en faites cinq, dans l'ordre que vous voulez.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000" y="2988000"/>
            <a:ext cx="2463300" cy="1944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2000" y="2988000"/>
            <a:ext cx="57600" cy="1944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3999" y="3204000"/>
            <a:ext cx="1959301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006A6A"/>
                </a:solidFill>
                <a:latin typeface="Barlow Condensed"/>
              </a:rPr>
              <a:t>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3999" y="3888000"/>
            <a:ext cx="1959301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2E"/>
                </a:solidFill>
                <a:latin typeface="Barlow Condensed"/>
              </a:rPr>
              <a:t>kiosques en simultané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4A4A49"/>
                </a:solidFill>
                <a:latin typeface="Barlow"/>
              </a:rPr>
              <a:t>Dix sujets, dix salles au rez-de-jardin.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7299" y="2988000"/>
            <a:ext cx="2463300" cy="1944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507299" y="2988000"/>
            <a:ext cx="57600" cy="1944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59298" y="3204000"/>
            <a:ext cx="1959301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006A6A"/>
                </a:solidFill>
                <a:latin typeface="Barlow Condensed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59298" y="3888000"/>
            <a:ext cx="1959301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2E"/>
                </a:solidFill>
                <a:latin typeface="Barlow Condensed"/>
              </a:rPr>
              <a:t>rotations identiques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4A4A49"/>
                </a:solidFill>
                <a:latin typeface="Barlow"/>
              </a:rPr>
              <a:t>Le même kiosque est joué cinq fois : rien à rater.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598" y="2988000"/>
            <a:ext cx="2463300" cy="1944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598" y="2988000"/>
            <a:ext cx="57600" cy="1944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4597" y="3204000"/>
            <a:ext cx="1959301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006A6A"/>
                </a:solidFill>
                <a:latin typeface="Barlow Condensed"/>
              </a:rPr>
              <a:t>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4597" y="3888000"/>
            <a:ext cx="1959301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2E"/>
                </a:solidFill>
                <a:latin typeface="Barlow Condensed"/>
              </a:rPr>
              <a:t>minutes d'atelier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4A4A49"/>
                </a:solidFill>
                <a:latin typeface="Barlow"/>
              </a:rPr>
              <a:t>Puis 5 minutes de questions avant de changer de salle.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37897" y="2988000"/>
            <a:ext cx="2463300" cy="1944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37897" y="2988000"/>
            <a:ext cx="57600" cy="1944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9896" y="3204000"/>
            <a:ext cx="1959301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006A6A"/>
                </a:solidFill>
                <a:latin typeface="Barlow Condensed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896" y="3888000"/>
            <a:ext cx="1959301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2E"/>
                </a:solidFill>
                <a:latin typeface="Barlow Condensed"/>
              </a:rPr>
              <a:t>kiosques par personne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4A4A49"/>
                </a:solidFill>
                <a:latin typeface="Barlow"/>
              </a:rPr>
              <a:t>Un par rotation — à vous de composer votre parcours.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2000" y="5220000"/>
            <a:ext cx="10609200" cy="900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0000" y="5382000"/>
            <a:ext cx="288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B4B4"/>
                </a:solidFill>
                <a:latin typeface="Barlow Condensed"/>
              </a:rPr>
              <a:t>LES 5 ROTATIONS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76000" y="5400000"/>
            <a:ext cx="1329840" cy="54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76000" y="5500800"/>
            <a:ext cx="132984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Barlow Condensed"/>
              </a:rPr>
              <a:t>14h00 → 14h30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49840" y="5400000"/>
            <a:ext cx="1329840" cy="54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49840" y="5500800"/>
            <a:ext cx="132984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Barlow Condensed"/>
              </a:rPr>
              <a:t>14h30 → 15h00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23680" y="5400000"/>
            <a:ext cx="1329840" cy="54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23680" y="5500800"/>
            <a:ext cx="132984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Barlow Condensed"/>
              </a:rPr>
              <a:t>15h00 → 15h30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597520" y="5400000"/>
            <a:ext cx="1329840" cy="54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97520" y="5500800"/>
            <a:ext cx="132984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Barlow Condensed"/>
              </a:rPr>
              <a:t>15h30 → 16h00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071360" y="5400000"/>
            <a:ext cx="1329840" cy="54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71360" y="5500800"/>
            <a:ext cx="132984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Barlow Condensed"/>
              </a:rPr>
              <a:t>16h00 → 16h30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LES DIX KIOSQUES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2000" y="2592000"/>
            <a:ext cx="5184000" cy="69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2000" y="2592000"/>
            <a:ext cx="57600" cy="6912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2000" y="2728800"/>
            <a:ext cx="54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6A6A"/>
                </a:solidFill>
                <a:latin typeface="Barlow Condensed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19999" y="2692800"/>
            <a:ext cx="4176001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2E"/>
                </a:solidFill>
                <a:latin typeface="Barlow Condensed"/>
              </a:rPr>
              <a:t>Ludopédagogie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4A4A49"/>
                </a:solidFill>
                <a:latin typeface="Barlow"/>
              </a:rPr>
              <a:t>Tour de Babel ou Marshmallow Challenge : découvrez par le jeu pourquoi il faut tester tôt !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3333600"/>
            <a:ext cx="5184000" cy="69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2000" y="3333600"/>
            <a:ext cx="57600" cy="6912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2000" y="3470400"/>
            <a:ext cx="54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6A6A"/>
                </a:solidFill>
                <a:latin typeface="Barlow Condense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19999" y="3434400"/>
            <a:ext cx="4176001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2E"/>
                </a:solidFill>
                <a:latin typeface="Barlow Condensed"/>
              </a:rPr>
              <a:t>LynQA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4A4A49"/>
                </a:solidFill>
                <a:latin typeface="Barlow"/>
              </a:rPr>
              <a:t>L'agent IA qui exécute vos tests manuels pendant que vous dormez — sans scripting, sans restructuration.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4075200"/>
            <a:ext cx="5184000" cy="69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2000" y="4075200"/>
            <a:ext cx="57600" cy="6912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2000" y="4212000"/>
            <a:ext cx="54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6A6A"/>
                </a:solidFill>
                <a:latin typeface="Barlow Condense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19999" y="4176000"/>
            <a:ext cx="4176001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2E"/>
                </a:solidFill>
                <a:latin typeface="Barlow Condensed"/>
              </a:rPr>
              <a:t>Écosystème d'agents IA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4A4A49"/>
                </a:solidFill>
                <a:latin typeface="Barlow"/>
              </a:rPr>
              <a:t>Coder, Tester, Automatiser… 3 agents IA, une chaîne de production de test automatisé !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000" y="4816800"/>
            <a:ext cx="5184000" cy="69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2000" y="4816800"/>
            <a:ext cx="57600" cy="6912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2000" y="4953600"/>
            <a:ext cx="54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6A6A"/>
                </a:solidFill>
                <a:latin typeface="Barlow Condensed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19999" y="4917600"/>
            <a:ext cx="4176001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2E"/>
                </a:solidFill>
                <a:latin typeface="Barlow Condensed"/>
              </a:rPr>
              <a:t>Yest Companion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4A4A49"/>
                </a:solidFill>
                <a:latin typeface="Barlow"/>
              </a:rPr>
              <a:t>De la page blanche à la mise à jour : l'IA propose les parcours à partir de vos US Jira/Confluence, vous validez.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2000" y="5558400"/>
            <a:ext cx="5184000" cy="69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92000" y="5558400"/>
            <a:ext cx="57600" cy="6912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2000" y="5695200"/>
            <a:ext cx="54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6A6A"/>
                </a:solidFill>
                <a:latin typeface="Barlow Condensed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19999" y="5659200"/>
            <a:ext cx="4176001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2E"/>
                </a:solidFill>
                <a:latin typeface="Barlow Condensed"/>
              </a:rPr>
              <a:t>Bâtisseurs de pyramides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4A4A49"/>
                </a:solidFill>
                <a:latin typeface="Barlow"/>
              </a:rPr>
              <a:t>Construisez votre VRAIE pyramide de tests en 3D interactive — trouvez le bon équilibre en mode collaboratif !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200" y="2592000"/>
            <a:ext cx="5184000" cy="69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17200" y="2592000"/>
            <a:ext cx="57600" cy="6912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97200" y="2728800"/>
            <a:ext cx="54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C01020"/>
                </a:solidFill>
                <a:latin typeface="Barlow Condensed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5199" y="2692800"/>
            <a:ext cx="4176001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2E"/>
                </a:solidFill>
                <a:latin typeface="Barlow Condensed"/>
              </a:rPr>
              <a:t>Référentiel de tests X-Ray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4A4A49"/>
                </a:solidFill>
                <a:latin typeface="Barlow"/>
              </a:rPr>
              <a:t>Au revoir QC, bienvenue X-Ray ! Découvrez le produit et la trajectoire de migration 2027.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17200" y="3333600"/>
            <a:ext cx="5184000" cy="69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217200" y="3333600"/>
            <a:ext cx="57600" cy="6912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97200" y="3470400"/>
            <a:ext cx="54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C01020"/>
                </a:solidFill>
                <a:latin typeface="Barlow Condensed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45199" y="3434400"/>
            <a:ext cx="4176001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2E"/>
                </a:solidFill>
                <a:latin typeface="Barlow Condensed"/>
              </a:rPr>
              <a:t>SDSI Test &amp; IA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4A4A49"/>
                </a:solidFill>
                <a:latin typeface="Barlow"/>
              </a:rPr>
              <a:t>IACA &amp; IACT : deux agents IA pour générer critères d'acceptance et cas de test directement depuis vos US.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200" y="4075200"/>
            <a:ext cx="5184000" cy="69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17200" y="4075200"/>
            <a:ext cx="57600" cy="6912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97200" y="4212000"/>
            <a:ext cx="54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C01020"/>
                </a:solidFill>
                <a:latin typeface="Barlow Condensed"/>
              </a:rPr>
              <a:t>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45199" y="4176000"/>
            <a:ext cx="4176001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2E"/>
                </a:solidFill>
                <a:latin typeface="Barlow Condensed"/>
              </a:rPr>
              <a:t>JADD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4A4A49"/>
                </a:solidFill>
                <a:latin typeface="Barlow"/>
              </a:rPr>
              <a:t>Les données de production à portée de clic pour vos tests : enrichissez, réutilisez, rechargez en quelques clics.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17200" y="4816800"/>
            <a:ext cx="5184000" cy="69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17200" y="4816800"/>
            <a:ext cx="57600" cy="6912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97200" y="4953600"/>
            <a:ext cx="54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C01020"/>
                </a:solidFill>
                <a:latin typeface="Barlow Condensed"/>
              </a:rPr>
              <a:t>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045199" y="4917600"/>
            <a:ext cx="4176001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2E"/>
                </a:solidFill>
                <a:latin typeface="Barlow Condensed"/>
              </a:rPr>
              <a:t>SauceLabs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4A4A49"/>
                </a:solidFill>
                <a:latin typeface="Barlow"/>
              </a:rPr>
              <a:t>Testez partout et homologuez en toute confiance — démos live sur la plateforme mobile, du dev à la validation.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17200" y="5558400"/>
            <a:ext cx="5184000" cy="691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217200" y="5558400"/>
            <a:ext cx="57600" cy="6912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97200" y="5695200"/>
            <a:ext cx="54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C01020"/>
                </a:solidFill>
                <a:latin typeface="Barlow Condensed"/>
              </a:rPr>
              <a:t>10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45199" y="5659200"/>
            <a:ext cx="4176001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A1A2E"/>
                </a:solidFill>
                <a:latin typeface="Barlow Condensed"/>
              </a:rPr>
              <a:t>Vidéo TESTY — libre service</a:t>
            </a:r>
          </a:p>
          <a:p>
            <a:pPr algn="l">
              <a:lnSpc>
                <a:spcPct val="135000"/>
              </a:lnSpc>
            </a:pPr>
            <a:r>
              <a:rPr sz="850" b="0">
                <a:solidFill>
                  <a:srgbClr val="4A4A49"/>
                </a:solidFill>
                <a:latin typeface="Barlow"/>
              </a:rPr>
              <a:t>Plongez dans l'univers coloré et décalé de TESTY : le métier de testeur en épisodes courts, ludiques, sans jargon.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LE JEU — CINQ FICHES, UNE URNE, TROIS GAGNANTS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484000"/>
            <a:ext cx="106092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Chaque kiosque visité vous rapproche du tirage au sort de fin de journée.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000" y="2988000"/>
            <a:ext cx="2463300" cy="25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2000" y="2988000"/>
            <a:ext cx="57600" cy="2520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43999" y="3239999"/>
            <a:ext cx="540000" cy="540000"/>
          </a:xfrm>
          <a:prstGeom prst="ellipse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3999" y="3304800"/>
            <a:ext cx="5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Barlow Condensed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3999" y="3924000"/>
            <a:ext cx="1959301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A1A2E"/>
                </a:solidFill>
                <a:latin typeface="Barlow Condensed"/>
              </a:rPr>
              <a:t>Une fiche par kiosque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4A4A49"/>
                </a:solidFill>
                <a:latin typeface="Barlow"/>
              </a:rPr>
              <a:t>À chaque kiosque auquel vous assistez, une fiche vous est remise.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07299" y="2988000"/>
            <a:ext cx="2463300" cy="25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7299" y="2988000"/>
            <a:ext cx="57600" cy="2520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759298" y="3239999"/>
            <a:ext cx="540000" cy="540000"/>
          </a:xfrm>
          <a:prstGeom prst="ellipse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59298" y="3304800"/>
            <a:ext cx="5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Barlow Condensed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59298" y="3924000"/>
            <a:ext cx="1959301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A1A2E"/>
                </a:solidFill>
                <a:latin typeface="Barlow Condensed"/>
              </a:rPr>
              <a:t>Vos nom et prénom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4A4A49"/>
                </a:solidFill>
                <a:latin typeface="Barlow"/>
              </a:rPr>
              <a:t>Vous y inscrivez vos nom et prénom, et le numéro du kiosque.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22598" y="2988000"/>
            <a:ext cx="2463300" cy="25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22598" y="2988000"/>
            <a:ext cx="57600" cy="2520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474597" y="3239999"/>
            <a:ext cx="540000" cy="540000"/>
          </a:xfrm>
          <a:prstGeom prst="ellipse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4597" y="3304800"/>
            <a:ext cx="5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Barlow Condensed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4597" y="3924000"/>
            <a:ext cx="1959301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A1A2E"/>
                </a:solidFill>
                <a:latin typeface="Barlow Condensed"/>
              </a:rPr>
              <a:t>Dans l'urne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4A4A49"/>
                </a:solidFill>
                <a:latin typeface="Barlow"/>
              </a:rPr>
              <a:t>Vous déposez la fiche dans l'urne. Cinq kiosques dans l'après-midi, donc cinq fiches.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37897" y="2988000"/>
            <a:ext cx="2463300" cy="25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937897" y="2988000"/>
            <a:ext cx="57600" cy="2520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189896" y="3239999"/>
            <a:ext cx="540000" cy="540000"/>
          </a:xfrm>
          <a:prstGeom prst="ellipse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89896" y="3304800"/>
            <a:ext cx="5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Barlow Condense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89896" y="3924000"/>
            <a:ext cx="1959301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A1A2E"/>
                </a:solidFill>
                <a:latin typeface="Barlow Condensed"/>
              </a:rPr>
              <a:t>Trois gagnants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4A4A49"/>
                </a:solidFill>
                <a:latin typeface="Barlow"/>
              </a:rPr>
              <a:t>Tirage au sort de trois personnes pour trois lots distincts, remis au mot de clôture.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2000" y="5616000"/>
            <a:ext cx="10609200" cy="684000"/>
          </a:xfrm>
          <a:prstGeom prst="rect">
            <a:avLst/>
          </a:prstGeom>
          <a:solidFill>
            <a:srgbClr val="E0F7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80000" y="5796000"/>
            <a:ext cx="990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6A6A"/>
                </a:solidFill>
                <a:latin typeface="Barlow"/>
              </a:rPr>
              <a:t>Cinq fiches déposées, cinq chances au tirage. </a:t>
            </a:r>
            <a:r>
              <a:rPr sz="1300" b="0">
                <a:solidFill>
                  <a:srgbClr val="4A4A49"/>
                </a:solidFill>
                <a:latin typeface="Barlow"/>
              </a:rPr>
              <a:t>Les trois lots : </a:t>
            </a:r>
            <a:r>
              <a:rPr sz="1300" b="1">
                <a:solidFill>
                  <a:srgbClr val="C01020"/>
                </a:solidFill>
                <a:latin typeface="Barlow"/>
              </a:rPr>
              <a:t>[ à compléter 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LE PROGRAMME DANS VOTRE POCHE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484000"/>
            <a:ext cx="106092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Un QR code sur les affiches, les écrans et à chaque porte de salle.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000" y="2988000"/>
            <a:ext cx="2951999" cy="2951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5" name="Picture 14" descr="testing-event-20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000" y="3168000"/>
            <a:ext cx="2592000" cy="25920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536000" y="2988000"/>
            <a:ext cx="6865200" cy="7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36000" y="2988000"/>
            <a:ext cx="57600" cy="72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87999" y="3103200"/>
            <a:ext cx="6372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2E"/>
                </a:solidFill>
                <a:latin typeface="Barlow Condensed"/>
              </a:rPr>
              <a:t>Les dix kiosques en détail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4A4A49"/>
                </a:solidFill>
                <a:latin typeface="Barlow"/>
              </a:rPr>
              <a:t>Le sujet, le pitch, ce que vous allez y faire.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6000" y="3815999"/>
            <a:ext cx="6865200" cy="7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36000" y="3815999"/>
            <a:ext cx="57600" cy="72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87999" y="3931199"/>
            <a:ext cx="6372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2E"/>
                </a:solidFill>
                <a:latin typeface="Barlow Condensed"/>
              </a:rPr>
              <a:t>La salle de chaque kiosque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4A4A49"/>
                </a:solidFill>
                <a:latin typeface="Barlow"/>
              </a:rPr>
              <a:t>Publiée le jour même — les affectations tombent tard.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36000" y="4643998"/>
            <a:ext cx="6865200" cy="7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36000" y="4643998"/>
            <a:ext cx="57600" cy="72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87999" y="4759198"/>
            <a:ext cx="6372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2E"/>
                </a:solidFill>
                <a:latin typeface="Barlow Condensed"/>
              </a:rPr>
              <a:t>Le plan du rez-de-jardin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4A4A49"/>
                </a:solidFill>
                <a:latin typeface="Barlow"/>
              </a:rPr>
              <a:t>Touchez une salle : elle s'allume sur le plan.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36000" y="5471997"/>
            <a:ext cx="6865200" cy="72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36000" y="5471997"/>
            <a:ext cx="57600" cy="72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87999" y="5587197"/>
            <a:ext cx="6372000" cy="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1A2E"/>
                </a:solidFill>
                <a:latin typeface="Barlow Condensed"/>
              </a:rPr>
              <a:t>Votre sélection de 5 kiosques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4A4A49"/>
                </a:solidFill>
                <a:latin typeface="Barlow"/>
              </a:rPr>
              <a:t>Elle reste dans votre téléphone, même après la mise à jour des salles.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2000" y="6048000"/>
            <a:ext cx="295199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4A4A49"/>
                </a:solidFill>
                <a:latin typeface="Barlow"/>
              </a:rPr>
              <a:t>Aucune inscription, aucun compte.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CLÔTURE ET REMISE DES LOTS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2000" y="2592000"/>
            <a:ext cx="10609200" cy="25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2000" y="2592000"/>
            <a:ext cx="57600" cy="259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52000" y="2952000"/>
            <a:ext cx="9900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16h30 – 17h00 · Mot de clôture &amp; remise des lots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000" y="3816000"/>
            <a:ext cx="9900000" cy="1007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4A4A49"/>
                </a:solidFill>
                <a:latin typeface="Barlow"/>
              </a:rPr>
              <a:t>Retour sur la journée, puis tirage au sort de l'urne : trois fiches, trois gagnants, trois lots.</a:t>
            </a:r>
          </a:p>
          <a:p>
            <a:pPr algn="l">
              <a:lnSpc>
                <a:spcPct val="180000"/>
              </a:lnSpc>
            </a:pPr>
            <a:r>
              <a:rPr sz="1500" b="1">
                <a:solidFill>
                  <a:srgbClr val="C01020"/>
                </a:solidFill>
                <a:latin typeface="Barlow"/>
              </a:rPr>
              <a:t>Il faut être présent pour repartir avec son lot.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80000" y="6516000"/>
            <a:ext cx="13212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00B4B4"/>
                </a:solidFill>
                <a:latin typeface="Barlow Condensed"/>
              </a:rPr>
              <a:t>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MERCI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484000"/>
            <a:ext cx="106092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4A4A49"/>
                </a:solidFill>
                <a:latin typeface="Barlow"/>
              </a:rPr>
              <a:t>Cette journée est le travail de celles et ceux qui l'ont préparée, animée et soutenue.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000" y="2988000"/>
            <a:ext cx="2463300" cy="28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2000" y="2988000"/>
            <a:ext cx="57600" cy="288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3999" y="3239999"/>
            <a:ext cx="1959301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006A6A"/>
                </a:solidFill>
                <a:latin typeface="Barlow Condensed"/>
              </a:rPr>
              <a:t>INTERVENANT·ES DU MATIN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4A4A49"/>
                </a:solidFill>
                <a:latin typeface="Barlow"/>
              </a:rPr>
              <a:t>Conférences 1 et 2, table ronde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3999" y="4212000"/>
            <a:ext cx="1959301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01020"/>
                </a:solidFill>
                <a:latin typeface="Barlow"/>
              </a:rPr>
              <a:t>[ à compléter 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7299" y="2988000"/>
            <a:ext cx="2463300" cy="28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507299" y="2988000"/>
            <a:ext cx="57600" cy="288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59298" y="3239999"/>
            <a:ext cx="1959301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006A6A"/>
                </a:solidFill>
                <a:latin typeface="Barlow Condensed"/>
              </a:rPr>
              <a:t>ANIMATEUR·RICES DES KIOSQUES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4A4A49"/>
                </a:solidFill>
                <a:latin typeface="Barlow"/>
              </a:rPr>
              <a:t>Les dix kiosques de l'après-midi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59298" y="4212000"/>
            <a:ext cx="1959301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01020"/>
                </a:solidFill>
                <a:latin typeface="Barlow"/>
              </a:rPr>
              <a:t>[ à compléter 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22598" y="2988000"/>
            <a:ext cx="2463300" cy="28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598" y="2988000"/>
            <a:ext cx="57600" cy="288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4597" y="3239999"/>
            <a:ext cx="1959301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006A6A"/>
                </a:solidFill>
                <a:latin typeface="Barlow Condensed"/>
              </a:rPr>
              <a:t>ÉQUIPE D'ORGANISATION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4A4A49"/>
                </a:solidFill>
                <a:latin typeface="Barlow"/>
              </a:rPr>
              <a:t>Préparation, logistique, accueil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4597" y="4212000"/>
            <a:ext cx="1959301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01020"/>
                </a:solidFill>
                <a:latin typeface="Barlow"/>
              </a:rPr>
              <a:t>[ à compléter 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37897" y="2988000"/>
            <a:ext cx="2463300" cy="28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37897" y="2988000"/>
            <a:ext cx="57600" cy="2880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9896" y="3239999"/>
            <a:ext cx="1959301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006A6A"/>
                </a:solidFill>
                <a:latin typeface="Barlow Condensed"/>
              </a:rPr>
              <a:t>PARTENAIRES</a:t>
            </a:r>
          </a:p>
          <a:p>
            <a:pPr algn="l">
              <a:lnSpc>
                <a:spcPct val="150000"/>
              </a:lnSpc>
            </a:pPr>
            <a:r>
              <a:rPr sz="1000" b="0">
                <a:solidFill>
                  <a:srgbClr val="4A4A49"/>
                </a:solidFill>
                <a:latin typeface="Barlow"/>
              </a:rPr>
              <a:t>Éditeurs et partenaires de la journée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896" y="4212000"/>
            <a:ext cx="1959301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01020"/>
                </a:solidFill>
                <a:latin typeface="Barlow"/>
              </a:rPr>
              <a:t>[ à compléter 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8400" y="1296000"/>
            <a:ext cx="3960000" cy="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000" y="2664000"/>
            <a:ext cx="10609200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6600" b="1">
                <a:solidFill>
                  <a:srgbClr val="FFFFFF"/>
                </a:solidFill>
                <a:latin typeface="Barlow Condensed"/>
              </a:rPr>
              <a:t>MERCI</a:t>
            </a:r>
          </a:p>
        </p:txBody>
      </p:sp>
      <p:sp>
        <p:nvSpPr>
          <p:cNvPr id="5" name="Rectangle 4"/>
          <p:cNvSpPr/>
          <p:nvPr/>
        </p:nvSpPr>
        <p:spPr>
          <a:xfrm>
            <a:off x="5378400" y="4031999"/>
            <a:ext cx="1440000" cy="36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4284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D9EFEF"/>
                </a:solidFill>
                <a:latin typeface="Barlow"/>
              </a:rPr>
              <a:t>Le programme reste en ligne — scannez, il est à jour.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32400" y="4824000"/>
            <a:ext cx="1332000" cy="13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testing-event-20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2400" y="4914000"/>
            <a:ext cx="1152000" cy="1152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