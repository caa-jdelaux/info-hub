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56000"/>
            <a:ext cx="12193200" cy="54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ouverture-log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00" y="1655999"/>
            <a:ext cx="5400000" cy="117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44712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5148000"/>
            <a:ext cx="10609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LUNDI 14 SEPTEMBRE 2026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D9EFEF"/>
                </a:solidFill>
                <a:latin typeface="Barlow"/>
              </a:rPr>
              <a:t>Business Center · 36/44 bd de Vaugirard · Crédit Agricole Assurances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8000" y="5580000"/>
            <a:ext cx="1044000" cy="10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000" y="5652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TITRE DE LA DIAPOSITIVE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Chapeau facultatif : une phrase qui annonce ce que la diapo montre.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30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30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3239999"/>
            <a:ext cx="10080000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6A6A"/>
                </a:solidFill>
                <a:latin typeface="Barlow Condensed"/>
              </a:rPr>
              <a:t>ZONE DE CONTENU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Dupliquez cette diapositive pour en créer une nouvelle : le bandeau, la signature et le pied de page suivront.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La zone utile va de 2,2 cm à 31,7 cm en largeur, et de 4,7 cm à 17,3 cm en hauteur. Barlow Condensed pour les titres, Barlow pour le texte.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C01020"/>
                </a:solidFill>
                <a:latin typeface="Barlow"/>
              </a:rPr>
              <a:t>Cette diapositive est un gabarit : retirez-la avant de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990000" cy="367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82000" y="3024000"/>
            <a:ext cx="4122000" cy="367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9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0000" y="310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470400"/>
            <a:ext cx="990000" cy="36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2000" y="3470400"/>
            <a:ext cx="4122000" cy="367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542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9h45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80000" y="3549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39168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782000" y="39168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782000" y="3916800"/>
            <a:ext cx="79200" cy="558000"/>
          </a:xfrm>
          <a:prstGeom prst="rect">
            <a:avLst/>
          </a:prstGeom>
          <a:solidFill>
            <a:srgbClr val="00B4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40842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8000" y="40032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6A"/>
                </a:solidFill>
                <a:latin typeface="Barlow Condensed"/>
              </a:rPr>
              <a:t>★ CONFÉRENCE 1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5540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82000" y="45540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2000" y="4554000"/>
            <a:ext cx="79200" cy="558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721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10h45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98000" y="46404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1020"/>
                </a:solidFill>
                <a:latin typeface="Barlow Condensed"/>
              </a:rPr>
              <a:t>★ CONFÉRENCE 2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2000" y="5191200"/>
            <a:ext cx="990000" cy="5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782000" y="5191200"/>
            <a:ext cx="4122000" cy="5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82000" y="5191200"/>
            <a:ext cx="79200" cy="558000"/>
          </a:xfrm>
          <a:prstGeom prst="rect">
            <a:avLst/>
          </a:prstGeom>
          <a:solidFill>
            <a:srgbClr val="9EBE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000" y="53586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11h30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8000" y="5277600"/>
            <a:ext cx="3744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6A4E"/>
                </a:solidFill>
                <a:latin typeface="Barlow Condensed"/>
              </a:rPr>
              <a:t>★ TABLE RONDE</a:t>
            </a:r>
          </a:p>
          <a:p>
            <a:pPr algn="l">
              <a:lnSpc>
                <a:spcPct val="128000"/>
              </a:lnSpc>
            </a:pPr>
            <a:r>
              <a:rPr sz="1200" b="1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000" y="5828400"/>
            <a:ext cx="990000" cy="367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82000" y="5828400"/>
            <a:ext cx="4122000" cy="367200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2000" y="59004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12h15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80000" y="59076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B4500"/>
                </a:solidFill>
                <a:latin typeface="Barlow"/>
              </a:rPr>
              <a:t>Cocktail déjeunatoire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28000" y="3024000"/>
            <a:ext cx="990000" cy="439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218000" y="3024000"/>
            <a:ext cx="4122000" cy="439200"/>
          </a:xfrm>
          <a:prstGeom prst="rect">
            <a:avLst/>
          </a:prstGeom>
          <a:solidFill>
            <a:srgbClr val="F0F0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28000" y="3132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13h40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16000" y="3139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8000" y="3722400"/>
            <a:ext cx="5112000" cy="835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9999" y="3909600"/>
            <a:ext cx="4608001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10 KIOSQUES EN SIMULTANÉ · 5 ROTATIONS IDENTIQUES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D9EFEF"/>
                </a:solidFill>
                <a:latin typeface="Barlow"/>
              </a:rPr>
              <a:t>20 min d'atelier · 5 min de questions — choisissez vos sessions !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2800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2800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2800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7632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7632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7632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14h30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2464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464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464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7296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7296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7296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15h30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1280" y="4816800"/>
            <a:ext cx="918720" cy="666000"/>
          </a:xfrm>
          <a:prstGeom prst="rect">
            <a:avLst/>
          </a:prstGeom>
          <a:solidFill>
            <a:srgbClr val="D9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421280" y="4816800"/>
            <a:ext cx="50400" cy="666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21280" y="4953600"/>
            <a:ext cx="91872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16h00</a:t>
            </a:r>
          </a:p>
          <a:p>
            <a:pPr algn="ctr">
              <a:lnSpc>
                <a:spcPct val="150000"/>
              </a:lnSpc>
            </a:pPr>
            <a:r>
              <a:rPr sz="800" b="0">
                <a:solidFill>
                  <a:srgbClr val="4A4A49"/>
                </a:solidFill>
                <a:latin typeface="Barlow"/>
              </a:rPr>
              <a:t>Rotation 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28000" y="5778000"/>
            <a:ext cx="990000" cy="439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18000" y="5778000"/>
            <a:ext cx="4122000" cy="4392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28000" y="5886000"/>
            <a:ext cx="99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Barlow Condensed"/>
              </a:rPr>
              <a:t>16h30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6000" y="5893200"/>
            <a:ext cx="376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06A6A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OUVERTURE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0" y="2843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0" y="2851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Accueil café &amp; petit-déjeuner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Café, viennoiseries et premiers échanges dans le hall du Business Center.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104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4104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4355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4363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Mot d'ouverture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 cadre de la journée, en quelques minutes, avant la première conférence.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10h00 – 10h45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10h45 – 11h30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TABLE RONDE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11h30 – 12h15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PAUSE DÉJEUNER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12h15 · Cocktail déjeunatoire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Une heure et demie pour déjeuner, prolonger les échanges du matin et repérer les kiosques de l'après-midi.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Reprise à 13h40 avec la présentation de l'organisation des kiosques.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L'APRÈS-MIDI, MODE D'EMPLOI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Dix kiosques tournent en même temps, cinq fois de suite. Vous en faites cinq, dans l'ordre que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en simultané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Dix sujets, dix salles au rez-de-jardin.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rotations identiques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même kiosque est joué cinq fois : rien à rater.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minutes d'atelier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Puis 5 minutes de questions avant de changer de salle.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par personne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Un par rotation — à vous de composer votre parcours.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220000"/>
            <a:ext cx="10609200" cy="90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5382000"/>
            <a:ext cx="28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LES 5 ROTATIONS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600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600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14h00 → 14h30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984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984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14h30 → 15h00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68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2368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15h00 → 15h30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752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752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15h30 → 16h00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136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7136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16h00 → 16h30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LES DIX KIOSQUES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5999" y="25920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2808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5999" y="26856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Ludopédagogie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200" y="25920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1199" y="25920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200" y="28080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1199" y="26856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LynQA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3336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05999" y="33336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3549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5999" y="34272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200" y="33336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31199" y="33336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200" y="35496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1199" y="34272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Yest Companion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0752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05999" y="40752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000" y="4291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5999" y="41688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200" y="40752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31199" y="40752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200" y="42912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1199" y="41688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2000" y="48168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05999" y="48168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032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85999" y="49104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200" y="48168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631199" y="48168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200" y="50328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1199" y="49104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JADD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2000" y="5558400"/>
            <a:ext cx="413999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999" y="55584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2000" y="5774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5999" y="56520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SauceLabs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200" y="5558400"/>
            <a:ext cx="413999" cy="6912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31199" y="5558400"/>
            <a:ext cx="4770001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200" y="5774400"/>
            <a:ext cx="413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Barlow Condensed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1199" y="5652000"/>
            <a:ext cx="444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JEU — CINQ FICHES, UNE URNE, TROIS GAGNANTS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Chaque kiosque visité vous rapproche du tirage au sort de fin de journée.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999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999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999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Une fiche par kiosque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À chaque kiosque auquel vous assistez, une fiche vous est remise.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7299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59298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9298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9298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Vos nom et prénom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y inscrivez vos nom et prénom, et le numéro du kiosque.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2598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2598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74597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4597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4597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Dans l'urne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déposez la fiche dans l'urne. Cinq kiosques dans l'après-midi, donc cinq fiches.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7897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7897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89896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896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896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Trois gagnants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Tirage au sort de trois personnes pour trois lots distincts, remis au mot de clôture.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616000"/>
            <a:ext cx="10609200" cy="684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0000" y="5796000"/>
            <a:ext cx="99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A6A"/>
                </a:solidFill>
                <a:latin typeface="Barlow"/>
              </a:rPr>
              <a:t>Cinq fiches déposées, cinq chances au tirage. </a:t>
            </a:r>
            <a:r>
              <a:rPr sz="1300" b="0">
                <a:solidFill>
                  <a:srgbClr val="4A4A49"/>
                </a:solidFill>
                <a:latin typeface="Barlow"/>
              </a:rPr>
              <a:t>Les trois lots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DANS VOTRE POCHE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Un QR code sur les affiches, les écrans et à chaque porte de salle.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951999" cy="29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3168000"/>
            <a:ext cx="2592000" cy="259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6000" y="2988000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6000" y="2988000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7999" y="3103200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Les dix kiosques en détail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sujet, le pitch, ce que vous allez y faire.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6000" y="3815999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6000" y="3815999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7999" y="3931199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La salle de chaque kiosque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Publiée le jour même — les affectations tombent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6000" y="4643998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6000" y="4643998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7999" y="4759198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 plan du rez-de-jardin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Touchez une salle : elle s'allume sur le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6000" y="5471997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6000" y="5471997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7999" y="5587197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Votre sélection de 5 kiosques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Elle reste dans votre téléphone, même après la mise à jour des salles.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6048000"/>
            <a:ext cx="2951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Aucune inscription, aucun compte.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CLÔTURE ET REMISE DES 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16h30 – 17h00 · Mot de clôture &amp; remise des 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Retour sur la journée, puis tirage au sort de l'urne : trois fiches, trois gagnants, trois lots.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C01020"/>
                </a:solidFill>
                <a:latin typeface="Barlow"/>
              </a:rPr>
              <a:t>Il faut être présent pour repartir avec son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MERCI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Cette journée est le travail de celles et ceux qui l'ont préparée, animée et soutenue.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INTERVENANT·ES DU MATIN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Conférences 1 et 2, table ronde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ANIMATEUR·RICES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Les dix kiosques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ÉQUIPE D'ORGANISATION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Préparation, logistique, accueil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PARTENAIRES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Éditeurs et partenaires de la journée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400" y="1296000"/>
            <a:ext cx="3960000" cy="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664000"/>
            <a:ext cx="106092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MERCI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378400" y="4031999"/>
            <a:ext cx="1440000" cy="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4284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Le programme reste en ligne — scannez, il est à jour.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32400" y="4824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400" y="4914000"/>
            <a:ext cx="1152000" cy="11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