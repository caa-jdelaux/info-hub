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84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" y="180000"/>
            <a:ext cx="2232000" cy="48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0000" y="151200"/>
            <a:ext cx="50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arlow Condensed"/>
              </a:rPr>
              <a:t>PROGRAMME DE LA JOURNÉE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Lundi 14 septembre 2026 · Auditorium Seine &amp; kiosques du rez-de-jardin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60000" y="180000"/>
            <a:ext cx="3276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BUSINESS CENTER CAA</a:t>
            </a:r>
          </a:p>
          <a:p>
            <a:pPr algn="r">
              <a:lnSpc>
                <a:spcPct val="140000"/>
              </a:lnSpc>
            </a:pPr>
            <a:r>
              <a:rPr sz="950" b="0">
                <a:solidFill>
                  <a:srgbClr val="D9EFEF"/>
                </a:solidFill>
                <a:latin typeface="Barlow"/>
              </a:rPr>
              <a:t>36/44 bd de Vaugirard · Paris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46000"/>
            <a:ext cx="12193200" cy="30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000" y="903600"/>
            <a:ext cx="11293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6000"/>
            <a:ext cx="12193200" cy="342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000" y="6609600"/>
            <a:ext cx="7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0" y="6609600"/>
            <a:ext cx="45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0B4B4"/>
                </a:solidFill>
                <a:latin typeface="Barlow"/>
              </a:rPr>
              <a:t>20 min d'atelier · 5 min de questions · 5 min pour changer de salle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" y="1242000"/>
            <a:ext cx="3708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4000" y="1242000"/>
            <a:ext cx="7362000" cy="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000" y="1566000"/>
            <a:ext cx="827999" cy="28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77999" y="1566000"/>
            <a:ext cx="2880001" cy="2880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000" y="1627200"/>
            <a:ext cx="8279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Barlow Condensed"/>
              </a:rPr>
              <a:t>9h00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9999" y="1630800"/>
            <a:ext cx="2592001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6A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1904400"/>
            <a:ext cx="827999" cy="28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77999" y="1904400"/>
            <a:ext cx="2880001" cy="2880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000" y="1965600"/>
            <a:ext cx="8279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Barlow Condensed"/>
              </a:rPr>
              <a:t>9h45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9999" y="1969200"/>
            <a:ext cx="2592001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2242800"/>
            <a:ext cx="3708000" cy="9588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0000" y="2242800"/>
            <a:ext cx="72000" cy="958825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2329200"/>
            <a:ext cx="3366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06A6A"/>
                </a:solidFill>
                <a:latin typeface="Barlow Condensed"/>
              </a:rPr>
              <a:t>10h00 · CONFÉRENCE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" y="2487600"/>
            <a:ext cx="3366000" cy="433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Des 7 principes du test aux 7 principes de la qualité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000" y="2931700"/>
            <a:ext cx="3366000" cy="190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« Un produit peut être parfaitement testé… et pourtant inutilisable. 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" y="3252025"/>
            <a:ext cx="3708000" cy="11688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0000" y="3252025"/>
            <a:ext cx="72000" cy="1168832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000" y="3338425"/>
            <a:ext cx="3366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1020"/>
                </a:solidFill>
                <a:latin typeface="Barlow Condensed"/>
              </a:rPr>
              <a:t>10h45 · CONFÉRENCE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000" y="3496825"/>
            <a:ext cx="3366000" cy="643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De l'IA générative aux tests « augmentés » : les 7 leçons apprises pour industrialiser l'IA dans le cycle de 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000" y="4150932"/>
            <a:ext cx="3366000" cy="190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« Le rôle du testeur ne disparaît pas… il se transforme. 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4471257"/>
            <a:ext cx="3708000" cy="9107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4471257"/>
            <a:ext cx="72000" cy="910743"/>
          </a:xfrm>
          <a:prstGeom prst="rect">
            <a:avLst/>
          </a:prstGeom>
          <a:solidFill>
            <a:srgbClr val="9EBE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000" y="4557657"/>
            <a:ext cx="3366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06A4E"/>
                </a:solidFill>
                <a:latin typeface="Barlow Condensed"/>
              </a:rPr>
              <a:t>11h30 · TABLE RONDE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000" y="4716057"/>
            <a:ext cx="3366000" cy="223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Mode produit et les tests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0" y="4950150"/>
            <a:ext cx="3366000" cy="352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« Mode produit ADE : comment CAAS transforme ses approches de test pour accompagner la fabrication agile ? 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0000" y="5432400"/>
            <a:ext cx="827999" cy="28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77999" y="5432400"/>
            <a:ext cx="2880001" cy="288000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0000" y="5493600"/>
            <a:ext cx="8279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39999" y="5497200"/>
            <a:ext cx="2592001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4500"/>
                </a:solidFill>
                <a:latin typeface="Barlow"/>
              </a:rPr>
              <a:t>Cocktail déjeunatoire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0000" y="5814000"/>
            <a:ext cx="3708000" cy="70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3200" y="5857200"/>
            <a:ext cx="615600" cy="615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0" y="5878800"/>
            <a:ext cx="572400" cy="57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277999" y="5965200"/>
            <a:ext cx="2754001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2E"/>
                </a:solidFill>
                <a:latin typeface="Barlow Condensed"/>
              </a:rPr>
              <a:t>LE PROGRAMME SUR VOTRE TÉLÉPHONE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Le plan des salles, à jour.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74000" y="1566000"/>
            <a:ext cx="827999" cy="28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01999" y="1566000"/>
            <a:ext cx="6534001" cy="2880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4000" y="1627200"/>
            <a:ext cx="8279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Barlow Condensed"/>
              </a:rPr>
              <a:t>13h40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3999" y="1630800"/>
            <a:ext cx="6246001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4000" y="1926000"/>
            <a:ext cx="7362000" cy="28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0" y="2012400"/>
            <a:ext cx="696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B4B4"/>
                </a:solidFill>
                <a:latin typeface="Barlow Condensed"/>
              </a:rPr>
              <a:t>14h00 – 16h30  ·  5 ROTATIONS DE 30 MIN  ·  10 KIOSQUES EN SIMULTANÉ  ·  CHOISISSEZ VOS SESSIONS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74000" y="2286000"/>
            <a:ext cx="396000" cy="70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70000" y="2286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4000" y="2532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2000" y="2372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Ludopédagogie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65200" y="2358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65200" y="2376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Wisla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2000" y="2581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10800" y="2286000"/>
            <a:ext cx="396000" cy="709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506800" y="2286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10800" y="2532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68800" y="2372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LynQA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02000" y="2358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02000" y="2376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Donau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68800" y="2581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4000" y="3042000"/>
            <a:ext cx="396000" cy="70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70000" y="3042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74000" y="3288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32000" y="3128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65200" y="3114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65200" y="3132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Liffey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2000" y="3337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10800" y="3042000"/>
            <a:ext cx="396000" cy="709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506800" y="3042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10800" y="3288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68800" y="3128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Yest Companion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602000" y="3114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02000" y="3132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Douro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68800" y="3337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74000" y="3798000"/>
            <a:ext cx="396000" cy="70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70000" y="3798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74000" y="4044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32000" y="3884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65200" y="3870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65200" y="3888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Rhône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2000" y="4093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10800" y="3798000"/>
            <a:ext cx="396000" cy="709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506800" y="3798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110800" y="4044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68800" y="3884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602000" y="3870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602000" y="3888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Tajo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68800" y="4093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374000" y="4554000"/>
            <a:ext cx="396000" cy="70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770000" y="4554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74000" y="4800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32000" y="4640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65200" y="4626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65200" y="4644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Adige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32000" y="4849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10800" y="4554000"/>
            <a:ext cx="396000" cy="709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506800" y="4554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110800" y="4800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68800" y="4640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JADD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602000" y="4626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602000" y="4644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Loire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668800" y="4849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74000" y="5310000"/>
            <a:ext cx="396000" cy="70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70000" y="5310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74000" y="5556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32000" y="5396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SauceLabs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65200" y="5382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865200" y="5400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Moselle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932000" y="5605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110800" y="5310000"/>
            <a:ext cx="396000" cy="709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506800" y="5310000"/>
            <a:ext cx="3229200" cy="709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110800" y="5556600"/>
            <a:ext cx="396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668800" y="5396400"/>
            <a:ext cx="18612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2E"/>
                </a:solidFill>
                <a:latin typeface="Barlow Condensed"/>
              </a:rPr>
              <a:t>Mini-Série TESTY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602000" y="5382000"/>
            <a:ext cx="990000" cy="18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602000" y="5400000"/>
            <a:ext cx="99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06A6A"/>
                </a:solidFill>
                <a:latin typeface="Barlow Condensed"/>
              </a:rPr>
              <a:t>Sumida + Alzette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68800" y="5605200"/>
            <a:ext cx="292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374000" y="6091200"/>
            <a:ext cx="827999" cy="28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201999" y="6091200"/>
            <a:ext cx="6534001" cy="2880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374000" y="6152400"/>
            <a:ext cx="8279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Barlow Condensed"/>
              </a:rPr>
              <a:t>16h30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63999" y="6156000"/>
            <a:ext cx="6246001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6A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