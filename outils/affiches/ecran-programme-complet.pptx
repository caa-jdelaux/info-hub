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846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logo-testing-ev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180000"/>
            <a:ext cx="2232000" cy="483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40000" y="151200"/>
            <a:ext cx="5040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Barlow Condensed"/>
              </a:rPr>
              <a:t>PROGRAMME DE LA JOURNÉE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D9EFEF"/>
                </a:solidFill>
                <a:latin typeface="Barlow"/>
              </a:rPr>
              <a:t>Lundi 14 septembre 2026 · Auditorium Seine &amp; kiosques du rez-de-jardin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60000" y="180000"/>
            <a:ext cx="3276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>
                <a:solidFill>
                  <a:srgbClr val="00B4B4"/>
                </a:solidFill>
                <a:latin typeface="Barlow Condensed"/>
              </a:rPr>
              <a:t>BUSINESS CENTER CAA</a:t>
            </a:r>
          </a:p>
          <a:p>
            <a:pPr algn="r">
              <a:lnSpc>
                <a:spcPct val="140000"/>
              </a:lnSpc>
            </a:pPr>
            <a:r>
              <a:rPr sz="950" b="0">
                <a:solidFill>
                  <a:srgbClr val="D9EFEF"/>
                </a:solidFill>
                <a:latin typeface="Barlow"/>
              </a:rPr>
              <a:t>36/44 bd de Vaugirard · Paris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846000"/>
            <a:ext cx="12193200" cy="306000"/>
          </a:xfrm>
          <a:prstGeom prst="rect">
            <a:avLst/>
          </a:prstGeom>
          <a:solidFill>
            <a:srgbClr val="ED1B2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0000" y="903600"/>
            <a:ext cx="112932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Barlow Condensed"/>
              </a:rPr>
              <a:t>★  TEST : LES TRANSFORMATIONS EN MARCHE ET LES GRANDS DÉFIS DE DEMAIN  ★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6000"/>
            <a:ext cx="12193200" cy="342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000" y="6609600"/>
            <a:ext cx="72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D9EFEF"/>
                </a:solidFill>
                <a:latin typeface="Barlow"/>
              </a:rPr>
              <a:t>Testing Event · Crédit Agricole Assurances · 14 septembre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0" y="6609600"/>
            <a:ext cx="45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00B4B4"/>
                </a:solidFill>
                <a:latin typeface="Barlow"/>
              </a:rPr>
              <a:t>20 min d'atelier · 5 min de questions · 5 min pour changer de salle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000" y="1242000"/>
            <a:ext cx="3708000" cy="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6A6A"/>
                </a:solidFill>
                <a:latin typeface="Barlow Condensed"/>
              </a:rPr>
              <a:t>MATIN — CONFÉRENCES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74000" y="1242000"/>
            <a:ext cx="7362000" cy="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01020"/>
                </a:solidFill>
                <a:latin typeface="Barlow Condensed"/>
              </a:rPr>
              <a:t>APRÈS-MIDI — KIOSQUES &amp; ATELIERS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0000" y="1566000"/>
            <a:ext cx="827999" cy="2880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77999" y="1566000"/>
            <a:ext cx="2880001" cy="288000"/>
          </a:xfrm>
          <a:prstGeom prst="rect">
            <a:avLst/>
          </a:prstGeom>
          <a:solidFill>
            <a:srgbClr val="E0F7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000" y="1627200"/>
            <a:ext cx="82799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Barlow Condensed"/>
              </a:rPr>
              <a:t>9h00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39999" y="1630800"/>
            <a:ext cx="2592001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06A6A"/>
                </a:solidFill>
                <a:latin typeface="Barlow"/>
              </a:rPr>
              <a:t>Accueil café &amp; petit-déjeuner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0000" y="1904400"/>
            <a:ext cx="827999" cy="28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277999" y="1904400"/>
            <a:ext cx="2880001" cy="288000"/>
          </a:xfrm>
          <a:prstGeom prst="rect">
            <a:avLst/>
          </a:prstGeom>
          <a:solidFill>
            <a:srgbClr val="F0F0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000" y="1965600"/>
            <a:ext cx="82799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Barlow Condensed"/>
              </a:rPr>
              <a:t>9h45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39999" y="1969200"/>
            <a:ext cx="2592001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1A2E"/>
                </a:solidFill>
                <a:latin typeface="Barlow"/>
              </a:rPr>
              <a:t>Mot d'ouverture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0000" y="2242800"/>
            <a:ext cx="3708000" cy="9588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0000" y="2242800"/>
            <a:ext cx="72000" cy="958825"/>
          </a:xfrm>
          <a:prstGeom prst="rect">
            <a:avLst/>
          </a:prstGeom>
          <a:solidFill>
            <a:srgbClr val="00B4B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000" y="2329200"/>
            <a:ext cx="3366000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6A6A"/>
                </a:solidFill>
                <a:latin typeface="Barlow Condensed"/>
              </a:rPr>
              <a:t>10h00 · CONFÉRENCE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8000" y="2487600"/>
            <a:ext cx="3366000" cy="433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>
                <a:solidFill>
                  <a:srgbClr val="1A1A2E"/>
                </a:solidFill>
                <a:latin typeface="Barlow Condensed"/>
              </a:rPr>
              <a:t>Des 7 principes du test aux 7 principes de la qualité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8000" y="2931700"/>
            <a:ext cx="3366000" cy="1907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4A4A49"/>
                </a:solidFill>
                <a:latin typeface="Barlow"/>
              </a:rPr>
              <a:t>« Un produit peut être parfaitement testé… et pourtant inutilisable. »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0000" y="3252025"/>
            <a:ext cx="3708000" cy="11688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0000" y="3252025"/>
            <a:ext cx="72000" cy="1168832"/>
          </a:xfrm>
          <a:prstGeom prst="rect">
            <a:avLst/>
          </a:prstGeom>
          <a:solidFill>
            <a:srgbClr val="ED1B2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8000" y="3338425"/>
            <a:ext cx="3366000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C01020"/>
                </a:solidFill>
                <a:latin typeface="Barlow Condensed"/>
              </a:rPr>
              <a:t>10h45 · CONFÉRENCE 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8000" y="3496825"/>
            <a:ext cx="3366000" cy="6433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>
                <a:solidFill>
                  <a:srgbClr val="1A1A2E"/>
                </a:solidFill>
                <a:latin typeface="Barlow Condensed"/>
              </a:rPr>
              <a:t>De l'IA générative aux tests « augmentés » : les 7 leçons apprises pour industrialiser l'IA dans le cycle de test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8000" y="4150932"/>
            <a:ext cx="3366000" cy="1907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4A4A49"/>
                </a:solidFill>
                <a:latin typeface="Barlow"/>
              </a:rPr>
              <a:t>« Le rôle du testeur ne disparaît pas… il se transforme. »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0000" y="4471257"/>
            <a:ext cx="3708000" cy="91074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0000" y="4471257"/>
            <a:ext cx="72000" cy="910743"/>
          </a:xfrm>
          <a:prstGeom prst="rect">
            <a:avLst/>
          </a:prstGeom>
          <a:solidFill>
            <a:srgbClr val="9EBE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8000" y="4557657"/>
            <a:ext cx="3366000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6A4E"/>
                </a:solidFill>
                <a:latin typeface="Barlow Condensed"/>
              </a:rPr>
              <a:t>11h30 · TABLE RONDE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8000" y="4716057"/>
            <a:ext cx="3366000" cy="2232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>
                <a:solidFill>
                  <a:srgbClr val="1A1A2E"/>
                </a:solidFill>
                <a:latin typeface="Barlow Condensed"/>
              </a:rPr>
              <a:t>Mode produit et les tests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8000" y="4950150"/>
            <a:ext cx="3366000" cy="352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4A4A49"/>
                </a:solidFill>
                <a:latin typeface="Barlow"/>
              </a:rPr>
              <a:t>« Mode produit ADE : comment CAAS transforme ses approches de test pour accompagner la fabrication agile ? »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0000" y="5432400"/>
            <a:ext cx="827999" cy="288000"/>
          </a:xfrm>
          <a:prstGeom prst="rect">
            <a:avLst/>
          </a:prstGeom>
          <a:solidFill>
            <a:srgbClr val="C0102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277999" y="5432400"/>
            <a:ext cx="2880001" cy="28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0000" y="5493600"/>
            <a:ext cx="82799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Barlow Condensed"/>
              </a:rPr>
              <a:t>12h15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39999" y="5497200"/>
            <a:ext cx="2592001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B4500"/>
                </a:solidFill>
                <a:latin typeface="Barlow"/>
              </a:rPr>
              <a:t>Cocktail déjeunatoire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0000" y="5814000"/>
            <a:ext cx="3708000" cy="70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93200" y="5857200"/>
            <a:ext cx="615600" cy="615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3" name="Picture 42" descr="testing-event-20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800" y="5878800"/>
            <a:ext cx="572400" cy="57240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277999" y="5965200"/>
            <a:ext cx="2754001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1A2E"/>
                </a:solidFill>
                <a:latin typeface="Barlow Condensed"/>
              </a:rPr>
              <a:t>LE PROGRAMME SUR VOTRE TÉLÉPHONE</a:t>
            </a:r>
          </a:p>
          <a:p>
            <a:pPr algn="l">
              <a:lnSpc>
                <a:spcPct val="135000"/>
              </a:lnSpc>
            </a:pPr>
            <a:r>
              <a:rPr sz="850" b="0">
                <a:solidFill>
                  <a:srgbClr val="4A4A49"/>
                </a:solidFill>
                <a:latin typeface="Barlow"/>
              </a:rPr>
              <a:t>Le plan des salles, à jour.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74000" y="1566000"/>
            <a:ext cx="827999" cy="28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201999" y="1566000"/>
            <a:ext cx="6534001" cy="288000"/>
          </a:xfrm>
          <a:prstGeom prst="rect">
            <a:avLst/>
          </a:prstGeom>
          <a:solidFill>
            <a:srgbClr val="F0F0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74000" y="1627200"/>
            <a:ext cx="82799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Barlow Condensed"/>
              </a:rPr>
              <a:t>13h40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63999" y="1630800"/>
            <a:ext cx="6246001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1A2E"/>
                </a:solidFill>
                <a:latin typeface="Barlow"/>
              </a:rPr>
              <a:t>Présentation de l'organisation des kiosques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74000" y="1926000"/>
            <a:ext cx="7362000" cy="28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0" y="2012400"/>
            <a:ext cx="696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B4B4"/>
                </a:solidFill>
                <a:latin typeface="Barlow Condensed"/>
              </a:rPr>
              <a:t>14h00 – 16h30  ·  5 ROTATIONS DE 30 MIN  ·  10 KIOSQUES EN SIMULTANÉ  ·  CHOISISSEZ VOS SESSIONS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374000" y="2286000"/>
            <a:ext cx="396000" cy="7092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770000" y="2286000"/>
            <a:ext cx="3229200" cy="709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374000" y="2532600"/>
            <a:ext cx="396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Barlow Condensed"/>
              </a:rPr>
              <a:t>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32000" y="2372400"/>
            <a:ext cx="18612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A1A2E"/>
                </a:solidFill>
                <a:latin typeface="Barlow Condensed"/>
              </a:rPr>
              <a:t>Ludopédagogie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865200" y="2358000"/>
            <a:ext cx="990000" cy="187200"/>
          </a:xfrm>
          <a:prstGeom prst="rect">
            <a:avLst/>
          </a:prstGeom>
          <a:solidFill>
            <a:srgbClr val="E0F7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65200" y="2376000"/>
            <a:ext cx="99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006A6A"/>
                </a:solidFill>
                <a:latin typeface="Barlow Condensed"/>
              </a:rPr>
              <a:t>Wisla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932000" y="2581200"/>
            <a:ext cx="29232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>
                <a:solidFill>
                  <a:srgbClr val="4A4A49"/>
                </a:solidFill>
                <a:latin typeface="Barlow"/>
              </a:rPr>
              <a:t>Tour de Babel ou Marshmallow Challenge : découvrez par le jeu pourquoi il faut tester tôt !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110800" y="2286000"/>
            <a:ext cx="396000" cy="709200"/>
          </a:xfrm>
          <a:prstGeom prst="rect">
            <a:avLst/>
          </a:prstGeom>
          <a:solidFill>
            <a:srgbClr val="C0102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506800" y="2286000"/>
            <a:ext cx="3229200" cy="709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110800" y="2532600"/>
            <a:ext cx="396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Barlow Condensed"/>
              </a:rPr>
              <a:t>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68800" y="2372400"/>
            <a:ext cx="18612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A1A2E"/>
                </a:solidFill>
                <a:latin typeface="Barlow Condensed"/>
              </a:rPr>
              <a:t>LynQA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602000" y="2358000"/>
            <a:ext cx="990000" cy="187200"/>
          </a:xfrm>
          <a:prstGeom prst="rect">
            <a:avLst/>
          </a:prstGeom>
          <a:solidFill>
            <a:srgbClr val="E0F7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602000" y="2376000"/>
            <a:ext cx="99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006A6A"/>
                </a:solidFill>
                <a:latin typeface="Barlow Condensed"/>
              </a:rPr>
              <a:t>Donau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668800" y="2581200"/>
            <a:ext cx="29232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>
                <a:solidFill>
                  <a:srgbClr val="4A4A49"/>
                </a:solidFill>
                <a:latin typeface="Barlow"/>
              </a:rPr>
              <a:t>L'agent IA qui exécute vos tests manuels pendant que vous dormez — sans scripting, sans restructuration.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374000" y="3042000"/>
            <a:ext cx="396000" cy="7092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770000" y="3042000"/>
            <a:ext cx="3229200" cy="709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374000" y="3288600"/>
            <a:ext cx="396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Barlow Condensed"/>
              </a:rPr>
              <a:t>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932000" y="3128400"/>
            <a:ext cx="18612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A1A2E"/>
                </a:solidFill>
                <a:latin typeface="Barlow Condensed"/>
              </a:rPr>
              <a:t>Écosystème d'agents IA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865200" y="3114000"/>
            <a:ext cx="990000" cy="187200"/>
          </a:xfrm>
          <a:prstGeom prst="rect">
            <a:avLst/>
          </a:prstGeom>
          <a:solidFill>
            <a:srgbClr val="E0F7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865200" y="3132000"/>
            <a:ext cx="99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006A6A"/>
                </a:solidFill>
                <a:latin typeface="Barlow Condensed"/>
              </a:rPr>
              <a:t>Liffey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932000" y="3337200"/>
            <a:ext cx="29232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>
                <a:solidFill>
                  <a:srgbClr val="4A4A49"/>
                </a:solidFill>
                <a:latin typeface="Barlow"/>
              </a:rPr>
              <a:t>Coder, Tester, Automatiser… 3 agents IA, une chaîne de production de test automatisé !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110800" y="3042000"/>
            <a:ext cx="396000" cy="709200"/>
          </a:xfrm>
          <a:prstGeom prst="rect">
            <a:avLst/>
          </a:prstGeom>
          <a:solidFill>
            <a:srgbClr val="C0102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506800" y="3042000"/>
            <a:ext cx="3229200" cy="709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110800" y="3288600"/>
            <a:ext cx="396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Barlow Condensed"/>
              </a:rPr>
              <a:t>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668800" y="3128400"/>
            <a:ext cx="18612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A1A2E"/>
                </a:solidFill>
                <a:latin typeface="Barlow Condensed"/>
              </a:rPr>
              <a:t>Yest Companion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602000" y="3114000"/>
            <a:ext cx="990000" cy="187200"/>
          </a:xfrm>
          <a:prstGeom prst="rect">
            <a:avLst/>
          </a:prstGeom>
          <a:solidFill>
            <a:srgbClr val="E0F7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602000" y="3132000"/>
            <a:ext cx="99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006A6A"/>
                </a:solidFill>
                <a:latin typeface="Barlow Condensed"/>
              </a:rPr>
              <a:t>Douro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668800" y="3337200"/>
            <a:ext cx="29232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>
                <a:solidFill>
                  <a:srgbClr val="4A4A49"/>
                </a:solidFill>
                <a:latin typeface="Barlow"/>
              </a:rPr>
              <a:t>De la page blanche à la mise à jour : l'IA propose les parcours à partir de vos US Jira/Confluence, vous validez.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374000" y="3798000"/>
            <a:ext cx="396000" cy="7092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4770000" y="3798000"/>
            <a:ext cx="3229200" cy="709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374000" y="4044600"/>
            <a:ext cx="396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Barlow Condensed"/>
              </a:rPr>
              <a:t>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932000" y="3884400"/>
            <a:ext cx="18612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A1A2E"/>
                </a:solidFill>
                <a:latin typeface="Barlow Condensed"/>
              </a:rPr>
              <a:t>Bâtisseurs de pyramides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865200" y="3870000"/>
            <a:ext cx="990000" cy="187200"/>
          </a:xfrm>
          <a:prstGeom prst="rect">
            <a:avLst/>
          </a:prstGeom>
          <a:solidFill>
            <a:srgbClr val="E0F7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865200" y="3888000"/>
            <a:ext cx="99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006A6A"/>
                </a:solidFill>
                <a:latin typeface="Barlow Condensed"/>
              </a:rPr>
              <a:t>Rhône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932000" y="4093200"/>
            <a:ext cx="29232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>
                <a:solidFill>
                  <a:srgbClr val="4A4A49"/>
                </a:solidFill>
                <a:latin typeface="Barlow"/>
              </a:rPr>
              <a:t>Construisez votre VRAIE pyramide de tests en 3D interactive — trouvez le bon équilibre en mode collaboratif !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110800" y="3798000"/>
            <a:ext cx="396000" cy="709200"/>
          </a:xfrm>
          <a:prstGeom prst="rect">
            <a:avLst/>
          </a:prstGeom>
          <a:solidFill>
            <a:srgbClr val="C0102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8506800" y="3798000"/>
            <a:ext cx="3229200" cy="709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110800" y="4044600"/>
            <a:ext cx="396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Barlow Condensed"/>
              </a:rPr>
              <a:t>6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668800" y="3884400"/>
            <a:ext cx="18612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A1A2E"/>
                </a:solidFill>
                <a:latin typeface="Barlow Condensed"/>
              </a:rPr>
              <a:t>Référentiel de tests X-Ray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602000" y="3870000"/>
            <a:ext cx="990000" cy="187200"/>
          </a:xfrm>
          <a:prstGeom prst="rect">
            <a:avLst/>
          </a:prstGeom>
          <a:solidFill>
            <a:srgbClr val="E0F7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0602000" y="3888000"/>
            <a:ext cx="99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006A6A"/>
                </a:solidFill>
                <a:latin typeface="Barlow Condensed"/>
              </a:rPr>
              <a:t>Tajo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668800" y="4093200"/>
            <a:ext cx="29232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>
                <a:solidFill>
                  <a:srgbClr val="4A4A49"/>
                </a:solidFill>
                <a:latin typeface="Barlow"/>
              </a:rPr>
              <a:t>Au revoir QC, bienvenue X-Ray ! Découvrez le produit et la trajectoire de migration 2027.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374000" y="4554000"/>
            <a:ext cx="396000" cy="7092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4770000" y="4554000"/>
            <a:ext cx="3229200" cy="709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374000" y="4800600"/>
            <a:ext cx="396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Barlow Condensed"/>
              </a:rPr>
              <a:t>7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932000" y="4640400"/>
            <a:ext cx="18612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A1A2E"/>
                </a:solidFill>
                <a:latin typeface="Barlow Condensed"/>
              </a:rPr>
              <a:t>SDSI Test &amp; IA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865200" y="4626000"/>
            <a:ext cx="990000" cy="187200"/>
          </a:xfrm>
          <a:prstGeom prst="rect">
            <a:avLst/>
          </a:prstGeom>
          <a:solidFill>
            <a:srgbClr val="E0F7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865200" y="4644000"/>
            <a:ext cx="99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006A6A"/>
                </a:solidFill>
                <a:latin typeface="Barlow Condensed"/>
              </a:rPr>
              <a:t>Adige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932000" y="4849200"/>
            <a:ext cx="29232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>
                <a:solidFill>
                  <a:srgbClr val="4A4A49"/>
                </a:solidFill>
                <a:latin typeface="Barlow"/>
              </a:rPr>
              <a:t>IACA &amp; IACT : deux agents IA pour générer critères d'acceptance et cas de test directement depuis vos US.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110800" y="4554000"/>
            <a:ext cx="396000" cy="709200"/>
          </a:xfrm>
          <a:prstGeom prst="rect">
            <a:avLst/>
          </a:prstGeom>
          <a:solidFill>
            <a:srgbClr val="C0102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506800" y="4554000"/>
            <a:ext cx="3229200" cy="709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110800" y="4800600"/>
            <a:ext cx="396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Barlow Condensed"/>
              </a:rPr>
              <a:t>8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668800" y="4640400"/>
            <a:ext cx="18612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A1A2E"/>
                </a:solidFill>
                <a:latin typeface="Barlow Condensed"/>
              </a:rPr>
              <a:t>JADD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0602000" y="4626000"/>
            <a:ext cx="990000" cy="187200"/>
          </a:xfrm>
          <a:prstGeom prst="rect">
            <a:avLst/>
          </a:prstGeom>
          <a:solidFill>
            <a:srgbClr val="E0F7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0602000" y="4644000"/>
            <a:ext cx="99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006A6A"/>
                </a:solidFill>
                <a:latin typeface="Barlow Condensed"/>
              </a:rPr>
              <a:t>Loire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668800" y="4849200"/>
            <a:ext cx="29232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>
                <a:solidFill>
                  <a:srgbClr val="4A4A49"/>
                </a:solidFill>
                <a:latin typeface="Barlow"/>
              </a:rPr>
              <a:t>Les données de production à portée de clic pour vos tests : enrichissez, réutilisez, rechargez en quelques clics.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374000" y="5310000"/>
            <a:ext cx="396000" cy="7092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4770000" y="5310000"/>
            <a:ext cx="3229200" cy="709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374000" y="5556600"/>
            <a:ext cx="396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Barlow Condensed"/>
              </a:rPr>
              <a:t>9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932000" y="5396400"/>
            <a:ext cx="18612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A1A2E"/>
                </a:solidFill>
                <a:latin typeface="Barlow Condensed"/>
              </a:rPr>
              <a:t>SauceLabs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865200" y="5382000"/>
            <a:ext cx="990000" cy="187200"/>
          </a:xfrm>
          <a:prstGeom prst="rect">
            <a:avLst/>
          </a:prstGeom>
          <a:solidFill>
            <a:srgbClr val="E0F7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865200" y="5400000"/>
            <a:ext cx="99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006A6A"/>
                </a:solidFill>
                <a:latin typeface="Barlow Condensed"/>
              </a:rPr>
              <a:t>Moselle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932000" y="5605200"/>
            <a:ext cx="29232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>
                <a:solidFill>
                  <a:srgbClr val="4A4A49"/>
                </a:solidFill>
                <a:latin typeface="Barlow"/>
              </a:rPr>
              <a:t>Testez partout et homologuez en toute confiance — démos live sur la plateforme mobile, du dev à la validation.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110800" y="5310000"/>
            <a:ext cx="396000" cy="709200"/>
          </a:xfrm>
          <a:prstGeom prst="rect">
            <a:avLst/>
          </a:prstGeom>
          <a:solidFill>
            <a:srgbClr val="C0102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8506800" y="5310000"/>
            <a:ext cx="3229200" cy="709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110800" y="5556600"/>
            <a:ext cx="396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Barlow Condensed"/>
              </a:rPr>
              <a:t>10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668800" y="5396400"/>
            <a:ext cx="18612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A1A2E"/>
                </a:solidFill>
                <a:latin typeface="Barlow Condensed"/>
              </a:rPr>
              <a:t>Vidéo TESTY — libre service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0602000" y="5382000"/>
            <a:ext cx="990000" cy="187200"/>
          </a:xfrm>
          <a:prstGeom prst="rect">
            <a:avLst/>
          </a:prstGeom>
          <a:solidFill>
            <a:srgbClr val="E0F7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0602000" y="5400000"/>
            <a:ext cx="99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006A6A"/>
                </a:solidFill>
                <a:latin typeface="Barlow Condensed"/>
              </a:rPr>
              <a:t>Sumida + Alzette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668800" y="5605200"/>
            <a:ext cx="29232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>
                <a:solidFill>
                  <a:srgbClr val="4A4A49"/>
                </a:solidFill>
                <a:latin typeface="Barlow"/>
              </a:rPr>
              <a:t>Plongez dans l'univers coloré et décalé de TESTY : le métier de testeur en épisodes courts, ludiques, sans jargon.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4374000" y="6091200"/>
            <a:ext cx="827999" cy="2880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5201999" y="6091200"/>
            <a:ext cx="6534001" cy="288000"/>
          </a:xfrm>
          <a:prstGeom prst="rect">
            <a:avLst/>
          </a:prstGeom>
          <a:solidFill>
            <a:srgbClr val="E0F7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4374000" y="6152400"/>
            <a:ext cx="82799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Barlow Condensed"/>
              </a:rPr>
              <a:t>16h30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5363999" y="6156000"/>
            <a:ext cx="6246001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06A6A"/>
                </a:solidFill>
                <a:latin typeface="Barlow"/>
              </a:rPr>
              <a:t>Mot de clôture &amp; remise des lots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