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cran-business-cen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0000" y="720000"/>
            <a:ext cx="10728000" cy="5400000"/>
          </a:xfrm>
          <a:prstGeom prst="rect">
            <a:avLst/>
          </a:prstGeom>
          <a:solidFill>
            <a:srgbClr val="1A1A2E">
              <a:alpha val="8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monogramme-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00" y="827999"/>
            <a:ext cx="540000" cy="36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0000" y="1332000"/>
            <a:ext cx="7200000" cy="100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FFFFFF"/>
                </a:solidFill>
                <a:latin typeface="Barlow Condensed"/>
              </a:rPr>
              <a:t>TESTING EVENT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D9EFEF"/>
                </a:solidFill>
                <a:latin typeface="Barlow"/>
              </a:rPr>
              <a:t>Lundi 14 septembre 2026 · Business Center CAA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44000" y="972000"/>
            <a:ext cx="1332000" cy="13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testing-event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000" y="1062000"/>
            <a:ext cx="1152000" cy="11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04000" y="2376000"/>
            <a:ext cx="18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Le détail et le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0000" y="2520000"/>
            <a:ext cx="8243999" cy="1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0000" y="2700000"/>
            <a:ext cx="511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B4B4"/>
                </a:solidFill>
                <a:latin typeface="Barlow Condensed"/>
              </a:rPr>
              <a:t>LA JOURNÉE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3024000"/>
            <a:ext cx="5112000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9h00   </a:t>
            </a:r>
            <a:r>
              <a:rPr sz="1000" b="0">
                <a:solidFill>
                  <a:srgbClr val="FFFFFF"/>
                </a:solidFill>
                <a:latin typeface="Barlow"/>
              </a:rPr>
              <a:t>Accueil café &amp; petit-déjeuner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9h45   </a:t>
            </a:r>
            <a:r>
              <a:rPr sz="1000" b="0">
                <a:solidFill>
                  <a:srgbClr val="FFFFFF"/>
                </a:solidFill>
                <a:latin typeface="Barlow"/>
              </a:rPr>
              <a:t>Mot d'ouverture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10h00   </a:t>
            </a:r>
            <a:r>
              <a:rPr sz="1000" b="0">
                <a:solidFill>
                  <a:srgbClr val="FFFFFF"/>
                </a:solidFill>
                <a:latin typeface="Barlow"/>
              </a:rPr>
              <a:t>Des 7 principes du test aux 7 principes de la qualité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10h45   </a:t>
            </a:r>
            <a:r>
              <a:rPr sz="1000" b="0">
                <a:solidFill>
                  <a:srgbClr val="FFFFFF"/>
                </a:solidFill>
                <a:latin typeface="Barlow"/>
              </a:rPr>
              <a:t>De l'IA générative aux tests « augmentés »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11h30   </a:t>
            </a:r>
            <a:r>
              <a:rPr sz="1000" b="0">
                <a:solidFill>
                  <a:srgbClr val="FFFFFF"/>
                </a:solidFill>
                <a:latin typeface="Barlow"/>
              </a:rPr>
              <a:t>Mode produit et les tests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12h15   </a:t>
            </a:r>
            <a:r>
              <a:rPr sz="1000" b="0">
                <a:solidFill>
                  <a:srgbClr val="FFFFFF"/>
                </a:solidFill>
                <a:latin typeface="Barlow"/>
              </a:rPr>
              <a:t>Cocktail déjeunatoire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13h40   </a:t>
            </a:r>
            <a:r>
              <a:rPr sz="1000" b="0">
                <a:solidFill>
                  <a:srgbClr val="FFFFFF"/>
                </a:solidFill>
                <a:latin typeface="Barlow"/>
              </a:rPr>
              <a:t>Présentation de l'organisation des kiosques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14h00   </a:t>
            </a:r>
            <a:r>
              <a:rPr sz="1000" b="0">
                <a:solidFill>
                  <a:srgbClr val="FFFFFF"/>
                </a:solidFill>
                <a:latin typeface="Barlow"/>
              </a:rPr>
              <a:t>10 kiosques en simultané · 5 rotations de 30 min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Barlow Condensed"/>
              </a:rPr>
              <a:t>16h30   </a:t>
            </a:r>
            <a:r>
              <a:rPr sz="1000" b="0">
                <a:solidFill>
                  <a:srgbClr val="FFFFFF"/>
                </a:solidFill>
                <a:latin typeface="Barlow"/>
              </a:rPr>
              <a:t>Mot de clôture &amp; remise des 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2700000"/>
            <a:ext cx="460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B4B4"/>
                </a:solidFill>
                <a:latin typeface="Barlow Condensed"/>
              </a:rPr>
              <a:t>LES 10 KIOSQUES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00" y="3024000"/>
            <a:ext cx="2232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1   </a:t>
            </a:r>
            <a:r>
              <a:rPr sz="1000" b="0">
                <a:solidFill>
                  <a:srgbClr val="FFFFFF"/>
                </a:solidFill>
                <a:latin typeface="Barlow"/>
              </a:rPr>
              <a:t>Ludopédagogie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2   </a:t>
            </a:r>
            <a:r>
              <a:rPr sz="1000" b="0">
                <a:solidFill>
                  <a:srgbClr val="FFFFFF"/>
                </a:solidFill>
                <a:latin typeface="Barlow"/>
              </a:rPr>
              <a:t>LynQA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3   </a:t>
            </a:r>
            <a:r>
              <a:rPr sz="1000" b="0">
                <a:solidFill>
                  <a:srgbClr val="FFFFFF"/>
                </a:solidFill>
                <a:latin typeface="Barlow"/>
              </a:rPr>
              <a:t>Écosystème d'agents IA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4   </a:t>
            </a:r>
            <a:r>
              <a:rPr sz="1000" b="0">
                <a:solidFill>
                  <a:srgbClr val="FFFFFF"/>
                </a:solidFill>
                <a:latin typeface="Barlow"/>
              </a:rPr>
              <a:t>Yest Companion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5   </a:t>
            </a:r>
            <a:r>
              <a:rPr sz="1000" b="0">
                <a:solidFill>
                  <a:srgbClr val="FFFFFF"/>
                </a:solidFill>
                <a:latin typeface="Barlow"/>
              </a:rPr>
              <a:t>Bâtisseurs de pyramides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2000" y="3024000"/>
            <a:ext cx="2232000" cy="12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6   </a:t>
            </a:r>
            <a:r>
              <a:rPr sz="1000" b="0">
                <a:solidFill>
                  <a:srgbClr val="FFFFFF"/>
                </a:solidFill>
                <a:latin typeface="Barlow"/>
              </a:rPr>
              <a:t>Référentiel de tests X-Ray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7   </a:t>
            </a:r>
            <a:r>
              <a:rPr sz="1000" b="0">
                <a:solidFill>
                  <a:srgbClr val="FFFFFF"/>
                </a:solidFill>
                <a:latin typeface="Barlow"/>
              </a:rPr>
              <a:t>SDSI Test &amp; IA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8   </a:t>
            </a:r>
            <a:r>
              <a:rPr sz="1000" b="0">
                <a:solidFill>
                  <a:srgbClr val="FFFFFF"/>
                </a:solidFill>
                <a:latin typeface="Barlow"/>
              </a:rPr>
              <a:t>JADD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9   </a:t>
            </a:r>
            <a:r>
              <a:rPr sz="1000" b="0">
                <a:solidFill>
                  <a:srgbClr val="FFFFFF"/>
                </a:solidFill>
                <a:latin typeface="Barlow"/>
              </a:rPr>
              <a:t>SauceLabs</a:t>
            </a:r>
          </a:p>
          <a:p>
            <a:pPr algn="l">
              <a:lnSpc>
                <a:spcPct val="150000"/>
              </a:lnSpc>
            </a:pPr>
            <a:r>
              <a:rPr sz="1000" b="1">
                <a:solidFill>
                  <a:srgbClr val="D9EFEF"/>
                </a:solidFill>
                <a:latin typeface="Barlow Condensed"/>
              </a:rPr>
              <a:t>10   </a:t>
            </a:r>
            <a:r>
              <a:rPr sz="1000" b="0">
                <a:solidFill>
                  <a:srgbClr val="FFFFFF"/>
                </a:solidFill>
                <a:latin typeface="Barlow"/>
              </a:rPr>
              <a:t>Mini-Série TESTY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5508000"/>
            <a:ext cx="46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info-hub.jeremy-delaux.workers.dev/testing-event-2026/</a:t>
            </a:r>
          </a:p>
        </p:txBody>
      </p:sp>
      <p:pic>
        <p:nvPicPr>
          <p:cNvPr id="16" name="Picture 15" descr="logo-prestige-affai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999" y="5004000"/>
            <a:ext cx="936000" cy="9000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03999" y="5112000"/>
            <a:ext cx="18000" cy="68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-faconner-dem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2000" y="5076000"/>
            <a:ext cx="1440000" cy="720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720000" y="5076000"/>
            <a:ext cx="18000" cy="68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-ca-assuranc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8000" y="5076000"/>
            <a:ext cx="1044000" cy="68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