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1044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logo-testing-ev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259200"/>
            <a:ext cx="2484000" cy="538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00000" y="216000"/>
            <a:ext cx="42012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0B4B4"/>
                </a:solidFill>
                <a:latin typeface="Barlow Condensed"/>
              </a:rPr>
              <a:t>14 SEPTEMBRE 2026</a:t>
            </a:r>
          </a:p>
          <a:p>
            <a:pPr algn="r">
              <a:lnSpc>
                <a:spcPct val="135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Business Center · 36/44 bd de Vaugirard</a:t>
            </a:r>
          </a:p>
          <a:p>
            <a:pPr algn="r">
              <a:lnSpc>
                <a:spcPct val="130000"/>
              </a:lnSpc>
            </a:pPr>
            <a:r>
              <a:rPr sz="1000" b="0">
                <a:solidFill>
                  <a:srgbClr val="D9EFEF"/>
                </a:solidFill>
                <a:latin typeface="Barlow"/>
              </a:rPr>
              <a:t>Crédit Agricole Assurances · Paris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44000"/>
            <a:ext cx="12193200" cy="432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1144800"/>
            <a:ext cx="106092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Barlow Condensed"/>
              </a:rPr>
              <a:t>★  TEST : LES TRANSFORMATIONS EN MARCHE ET LES GRANDS DÉFIS DE DEMAIN  ★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72000"/>
            <a:ext cx="12193200" cy="486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6516000"/>
            <a:ext cx="86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D9EFEF"/>
                </a:solidFill>
                <a:latin typeface="Barlow"/>
              </a:rPr>
              <a:t>Testing Event · Crédit Agricole Assurances · 14 septembre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80000" y="6516000"/>
            <a:ext cx="13212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00B4B4"/>
                </a:solidFill>
                <a:latin typeface="Barlow Condensed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692000"/>
            <a:ext cx="106092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2E"/>
                </a:solidFill>
                <a:latin typeface="Barlow Condensed"/>
              </a:rPr>
              <a:t>LE PROGRAMME DE LA JOURNÉE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2322000"/>
            <a:ext cx="2160000" cy="324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592000"/>
            <a:ext cx="511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006A6A"/>
                </a:solidFill>
                <a:latin typeface="Barlow Condensed"/>
              </a:rPr>
              <a:t>MATIN — CONFÉRENCES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8000" y="2592000"/>
            <a:ext cx="511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C01020"/>
                </a:solidFill>
                <a:latin typeface="Barlow Condensed"/>
              </a:rPr>
              <a:t>APRÈS-MIDI — KIOSQUES &amp; ATELIERS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" y="3024000"/>
            <a:ext cx="990000" cy="367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2000" y="3024000"/>
            <a:ext cx="4122000" cy="3672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30960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9h00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80000" y="3103200"/>
            <a:ext cx="376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6A6A"/>
                </a:solidFill>
                <a:latin typeface="Barlow"/>
              </a:rPr>
              <a:t>Accueil café &amp; petit-déjeuner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2000" y="3470400"/>
            <a:ext cx="990000" cy="36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82000" y="3470400"/>
            <a:ext cx="4122000" cy="367200"/>
          </a:xfrm>
          <a:prstGeom prst="rect">
            <a:avLst/>
          </a:prstGeom>
          <a:solidFill>
            <a:srgbClr val="F0F0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35424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9h45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80000" y="3549600"/>
            <a:ext cx="376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2E"/>
                </a:solidFill>
                <a:latin typeface="Barlow"/>
              </a:rPr>
              <a:t>Mot d'ouverture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2000" y="3916800"/>
            <a:ext cx="990000" cy="5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782000" y="3916800"/>
            <a:ext cx="4122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82000" y="3916800"/>
            <a:ext cx="79200" cy="558000"/>
          </a:xfrm>
          <a:prstGeom prst="rect">
            <a:avLst/>
          </a:prstGeom>
          <a:solidFill>
            <a:srgbClr val="00B4B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000" y="40842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10h00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8000" y="4003200"/>
            <a:ext cx="374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6A6A"/>
                </a:solidFill>
                <a:latin typeface="Barlow Condensed"/>
              </a:rPr>
              <a:t>★ CONFÉRENCE 1</a:t>
            </a:r>
          </a:p>
          <a:p>
            <a:pPr algn="l">
              <a:lnSpc>
                <a:spcPct val="128000"/>
              </a:lnSpc>
            </a:pPr>
            <a:r>
              <a:rPr sz="1200" b="1">
                <a:solidFill>
                  <a:srgbClr val="1A1A2E"/>
                </a:solidFill>
                <a:latin typeface="Barlow"/>
              </a:rPr>
              <a:t>Des 7 principes du test aux 7 principes de la qualité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000" y="4554000"/>
            <a:ext cx="990000" cy="5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82000" y="4554000"/>
            <a:ext cx="4122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782000" y="4554000"/>
            <a:ext cx="79200" cy="558000"/>
          </a:xfrm>
          <a:prstGeom prst="rect">
            <a:avLst/>
          </a:prstGeom>
          <a:solidFill>
            <a:srgbClr val="ED1B2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2000" y="47214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10h45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98000" y="4640400"/>
            <a:ext cx="374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01020"/>
                </a:solidFill>
                <a:latin typeface="Barlow Condensed"/>
              </a:rPr>
              <a:t>★ CONFÉRENCE 2</a:t>
            </a:r>
          </a:p>
          <a:p>
            <a:pPr algn="l">
              <a:lnSpc>
                <a:spcPct val="128000"/>
              </a:lnSpc>
            </a:pPr>
            <a:r>
              <a:rPr sz="1200" b="1">
                <a:solidFill>
                  <a:srgbClr val="1A1A2E"/>
                </a:solidFill>
                <a:latin typeface="Barlow"/>
              </a:rPr>
              <a:t>De l'IA générative aux tests « augmentés »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2000" y="5191200"/>
            <a:ext cx="990000" cy="5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82000" y="5191200"/>
            <a:ext cx="4122000" cy="5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82000" y="5191200"/>
            <a:ext cx="79200" cy="558000"/>
          </a:xfrm>
          <a:prstGeom prst="rect">
            <a:avLst/>
          </a:prstGeom>
          <a:solidFill>
            <a:srgbClr val="9EBE3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2000" y="53586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11h30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8000" y="5277600"/>
            <a:ext cx="3744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06A4E"/>
                </a:solidFill>
                <a:latin typeface="Barlow Condensed"/>
              </a:rPr>
              <a:t>★ TABLE RONDE</a:t>
            </a:r>
          </a:p>
          <a:p>
            <a:pPr algn="l">
              <a:lnSpc>
                <a:spcPct val="128000"/>
              </a:lnSpc>
            </a:pPr>
            <a:r>
              <a:rPr sz="1200" b="1">
                <a:solidFill>
                  <a:srgbClr val="1A1A2E"/>
                </a:solidFill>
                <a:latin typeface="Barlow"/>
              </a:rPr>
              <a:t>Mode produit et les tests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2000" y="5828400"/>
            <a:ext cx="990000" cy="367200"/>
          </a:xfrm>
          <a:prstGeom prst="rect">
            <a:avLst/>
          </a:prstGeom>
          <a:solidFill>
            <a:srgbClr val="C0102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782000" y="5828400"/>
            <a:ext cx="4122000" cy="3672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000" y="59004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12h15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980000" y="5907600"/>
            <a:ext cx="376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B4500"/>
                </a:solidFill>
                <a:latin typeface="Barlow"/>
              </a:rPr>
              <a:t>Cocktail déjeunatoire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28000" y="3024000"/>
            <a:ext cx="990000" cy="439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218000" y="3024000"/>
            <a:ext cx="4122000" cy="439200"/>
          </a:xfrm>
          <a:prstGeom prst="rect">
            <a:avLst/>
          </a:prstGeom>
          <a:solidFill>
            <a:srgbClr val="F0F0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28000" y="31320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13h40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16000" y="3139200"/>
            <a:ext cx="376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A1A2E"/>
                </a:solidFill>
                <a:latin typeface="Barlow"/>
              </a:rPr>
              <a:t>Présentation de l'organisation des kiosques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28000" y="3722400"/>
            <a:ext cx="5112000" cy="835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9999" y="3909600"/>
            <a:ext cx="4608001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B4B4"/>
                </a:solidFill>
                <a:latin typeface="Barlow Condensed"/>
              </a:rPr>
              <a:t>10 KIOSQUES EN SIMULTANÉ · 5 ROTATIONS IDENTIQUES</a:t>
            </a:r>
          </a:p>
          <a:p>
            <a:pPr algn="l">
              <a:lnSpc>
                <a:spcPct val="145000"/>
              </a:lnSpc>
            </a:pPr>
            <a:r>
              <a:rPr sz="1050" b="0">
                <a:solidFill>
                  <a:srgbClr val="D9EFEF"/>
                </a:solidFill>
                <a:latin typeface="Barlow"/>
              </a:rPr>
              <a:t>20 min d'atelier · 5 min de questions — choisissez vos sessions !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28000" y="4816800"/>
            <a:ext cx="918720" cy="666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28000" y="4816800"/>
            <a:ext cx="50400" cy="666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28000" y="4953600"/>
            <a:ext cx="91872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6A6A"/>
                </a:solidFill>
                <a:latin typeface="Barlow Condensed"/>
              </a:rPr>
              <a:t>14h00</a:t>
            </a:r>
          </a:p>
          <a:p>
            <a:pPr algn="ctr">
              <a:lnSpc>
                <a:spcPct val="150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Rotation 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76320" y="4816800"/>
            <a:ext cx="918720" cy="666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276320" y="4816800"/>
            <a:ext cx="50400" cy="666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76320" y="4953600"/>
            <a:ext cx="91872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6A6A"/>
                </a:solidFill>
                <a:latin typeface="Barlow Condensed"/>
              </a:rPr>
              <a:t>14h30</a:t>
            </a:r>
          </a:p>
          <a:p>
            <a:pPr algn="ctr">
              <a:lnSpc>
                <a:spcPct val="150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Rotation 2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4640" y="4816800"/>
            <a:ext cx="918720" cy="666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24640" y="4816800"/>
            <a:ext cx="50400" cy="666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24640" y="4953600"/>
            <a:ext cx="91872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6A6A"/>
                </a:solidFill>
                <a:latin typeface="Barlow Condensed"/>
              </a:rPr>
              <a:t>15h00</a:t>
            </a:r>
          </a:p>
          <a:p>
            <a:pPr algn="ctr">
              <a:lnSpc>
                <a:spcPct val="150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Rotation 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372960" y="4816800"/>
            <a:ext cx="918720" cy="666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72960" y="4816800"/>
            <a:ext cx="50400" cy="666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72960" y="4953600"/>
            <a:ext cx="91872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6A6A"/>
                </a:solidFill>
                <a:latin typeface="Barlow Condensed"/>
              </a:rPr>
              <a:t>15h30</a:t>
            </a:r>
          </a:p>
          <a:p>
            <a:pPr algn="ctr">
              <a:lnSpc>
                <a:spcPct val="150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Rotation 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421280" y="4816800"/>
            <a:ext cx="918720" cy="666000"/>
          </a:xfrm>
          <a:prstGeom prst="rect">
            <a:avLst/>
          </a:prstGeom>
          <a:solidFill>
            <a:srgbClr val="D9EFE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421280" y="4816800"/>
            <a:ext cx="50400" cy="666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421280" y="4953600"/>
            <a:ext cx="91872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006A6A"/>
                </a:solidFill>
                <a:latin typeface="Barlow Condensed"/>
              </a:rPr>
              <a:t>16h00</a:t>
            </a:r>
          </a:p>
          <a:p>
            <a:pPr algn="ctr">
              <a:lnSpc>
                <a:spcPct val="150000"/>
              </a:lnSpc>
            </a:pPr>
            <a:r>
              <a:rPr sz="800" b="0">
                <a:solidFill>
                  <a:srgbClr val="4A4A49"/>
                </a:solidFill>
                <a:latin typeface="Barlow"/>
              </a:rPr>
              <a:t>Rotation 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28000" y="5778000"/>
            <a:ext cx="990000" cy="4392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218000" y="5778000"/>
            <a:ext cx="4122000" cy="439200"/>
          </a:xfrm>
          <a:prstGeom prst="rect">
            <a:avLst/>
          </a:prstGeom>
          <a:solidFill>
            <a:srgbClr val="E0F7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28000" y="5886000"/>
            <a:ext cx="990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Barlow Condensed"/>
              </a:rPr>
              <a:t>16h30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16000" y="5893200"/>
            <a:ext cx="376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6A6A"/>
                </a:solidFill>
                <a:latin typeface="Barlow"/>
              </a:rPr>
              <a:t>Mot de clôture &amp; remise des lots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